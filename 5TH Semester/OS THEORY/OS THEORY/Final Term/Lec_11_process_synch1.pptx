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38"/>
  </p:notesMasterIdLst>
  <p:handoutMasterIdLst>
    <p:handoutMasterId r:id="rId39"/>
  </p:handoutMasterIdLst>
  <p:sldIdLst>
    <p:sldId id="256" r:id="rId2"/>
    <p:sldId id="348" r:id="rId3"/>
    <p:sldId id="671" r:id="rId4"/>
    <p:sldId id="667" r:id="rId5"/>
    <p:sldId id="649" r:id="rId6"/>
    <p:sldId id="481" r:id="rId7"/>
    <p:sldId id="651" r:id="rId8"/>
    <p:sldId id="482" r:id="rId9"/>
    <p:sldId id="654" r:id="rId10"/>
    <p:sldId id="650" r:id="rId11"/>
    <p:sldId id="483" r:id="rId12"/>
    <p:sldId id="505" r:id="rId13"/>
    <p:sldId id="672" r:id="rId14"/>
    <p:sldId id="486" r:id="rId15"/>
    <p:sldId id="673" r:id="rId16"/>
    <p:sldId id="528" r:id="rId17"/>
    <p:sldId id="675" r:id="rId18"/>
    <p:sldId id="674" r:id="rId19"/>
    <p:sldId id="669" r:id="rId20"/>
    <p:sldId id="653" r:id="rId21"/>
    <p:sldId id="559" r:id="rId22"/>
    <p:sldId id="546" r:id="rId23"/>
    <p:sldId id="548" r:id="rId24"/>
    <p:sldId id="561" r:id="rId25"/>
    <p:sldId id="676" r:id="rId26"/>
    <p:sldId id="660" r:id="rId27"/>
    <p:sldId id="677" r:id="rId28"/>
    <p:sldId id="658" r:id="rId29"/>
    <p:sldId id="678" r:id="rId30"/>
    <p:sldId id="659" r:id="rId31"/>
    <p:sldId id="606" r:id="rId32"/>
    <p:sldId id="663" r:id="rId33"/>
    <p:sldId id="670" r:id="rId34"/>
    <p:sldId id="647" r:id="rId35"/>
    <p:sldId id="661" r:id="rId36"/>
    <p:sldId id="600" r:id="rId37"/>
  </p:sldIdLst>
  <p:sldSz cx="9144000" cy="6858000" type="screen4x3"/>
  <p:notesSz cx="6881813"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lberschatz, Avi" initials="SA" lastIdx="1" clrIdx="0">
    <p:extLst>
      <p:ext uri="{19B8F6BF-5375-455C-9EA6-DF929625EA0E}">
        <p15:presenceInfo xmlns:p15="http://schemas.microsoft.com/office/powerpoint/2012/main" userId="S::avi@yale.edu::016206a9-3acf-4d04-9473-be90a77fcf7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a:srgbClr val="0000CC"/>
    <a:srgbClr val="800000"/>
    <a:srgbClr val="663300"/>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6688" autoAdjust="0"/>
    <p:restoredTop sz="93792" autoAdjust="0"/>
  </p:normalViewPr>
  <p:slideViewPr>
    <p:cSldViewPr snapToGrid="0">
      <p:cViewPr varScale="1">
        <p:scale>
          <a:sx n="62" d="100"/>
          <a:sy n="62" d="100"/>
        </p:scale>
        <p:origin x="1812" y="52"/>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50" d="100"/>
        <a:sy n="150" d="100"/>
      </p:scale>
      <p:origin x="0" y="-1520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54292038-6B0F-2949-BFB3-4480D5926108}"/>
              </a:ext>
            </a:extLst>
          </p:cNvPr>
          <p:cNvSpPr>
            <a:spLocks noGrp="1" noChangeArrowheads="1"/>
          </p:cNvSpPr>
          <p:nvPr>
            <p:ph type="hdr" sz="quarter"/>
          </p:nvPr>
        </p:nvSpPr>
        <p:spPr bwMode="auto">
          <a:xfrm>
            <a:off x="0"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3" name="Rectangle 3">
            <a:extLst>
              <a:ext uri="{FF2B5EF4-FFF2-40B4-BE49-F238E27FC236}">
                <a16:creationId xmlns:a16="http://schemas.microsoft.com/office/drawing/2014/main" id="{53CBFB87-3130-8A40-8B9F-D30E7EF9A785}"/>
              </a:ext>
            </a:extLst>
          </p:cNvPr>
          <p:cNvSpPr>
            <a:spLocks noGrp="1" noChangeArrowheads="1"/>
          </p:cNvSpPr>
          <p:nvPr>
            <p:ph type="dt" sz="quarter" idx="1"/>
          </p:nvPr>
        </p:nvSpPr>
        <p:spPr bwMode="auto">
          <a:xfrm>
            <a:off x="3878263"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algn="r" defTabSz="876300">
              <a:defRPr sz="1100">
                <a:latin typeface="Helvetica" charset="0"/>
                <a:ea typeface="ＭＳ Ｐゴシック" charset="-128"/>
                <a:cs typeface="ＭＳ Ｐゴシック" charset="-128"/>
              </a:defRPr>
            </a:lvl1pPr>
          </a:lstStyle>
          <a:p>
            <a:pPr>
              <a:defRPr/>
            </a:pPr>
            <a:endParaRPr lang="en-US"/>
          </a:p>
        </p:txBody>
      </p:sp>
      <p:sp>
        <p:nvSpPr>
          <p:cNvPr id="46084" name="Rectangle 4">
            <a:extLst>
              <a:ext uri="{FF2B5EF4-FFF2-40B4-BE49-F238E27FC236}">
                <a16:creationId xmlns:a16="http://schemas.microsoft.com/office/drawing/2014/main" id="{F0701F88-43FF-0741-8A3A-C0F52350229C}"/>
              </a:ext>
            </a:extLst>
          </p:cNvPr>
          <p:cNvSpPr>
            <a:spLocks noGrp="1" noChangeArrowheads="1"/>
          </p:cNvSpPr>
          <p:nvPr>
            <p:ph type="ftr" sz="quarter" idx="2"/>
          </p:nvPr>
        </p:nvSpPr>
        <p:spPr bwMode="auto">
          <a:xfrm>
            <a:off x="0"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5" name="Rectangle 5">
            <a:extLst>
              <a:ext uri="{FF2B5EF4-FFF2-40B4-BE49-F238E27FC236}">
                <a16:creationId xmlns:a16="http://schemas.microsoft.com/office/drawing/2014/main" id="{3A87DA65-858F-5A45-B34A-C02AA0EBFC03}"/>
              </a:ext>
            </a:extLst>
          </p:cNvPr>
          <p:cNvSpPr>
            <a:spLocks noGrp="1" noChangeArrowheads="1"/>
          </p:cNvSpPr>
          <p:nvPr>
            <p:ph type="sldNum" sz="quarter" idx="3"/>
          </p:nvPr>
        </p:nvSpPr>
        <p:spPr bwMode="auto">
          <a:xfrm>
            <a:off x="3878263"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algn="r" defTabSz="876300">
              <a:defRPr sz="1100">
                <a:latin typeface="Helvetica" pitchFamily="2" charset="0"/>
              </a:defRPr>
            </a:lvl1pPr>
          </a:lstStyle>
          <a:p>
            <a:pPr>
              <a:defRPr/>
            </a:pPr>
            <a:fld id="{C746EC8E-B597-402D-9662-ABD14BABEEF8}"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3A289FF7-9133-044D-B490-8A3FD0ABAE44}"/>
              </a:ext>
            </a:extLst>
          </p:cNvPr>
          <p:cNvSpPr>
            <a:spLocks noGrp="1" noChangeArrowheads="1"/>
          </p:cNvSpPr>
          <p:nvPr>
            <p:ph type="hdr" sz="quarter"/>
          </p:nvPr>
        </p:nvSpPr>
        <p:spPr bwMode="auto">
          <a:xfrm>
            <a:off x="0"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47" name="Rectangle 3">
            <a:extLst>
              <a:ext uri="{FF2B5EF4-FFF2-40B4-BE49-F238E27FC236}">
                <a16:creationId xmlns:a16="http://schemas.microsoft.com/office/drawing/2014/main" id="{E37CAAC1-3D1D-9E43-A83C-E5D89AC65067}"/>
              </a:ext>
            </a:extLst>
          </p:cNvPr>
          <p:cNvSpPr>
            <a:spLocks noGrp="1" noChangeArrowheads="1"/>
          </p:cNvSpPr>
          <p:nvPr>
            <p:ph type="dt" idx="1"/>
          </p:nvPr>
        </p:nvSpPr>
        <p:spPr bwMode="auto">
          <a:xfrm>
            <a:off x="3900488"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algn="r" defTabSz="923925">
              <a:defRPr sz="1200">
                <a:latin typeface="Times New Roman" charset="0"/>
                <a:ea typeface="ＭＳ Ｐゴシック" charset="-128"/>
                <a:cs typeface="ＭＳ Ｐゴシック" charset="-128"/>
              </a:defRPr>
            </a:lvl1pPr>
          </a:lstStyle>
          <a:p>
            <a:pPr>
              <a:defRPr/>
            </a:pPr>
            <a:endParaRPr lang="en-US"/>
          </a:p>
        </p:txBody>
      </p:sp>
      <p:sp>
        <p:nvSpPr>
          <p:cNvPr id="3076" name="Rectangle 4">
            <a:extLst>
              <a:ext uri="{FF2B5EF4-FFF2-40B4-BE49-F238E27FC236}">
                <a16:creationId xmlns:a16="http://schemas.microsoft.com/office/drawing/2014/main" id="{DED26F54-2C52-46FF-BCE0-8696D7541572}"/>
              </a:ext>
            </a:extLst>
          </p:cNvPr>
          <p:cNvSpPr>
            <a:spLocks noGrp="1" noRot="1" noChangeAspect="1" noChangeArrowheads="1" noTextEdit="1"/>
          </p:cNvSpPr>
          <p:nvPr>
            <p:ph type="sldImg" idx="2"/>
          </p:nvPr>
        </p:nvSpPr>
        <p:spPr bwMode="auto">
          <a:xfrm>
            <a:off x="1117600" y="698500"/>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180789FC-DD11-5542-803A-9516EB334E31}"/>
              </a:ext>
            </a:extLst>
          </p:cNvPr>
          <p:cNvSpPr>
            <a:spLocks noGrp="1" noChangeArrowheads="1"/>
          </p:cNvSpPr>
          <p:nvPr>
            <p:ph type="body" sz="quarter" idx="3"/>
          </p:nvPr>
        </p:nvSpPr>
        <p:spPr bwMode="auto">
          <a:xfrm>
            <a:off x="917575" y="4416425"/>
            <a:ext cx="5046663" cy="4181475"/>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58A87854-4AA0-1349-AAA1-90BFC8DE2E9F}"/>
              </a:ext>
            </a:extLst>
          </p:cNvPr>
          <p:cNvSpPr>
            <a:spLocks noGrp="1" noChangeArrowheads="1"/>
          </p:cNvSpPr>
          <p:nvPr>
            <p:ph type="ftr" sz="quarter" idx="4"/>
          </p:nvPr>
        </p:nvSpPr>
        <p:spPr bwMode="auto">
          <a:xfrm>
            <a:off x="0"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51" name="Rectangle 7">
            <a:extLst>
              <a:ext uri="{FF2B5EF4-FFF2-40B4-BE49-F238E27FC236}">
                <a16:creationId xmlns:a16="http://schemas.microsoft.com/office/drawing/2014/main" id="{97C6A482-1B06-854B-9B2C-D5CE05B6625A}"/>
              </a:ext>
            </a:extLst>
          </p:cNvPr>
          <p:cNvSpPr>
            <a:spLocks noGrp="1" noChangeArrowheads="1"/>
          </p:cNvSpPr>
          <p:nvPr>
            <p:ph type="sldNum" sz="quarter" idx="5"/>
          </p:nvPr>
        </p:nvSpPr>
        <p:spPr bwMode="auto">
          <a:xfrm>
            <a:off x="3900488"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algn="r" defTabSz="923925">
              <a:defRPr sz="1200">
                <a:latin typeface="Times New Roman" panose="02020603050405020304" pitchFamily="18" charset="0"/>
              </a:defRPr>
            </a:lvl1pPr>
          </a:lstStyle>
          <a:p>
            <a:pPr>
              <a:defRPr/>
            </a:pPr>
            <a:fld id="{F8DDF7C7-3008-4DC4-9F8B-1490BCFC99E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F5B941C-6C70-45EA-B271-B429EAE6B09F}"/>
              </a:ext>
            </a:extLst>
          </p:cNvPr>
          <p:cNvSpPr>
            <a:spLocks noGrp="1" noRot="1" noChangeAspect="1" noChangeArrowheads="1" noTextEdit="1"/>
          </p:cNvSpPr>
          <p:nvPr>
            <p:ph type="sldImg"/>
          </p:nvPr>
        </p:nvSpPr>
        <p:spPr>
          <a:xfrm>
            <a:off x="1117600" y="696913"/>
            <a:ext cx="4648200" cy="3486150"/>
          </a:xfrm>
          <a:ln/>
        </p:spPr>
      </p:sp>
      <p:sp>
        <p:nvSpPr>
          <p:cNvPr id="10243" name="Rectangle 3">
            <a:extLst>
              <a:ext uri="{FF2B5EF4-FFF2-40B4-BE49-F238E27FC236}">
                <a16:creationId xmlns:a16="http://schemas.microsoft.com/office/drawing/2014/main" id="{0BC52257-B091-492A-BB7A-D3E9A29F26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Thread A:</a:t>
            </a:r>
            <a:r>
              <a:rPr lang="en-US" baseline="0" dirty="0"/>
              <a:t> print “yes”</a:t>
            </a:r>
          </a:p>
          <a:p>
            <a:r>
              <a:rPr lang="en-US" baseline="0" dirty="0"/>
              <a:t>Thread B: print “no”</a:t>
            </a:r>
          </a:p>
          <a:p>
            <a:r>
              <a:rPr lang="en-US" baseline="0" dirty="0"/>
              <a:t>Discuss example of having lunch before </a:t>
            </a:r>
            <a:r>
              <a:rPr lang="en-US" baseline="0" dirty="0" err="1"/>
              <a:t>saleem</a:t>
            </a:r>
            <a:r>
              <a:rPr lang="en-US" baseline="0" dirty="0"/>
              <a:t>.</a:t>
            </a:r>
          </a:p>
          <a:p>
            <a:r>
              <a:rPr lang="en-US" b="1" u="sng" baseline="0" dirty="0"/>
              <a:t>YOU:</a:t>
            </a:r>
            <a:r>
              <a:rPr lang="en-US" b="0" u="none" baseline="0" dirty="0"/>
              <a:t> a1:eat breakfast, a2:work, a3:eat lunch, a4:call </a:t>
            </a:r>
            <a:r>
              <a:rPr lang="en-US" b="0" u="none" baseline="0" dirty="0" err="1"/>
              <a:t>saleem</a:t>
            </a:r>
            <a:r>
              <a:rPr lang="en-US" b="0" u="none" baseline="0" dirty="0"/>
              <a:t>.</a:t>
            </a:r>
            <a:endParaRPr lang="en-US" b="1" u="sng" baseline="0" dirty="0"/>
          </a:p>
          <a:p>
            <a:r>
              <a:rPr lang="en-US" b="1" u="sng" baseline="0" dirty="0"/>
              <a:t>SALEEM:</a:t>
            </a:r>
            <a:r>
              <a:rPr lang="en-US" b="0" u="none" baseline="0" dirty="0"/>
              <a:t> b1:eat breakfast, b2:work, b3:wait for call, b4:eat lunch</a:t>
            </a:r>
            <a:endParaRPr lang="en-US" b="1" u="sng" dirty="0"/>
          </a:p>
        </p:txBody>
      </p:sp>
      <p:sp>
        <p:nvSpPr>
          <p:cNvPr id="4" name="Slide Number Placeholder 3"/>
          <p:cNvSpPr>
            <a:spLocks noGrp="1"/>
          </p:cNvSpPr>
          <p:nvPr>
            <p:ph type="sldNum" sz="quarter" idx="10"/>
          </p:nvPr>
        </p:nvSpPr>
        <p:spPr/>
        <p:txBody>
          <a:bodyPr/>
          <a:lstStyle/>
          <a:p>
            <a:fld id="{43AB8058-0711-45B7-B5A6-3DC92501CBAB}" type="slidenum">
              <a:rPr lang="en-US" smtClean="0"/>
              <a:pPr/>
              <a:t>3</a:t>
            </a:fld>
            <a:endParaRPr lang="en-US"/>
          </a:p>
        </p:txBody>
      </p:sp>
    </p:spTree>
    <p:extLst>
      <p:ext uri="{BB962C8B-B14F-4D97-AF65-F5344CB8AC3E}">
        <p14:creationId xmlns:p14="http://schemas.microsoft.com/office/powerpoint/2010/main" val="36190073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Thread A:</a:t>
            </a:r>
            <a:r>
              <a:rPr lang="en-US" baseline="0" dirty="0"/>
              <a:t> print “yes”</a:t>
            </a:r>
          </a:p>
          <a:p>
            <a:r>
              <a:rPr lang="en-US" baseline="0" dirty="0"/>
              <a:t>Thread B: print “no”</a:t>
            </a:r>
          </a:p>
          <a:p>
            <a:r>
              <a:rPr lang="en-US" baseline="0" dirty="0"/>
              <a:t>Discuss example of having lunch before </a:t>
            </a:r>
            <a:r>
              <a:rPr lang="en-US" baseline="0" dirty="0" err="1"/>
              <a:t>saleem</a:t>
            </a:r>
            <a:r>
              <a:rPr lang="en-US" baseline="0" dirty="0"/>
              <a:t>.</a:t>
            </a:r>
          </a:p>
          <a:p>
            <a:r>
              <a:rPr lang="en-US" b="1" u="sng" baseline="0" dirty="0"/>
              <a:t>YOU:</a:t>
            </a:r>
            <a:r>
              <a:rPr lang="en-US" b="0" u="none" baseline="0" dirty="0"/>
              <a:t> a1:eat breakfast, a2:work, a3:eat lunch, a4:call </a:t>
            </a:r>
            <a:r>
              <a:rPr lang="en-US" b="0" u="none" baseline="0" dirty="0" err="1"/>
              <a:t>saleem</a:t>
            </a:r>
            <a:r>
              <a:rPr lang="en-US" b="0" u="none" baseline="0" dirty="0"/>
              <a:t>.</a:t>
            </a:r>
            <a:endParaRPr lang="en-US" b="1" u="sng" baseline="0" dirty="0"/>
          </a:p>
          <a:p>
            <a:r>
              <a:rPr lang="en-US" b="1" u="sng" baseline="0" dirty="0"/>
              <a:t>SALEEM:</a:t>
            </a:r>
            <a:r>
              <a:rPr lang="en-US" b="0" u="none" baseline="0" dirty="0"/>
              <a:t> b1:eat breakfast, b2:work, b3:wait for call, b4:eat lunch</a:t>
            </a:r>
            <a:endParaRPr lang="en-US" b="1" u="sng" dirty="0"/>
          </a:p>
        </p:txBody>
      </p:sp>
      <p:sp>
        <p:nvSpPr>
          <p:cNvPr id="4" name="Slide Number Placeholder 3"/>
          <p:cNvSpPr>
            <a:spLocks noGrp="1"/>
          </p:cNvSpPr>
          <p:nvPr>
            <p:ph type="sldNum" sz="quarter" idx="10"/>
          </p:nvPr>
        </p:nvSpPr>
        <p:spPr/>
        <p:txBody>
          <a:bodyPr/>
          <a:lstStyle/>
          <a:p>
            <a:fld id="{43AB8058-0711-45B7-B5A6-3DC92501CBAB}" type="slidenum">
              <a:rPr lang="en-US" smtClean="0"/>
              <a:pPr/>
              <a:t>4</a:t>
            </a:fld>
            <a:endParaRPr lang="en-US"/>
          </a:p>
        </p:txBody>
      </p:sp>
    </p:spTree>
    <p:extLst>
      <p:ext uri="{BB962C8B-B14F-4D97-AF65-F5344CB8AC3E}">
        <p14:creationId xmlns:p14="http://schemas.microsoft.com/office/powerpoint/2010/main" val="19547928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2"/>
          <p:cNvSpPr>
            <a:spLocks noGrp="1" noRot="1" noChangeAspect="1" noChangeArrowheads="1" noTextEdit="1"/>
          </p:cNvSpPr>
          <p:nvPr>
            <p:ph type="sldImg"/>
          </p:nvPr>
        </p:nvSpPr>
        <p:spPr>
          <a:ln/>
        </p:spPr>
      </p:sp>
      <p:sp>
        <p:nvSpPr>
          <p:cNvPr id="3768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8581618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0E2EA78-05BB-45F4-869F-91C1B03FA661}" type="slidenum">
              <a:rPr lang="en-US"/>
              <a:pPr/>
              <a:t>6</a:t>
            </a:fld>
            <a:endParaRPr lang="en-US"/>
          </a:p>
        </p:txBody>
      </p:sp>
      <p:sp>
        <p:nvSpPr>
          <p:cNvPr id="212994" name="Rectangle 2"/>
          <p:cNvSpPr>
            <a:spLocks noGrp="1" noRot="1" noChangeAspect="1" noChangeArrowheads="1" noTextEdit="1"/>
          </p:cNvSpPr>
          <p:nvPr>
            <p:ph type="sldImg"/>
          </p:nvPr>
        </p:nvSpPr>
        <p:spPr>
          <a:ln/>
        </p:spPr>
      </p:sp>
      <p:sp>
        <p:nvSpPr>
          <p:cNvPr id="212995"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0E2EA78-05BB-45F4-869F-91C1B03FA661}" type="slidenum">
              <a:rPr lang="en-US"/>
              <a:pPr/>
              <a:t>7</a:t>
            </a:fld>
            <a:endParaRPr lang="en-US"/>
          </a:p>
        </p:txBody>
      </p:sp>
      <p:sp>
        <p:nvSpPr>
          <p:cNvPr id="212994" name="Rectangle 2"/>
          <p:cNvSpPr>
            <a:spLocks noGrp="1" noRot="1" noChangeAspect="1" noChangeArrowheads="1" noTextEdit="1"/>
          </p:cNvSpPr>
          <p:nvPr>
            <p:ph type="sldImg"/>
          </p:nvPr>
        </p:nvSpPr>
        <p:spPr>
          <a:ln/>
        </p:spPr>
      </p:sp>
      <p:sp>
        <p:nvSpPr>
          <p:cNvPr id="21299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1618031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0E2EA78-05BB-45F4-869F-91C1B03FA661}" type="slidenum">
              <a:rPr lang="en-US"/>
              <a:pPr/>
              <a:t>8</a:t>
            </a:fld>
            <a:endParaRPr lang="en-US"/>
          </a:p>
        </p:txBody>
      </p:sp>
      <p:sp>
        <p:nvSpPr>
          <p:cNvPr id="212994" name="Rectangle 2"/>
          <p:cNvSpPr>
            <a:spLocks noGrp="1" noRot="1" noChangeAspect="1" noChangeArrowheads="1" noTextEdit="1"/>
          </p:cNvSpPr>
          <p:nvPr>
            <p:ph type="sldImg"/>
          </p:nvPr>
        </p:nvSpPr>
        <p:spPr>
          <a:ln/>
        </p:spPr>
      </p:sp>
      <p:sp>
        <p:nvSpPr>
          <p:cNvPr id="212995" name="Rectangle 3"/>
          <p:cNvSpPr>
            <a:spLocks noGrp="1" noChangeArrowheads="1"/>
          </p:cNvSpPr>
          <p:nvPr>
            <p:ph type="body" idx="1"/>
          </p:nvPr>
        </p:nvSpPr>
        <p:spPr/>
        <p:txBody>
          <a:bodyPr/>
          <a:lstStyle/>
          <a:p>
            <a:r>
              <a:rPr lang="en-US" dirty="0"/>
              <a:t>First result is 90/- instead of 115/-</a:t>
            </a:r>
          </a:p>
          <a:p>
            <a:r>
              <a:rPr lang="en-US" dirty="0"/>
              <a:t>Second</a:t>
            </a:r>
            <a:r>
              <a:rPr lang="en-US" baseline="0" dirty="0"/>
              <a:t> result is 125/- instead of 115/-</a:t>
            </a:r>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0E2EA78-05BB-45F4-869F-91C1B03FA661}" type="slidenum">
              <a:rPr lang="en-US"/>
              <a:pPr/>
              <a:t>9</a:t>
            </a:fld>
            <a:endParaRPr lang="en-US"/>
          </a:p>
        </p:txBody>
      </p:sp>
      <p:sp>
        <p:nvSpPr>
          <p:cNvPr id="212994" name="Rectangle 2"/>
          <p:cNvSpPr>
            <a:spLocks noGrp="1" noRot="1" noChangeAspect="1" noChangeArrowheads="1" noTextEdit="1"/>
          </p:cNvSpPr>
          <p:nvPr>
            <p:ph type="sldImg"/>
          </p:nvPr>
        </p:nvSpPr>
        <p:spPr>
          <a:ln/>
        </p:spPr>
      </p:sp>
      <p:sp>
        <p:nvSpPr>
          <p:cNvPr id="212995" name="Rectangle 3"/>
          <p:cNvSpPr>
            <a:spLocks noGrp="1" noChangeArrowheads="1"/>
          </p:cNvSpPr>
          <p:nvPr>
            <p:ph type="body" idx="1"/>
          </p:nvPr>
        </p:nvSpPr>
        <p:spPr/>
        <p:txBody>
          <a:bodyPr/>
          <a:lstStyle/>
          <a:p>
            <a:r>
              <a:rPr lang="en-US" dirty="0"/>
              <a:t>First result is 90/- instead of 115/-</a:t>
            </a:r>
          </a:p>
          <a:p>
            <a:r>
              <a:rPr lang="en-US" dirty="0"/>
              <a:t>Second</a:t>
            </a:r>
            <a:r>
              <a:rPr lang="en-US" baseline="0" dirty="0"/>
              <a:t> result is 125/- instead of 115/-</a:t>
            </a:r>
            <a:endParaRPr lang="en-US" dirty="0"/>
          </a:p>
        </p:txBody>
      </p:sp>
    </p:spTree>
    <p:extLst>
      <p:ext uri="{BB962C8B-B14F-4D97-AF65-F5344CB8AC3E}">
        <p14:creationId xmlns:p14="http://schemas.microsoft.com/office/powerpoint/2010/main" val="6646013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2"/>
          <p:cNvSpPr>
            <a:spLocks noGrp="1" noRot="1" noChangeAspect="1" noChangeArrowheads="1" noTextEdit="1"/>
          </p:cNvSpPr>
          <p:nvPr>
            <p:ph type="sldImg"/>
          </p:nvPr>
        </p:nvSpPr>
        <p:spPr>
          <a:ln/>
        </p:spPr>
      </p:sp>
      <p:sp>
        <p:nvSpPr>
          <p:cNvPr id="3768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9900961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3AB8058-0711-45B7-B5A6-3DC92501CBAB}" type="slidenum">
              <a:rPr lang="en-US" smtClean="0"/>
              <a:pPr/>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a:lnSpc>
                <a:spcPct val="85000"/>
              </a:lnSpc>
              <a:spcBef>
                <a:spcPct val="20000"/>
              </a:spcBef>
              <a:tabLst>
                <a:tab pos="2228850" algn="ctr"/>
                <a:tab pos="5548313" algn="ctr"/>
              </a:tabLst>
            </a:pPr>
            <a:r>
              <a:rPr lang="en-US" dirty="0"/>
              <a:t>Most of the time, threads are working on separate data, so scheduling doesn’t matter:</a:t>
            </a:r>
          </a:p>
          <a:p>
            <a:pPr>
              <a:lnSpc>
                <a:spcPct val="85000"/>
              </a:lnSpc>
              <a:spcBef>
                <a:spcPct val="20000"/>
              </a:spcBef>
              <a:buFontTx/>
              <a:buNone/>
              <a:tabLst>
                <a:tab pos="2228850" algn="ctr"/>
                <a:tab pos="5548313" algn="ctr"/>
              </a:tabLst>
            </a:pPr>
            <a:r>
              <a:rPr lang="en-US" dirty="0"/>
              <a:t>	</a:t>
            </a:r>
            <a:r>
              <a:rPr lang="en-US" sz="2000" dirty="0">
                <a:solidFill>
                  <a:schemeClr val="hlink"/>
                </a:solidFill>
              </a:rPr>
              <a:t>	</a:t>
            </a:r>
            <a:r>
              <a:rPr lang="en-US" sz="2000" u="sng" dirty="0">
                <a:solidFill>
                  <a:schemeClr val="hlink"/>
                </a:solidFill>
              </a:rPr>
              <a:t>Thread A</a:t>
            </a:r>
            <a:r>
              <a:rPr lang="en-US" sz="2000" dirty="0">
                <a:solidFill>
                  <a:schemeClr val="hlink"/>
                </a:solidFill>
              </a:rPr>
              <a:t>	</a:t>
            </a:r>
            <a:r>
              <a:rPr lang="en-US" sz="2000" u="sng" dirty="0">
                <a:solidFill>
                  <a:schemeClr val="hlink"/>
                </a:solidFill>
              </a:rPr>
              <a:t>Thread B</a:t>
            </a:r>
          </a:p>
          <a:p>
            <a:pPr>
              <a:lnSpc>
                <a:spcPct val="85000"/>
              </a:lnSpc>
              <a:spcBef>
                <a:spcPct val="20000"/>
              </a:spcBef>
              <a:buFontTx/>
              <a:buNone/>
              <a:tabLst>
                <a:tab pos="2228850" algn="ctr"/>
                <a:tab pos="5548313" algn="ctr"/>
              </a:tabLst>
            </a:pPr>
            <a:r>
              <a:rPr lang="en-US" sz="2000" dirty="0">
                <a:solidFill>
                  <a:schemeClr val="hlink"/>
                </a:solidFill>
              </a:rPr>
              <a:t>		x = 1;	y = 2;	</a:t>
            </a:r>
          </a:p>
          <a:p>
            <a:pPr>
              <a:lnSpc>
                <a:spcPct val="85000"/>
              </a:lnSpc>
              <a:spcBef>
                <a:spcPct val="20000"/>
              </a:spcBef>
              <a:tabLst>
                <a:tab pos="2228850" algn="ctr"/>
                <a:tab pos="5548313" algn="ctr"/>
              </a:tabLst>
            </a:pPr>
            <a:r>
              <a:rPr lang="en-US" dirty="0"/>
              <a:t>However, What about (Initially, y = 12):</a:t>
            </a:r>
          </a:p>
          <a:p>
            <a:pPr>
              <a:lnSpc>
                <a:spcPct val="85000"/>
              </a:lnSpc>
              <a:spcBef>
                <a:spcPct val="20000"/>
              </a:spcBef>
              <a:buFontTx/>
              <a:buNone/>
              <a:tabLst>
                <a:tab pos="2228850" algn="ctr"/>
                <a:tab pos="5548313" algn="ctr"/>
              </a:tabLst>
            </a:pPr>
            <a:r>
              <a:rPr lang="en-US" sz="2000" dirty="0"/>
              <a:t>	</a:t>
            </a:r>
            <a:r>
              <a:rPr lang="en-US" sz="2000" dirty="0">
                <a:solidFill>
                  <a:schemeClr val="hlink"/>
                </a:solidFill>
              </a:rPr>
              <a:t>	</a:t>
            </a:r>
            <a:r>
              <a:rPr lang="en-US" sz="2000" u="sng" dirty="0">
                <a:solidFill>
                  <a:schemeClr val="hlink"/>
                </a:solidFill>
              </a:rPr>
              <a:t>Thread A</a:t>
            </a:r>
            <a:r>
              <a:rPr lang="en-US" sz="2000" dirty="0">
                <a:solidFill>
                  <a:schemeClr val="hlink"/>
                </a:solidFill>
              </a:rPr>
              <a:t>	</a:t>
            </a:r>
            <a:r>
              <a:rPr lang="en-US" sz="2000" u="sng" dirty="0">
                <a:solidFill>
                  <a:schemeClr val="hlink"/>
                </a:solidFill>
              </a:rPr>
              <a:t>Thread B</a:t>
            </a:r>
          </a:p>
          <a:p>
            <a:pPr>
              <a:lnSpc>
                <a:spcPct val="85000"/>
              </a:lnSpc>
              <a:spcBef>
                <a:spcPct val="20000"/>
              </a:spcBef>
              <a:buFontTx/>
              <a:buNone/>
              <a:tabLst>
                <a:tab pos="2228850" algn="ctr"/>
                <a:tab pos="5548313" algn="ctr"/>
              </a:tabLst>
            </a:pPr>
            <a:r>
              <a:rPr lang="en-US" sz="2000" dirty="0">
                <a:solidFill>
                  <a:schemeClr val="hlink"/>
                </a:solidFill>
              </a:rPr>
              <a:t>		x = 1;	y = 2;</a:t>
            </a:r>
          </a:p>
          <a:p>
            <a:pPr>
              <a:lnSpc>
                <a:spcPct val="85000"/>
              </a:lnSpc>
              <a:spcBef>
                <a:spcPct val="20000"/>
              </a:spcBef>
              <a:buFontTx/>
              <a:buNone/>
              <a:tabLst>
                <a:tab pos="2228850" algn="ctr"/>
                <a:tab pos="5548313" algn="ctr"/>
              </a:tabLst>
            </a:pPr>
            <a:r>
              <a:rPr lang="en-US" sz="2000" dirty="0">
                <a:solidFill>
                  <a:schemeClr val="hlink"/>
                </a:solidFill>
              </a:rPr>
              <a:t>		x = y+1;	y = y*2;</a:t>
            </a:r>
          </a:p>
          <a:p>
            <a:pPr lvl="1">
              <a:lnSpc>
                <a:spcPct val="85000"/>
              </a:lnSpc>
              <a:spcBef>
                <a:spcPct val="20000"/>
              </a:spcBef>
              <a:tabLst>
                <a:tab pos="2228850" algn="ctr"/>
                <a:tab pos="5548313" algn="ctr"/>
              </a:tabLst>
            </a:pPr>
            <a:r>
              <a:rPr lang="en-US" dirty="0"/>
              <a:t>What are the possible values of x? </a:t>
            </a:r>
          </a:p>
          <a:p>
            <a:pPr>
              <a:lnSpc>
                <a:spcPct val="85000"/>
              </a:lnSpc>
              <a:spcBef>
                <a:spcPct val="20000"/>
              </a:spcBef>
              <a:tabLst>
                <a:tab pos="2228850" algn="ctr"/>
                <a:tab pos="5548313" algn="ctr"/>
              </a:tabLst>
            </a:pPr>
            <a:r>
              <a:rPr lang="en-US" dirty="0"/>
              <a:t>Or, what are the possible values of x below?</a:t>
            </a:r>
          </a:p>
          <a:p>
            <a:pPr>
              <a:lnSpc>
                <a:spcPct val="85000"/>
              </a:lnSpc>
              <a:spcBef>
                <a:spcPct val="20000"/>
              </a:spcBef>
              <a:buFontTx/>
              <a:buNone/>
              <a:tabLst>
                <a:tab pos="2228850" algn="ctr"/>
                <a:tab pos="5548313" algn="ctr"/>
              </a:tabLst>
            </a:pPr>
            <a:r>
              <a:rPr lang="en-US" sz="2000" dirty="0"/>
              <a:t>	</a:t>
            </a:r>
            <a:r>
              <a:rPr lang="en-US" sz="2000" dirty="0">
                <a:solidFill>
                  <a:schemeClr val="hlink"/>
                </a:solidFill>
              </a:rPr>
              <a:t>	</a:t>
            </a:r>
            <a:r>
              <a:rPr lang="en-US" sz="2000" u="sng" dirty="0">
                <a:solidFill>
                  <a:schemeClr val="hlink"/>
                </a:solidFill>
              </a:rPr>
              <a:t>Thread A</a:t>
            </a:r>
            <a:r>
              <a:rPr lang="en-US" sz="2000" dirty="0">
                <a:solidFill>
                  <a:schemeClr val="hlink"/>
                </a:solidFill>
              </a:rPr>
              <a:t>	</a:t>
            </a:r>
            <a:r>
              <a:rPr lang="en-US" sz="2000" u="sng" dirty="0">
                <a:solidFill>
                  <a:schemeClr val="hlink"/>
                </a:solidFill>
              </a:rPr>
              <a:t>Thread B</a:t>
            </a:r>
          </a:p>
          <a:p>
            <a:pPr>
              <a:lnSpc>
                <a:spcPct val="85000"/>
              </a:lnSpc>
              <a:spcBef>
                <a:spcPct val="20000"/>
              </a:spcBef>
              <a:buFontTx/>
              <a:buNone/>
              <a:tabLst>
                <a:tab pos="2228850" algn="ctr"/>
                <a:tab pos="5548313" algn="ctr"/>
              </a:tabLst>
            </a:pPr>
            <a:r>
              <a:rPr lang="en-US" sz="2000" dirty="0">
                <a:solidFill>
                  <a:schemeClr val="hlink"/>
                </a:solidFill>
              </a:rPr>
              <a:t>		x = 1;	x = 2;</a:t>
            </a:r>
          </a:p>
          <a:p>
            <a:pPr lvl="1">
              <a:lnSpc>
                <a:spcPct val="85000"/>
              </a:lnSpc>
              <a:spcBef>
                <a:spcPct val="20000"/>
              </a:spcBef>
              <a:tabLst>
                <a:tab pos="2228850" algn="ctr"/>
                <a:tab pos="5548313" algn="ctr"/>
              </a:tabLst>
            </a:pPr>
            <a:r>
              <a:rPr lang="en-US" sz="2000" dirty="0"/>
              <a:t>X could be 1 or 2 (non-deterministic!)</a:t>
            </a:r>
          </a:p>
          <a:p>
            <a:pPr lvl="1">
              <a:lnSpc>
                <a:spcPct val="85000"/>
              </a:lnSpc>
              <a:spcBef>
                <a:spcPct val="20000"/>
              </a:spcBef>
              <a:tabLst>
                <a:tab pos="2228850" algn="ctr"/>
                <a:tab pos="5548313" algn="ctr"/>
              </a:tabLst>
            </a:pPr>
            <a:r>
              <a:rPr lang="en-US" sz="2000" dirty="0"/>
              <a:t>Could even be 3 for serial processors:</a:t>
            </a:r>
          </a:p>
          <a:p>
            <a:pPr lvl="2">
              <a:lnSpc>
                <a:spcPct val="85000"/>
              </a:lnSpc>
              <a:spcBef>
                <a:spcPct val="20000"/>
              </a:spcBef>
              <a:tabLst>
                <a:tab pos="2228850" algn="ctr"/>
                <a:tab pos="5548313" algn="ctr"/>
              </a:tabLst>
            </a:pPr>
            <a:r>
              <a:rPr lang="en-US" sz="1800" dirty="0"/>
              <a:t>Thread A writes 0001, B writes 0010.  </a:t>
            </a:r>
          </a:p>
          <a:p>
            <a:pPr lvl="2">
              <a:lnSpc>
                <a:spcPct val="85000"/>
              </a:lnSpc>
              <a:spcBef>
                <a:spcPct val="20000"/>
              </a:spcBef>
              <a:tabLst>
                <a:tab pos="2228850" algn="ctr"/>
                <a:tab pos="5548313" algn="ctr"/>
              </a:tabLst>
            </a:pPr>
            <a:r>
              <a:rPr lang="en-US" sz="1800" dirty="0"/>
              <a:t>Scheduling order ABABABBA yields 3!</a:t>
            </a:r>
          </a:p>
          <a:p>
            <a:endParaRPr lang="en-US" dirty="0"/>
          </a:p>
          <a:p>
            <a:endParaRPr lang="en-US" dirty="0"/>
          </a:p>
          <a:p>
            <a:r>
              <a:rPr lang="en-US" sz="1200" kern="1200" dirty="0">
                <a:solidFill>
                  <a:schemeClr val="tx1"/>
                </a:solidFill>
                <a:latin typeface="+mn-lt"/>
                <a:ea typeface="+mn-ea"/>
                <a:cs typeface="+mn-cs"/>
              </a:rPr>
              <a:t>Process 1	Process 2	Memory Value	</a:t>
            </a:r>
          </a:p>
          <a:p>
            <a:r>
              <a:rPr lang="en-US" sz="1200" kern="1200" dirty="0">
                <a:solidFill>
                  <a:schemeClr val="tx1"/>
                </a:solidFill>
                <a:latin typeface="+mn-lt"/>
                <a:ea typeface="+mn-ea"/>
                <a:cs typeface="+mn-cs"/>
              </a:rPr>
              <a:t>Read value	 	0	</a:t>
            </a:r>
          </a:p>
          <a:p>
            <a:r>
              <a:rPr lang="en-US" sz="1200" kern="1200" dirty="0">
                <a:solidFill>
                  <a:schemeClr val="tx1"/>
                </a:solidFill>
                <a:latin typeface="+mn-lt"/>
                <a:ea typeface="+mn-ea"/>
                <a:cs typeface="+mn-cs"/>
              </a:rPr>
              <a:t> 	Read value	0	</a:t>
            </a:r>
          </a:p>
          <a:p>
            <a:r>
              <a:rPr lang="en-US" sz="1200" kern="1200" dirty="0">
                <a:solidFill>
                  <a:schemeClr val="tx1"/>
                </a:solidFill>
                <a:latin typeface="+mn-lt"/>
                <a:ea typeface="+mn-ea"/>
                <a:cs typeface="+mn-cs"/>
              </a:rPr>
              <a:t>Flip value	 	1	</a:t>
            </a:r>
          </a:p>
          <a:p>
            <a:r>
              <a:rPr lang="en-US" sz="1200" kern="1200" dirty="0">
                <a:solidFill>
                  <a:schemeClr val="tx1"/>
                </a:solidFill>
                <a:latin typeface="+mn-lt"/>
                <a:ea typeface="+mn-ea"/>
                <a:cs typeface="+mn-cs"/>
              </a:rPr>
              <a:t> 	Flip value	1	</a:t>
            </a:r>
          </a:p>
          <a:p>
            <a:endParaRPr lang="en-US" dirty="0"/>
          </a:p>
        </p:txBody>
      </p:sp>
      <p:sp>
        <p:nvSpPr>
          <p:cNvPr id="4" name="Slide Number Placeholder 3"/>
          <p:cNvSpPr>
            <a:spLocks noGrp="1"/>
          </p:cNvSpPr>
          <p:nvPr>
            <p:ph type="sldNum" sz="quarter" idx="10"/>
          </p:nvPr>
        </p:nvSpPr>
        <p:spPr/>
        <p:txBody>
          <a:bodyPr/>
          <a:lstStyle/>
          <a:p>
            <a:fld id="{43AB8058-0711-45B7-B5A6-3DC92501CBAB}" type="slidenum">
              <a:rPr lang="en-US" smtClean="0"/>
              <a:pPr/>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9D81DCF-D5EC-4ACE-983C-8087A3BE5DA5}" type="slidenum">
              <a:rPr lang="en-US" smtClean="0"/>
              <a:pPr/>
              <a:t>13</a:t>
            </a:fld>
            <a:endParaRPr lang="en-US"/>
          </a:p>
        </p:txBody>
      </p:sp>
    </p:spTree>
    <p:extLst>
      <p:ext uri="{BB962C8B-B14F-4D97-AF65-F5344CB8AC3E}">
        <p14:creationId xmlns:p14="http://schemas.microsoft.com/office/powerpoint/2010/main" val="25077897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4926457-797A-40A9-AFDE-60DC724B2C17}" type="slidenum">
              <a:rPr lang="en-US"/>
              <a:pPr/>
              <a:t>14</a:t>
            </a:fld>
            <a:endParaRPr lang="en-US"/>
          </a:p>
        </p:txBody>
      </p:sp>
      <p:sp>
        <p:nvSpPr>
          <p:cNvPr id="401410" name="Rectangle 2"/>
          <p:cNvSpPr>
            <a:spLocks noGrp="1" noRot="1" noChangeAspect="1" noChangeArrowheads="1" noTextEdit="1"/>
          </p:cNvSpPr>
          <p:nvPr>
            <p:ph type="sldImg"/>
          </p:nvPr>
        </p:nvSpPr>
        <p:spPr>
          <a:ln/>
        </p:spPr>
      </p:sp>
      <p:sp>
        <p:nvSpPr>
          <p:cNvPr id="4014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4926457-797A-40A9-AFDE-60DC724B2C17}" type="slidenum">
              <a:rPr lang="en-US"/>
              <a:pPr/>
              <a:t>15</a:t>
            </a:fld>
            <a:endParaRPr lang="en-US"/>
          </a:p>
        </p:txBody>
      </p:sp>
      <p:sp>
        <p:nvSpPr>
          <p:cNvPr id="401410" name="Rectangle 2"/>
          <p:cNvSpPr>
            <a:spLocks noGrp="1" noRot="1" noChangeAspect="1" noChangeArrowheads="1" noTextEdit="1"/>
          </p:cNvSpPr>
          <p:nvPr>
            <p:ph type="sldImg"/>
          </p:nvPr>
        </p:nvSpPr>
        <p:spPr>
          <a:ln/>
        </p:spPr>
      </p:sp>
      <p:sp>
        <p:nvSpPr>
          <p:cNvPr id="4014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5643619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4926457-797A-40A9-AFDE-60DC724B2C17}" type="slidenum">
              <a:rPr lang="en-US"/>
              <a:pPr/>
              <a:t>16</a:t>
            </a:fld>
            <a:endParaRPr lang="en-US"/>
          </a:p>
        </p:txBody>
      </p:sp>
      <p:sp>
        <p:nvSpPr>
          <p:cNvPr id="401410" name="Rectangle 2"/>
          <p:cNvSpPr>
            <a:spLocks noGrp="1" noRot="1" noChangeAspect="1" noChangeArrowheads="1" noTextEdit="1"/>
          </p:cNvSpPr>
          <p:nvPr>
            <p:ph type="sldImg"/>
          </p:nvPr>
        </p:nvSpPr>
        <p:spPr>
          <a:ln/>
        </p:spPr>
      </p:sp>
      <p:sp>
        <p:nvSpPr>
          <p:cNvPr id="4014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9D81DCF-D5EC-4ACE-983C-8087A3BE5DA5}" type="slidenum">
              <a:rPr lang="en-US" smtClean="0"/>
              <a:pPr/>
              <a:t>17</a:t>
            </a:fld>
            <a:endParaRPr lang="en-US"/>
          </a:p>
        </p:txBody>
      </p:sp>
    </p:spTree>
    <p:extLst>
      <p:ext uri="{BB962C8B-B14F-4D97-AF65-F5344CB8AC3E}">
        <p14:creationId xmlns:p14="http://schemas.microsoft.com/office/powerpoint/2010/main" val="1845265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9D81DCF-D5EC-4ACE-983C-8087A3BE5DA5}" type="slidenum">
              <a:rPr lang="en-US" smtClean="0"/>
              <a:pPr/>
              <a:t>18</a:t>
            </a:fld>
            <a:endParaRPr lang="en-US"/>
          </a:p>
        </p:txBody>
      </p:sp>
    </p:spTree>
    <p:extLst>
      <p:ext uri="{BB962C8B-B14F-4D97-AF65-F5344CB8AC3E}">
        <p14:creationId xmlns:p14="http://schemas.microsoft.com/office/powerpoint/2010/main" val="19013448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9D81DCF-D5EC-4ACE-983C-8087A3BE5DA5}" type="slidenum">
              <a:rPr lang="en-US" smtClean="0"/>
              <a:pPr/>
              <a:t>19</a:t>
            </a:fld>
            <a:endParaRPr lang="en-US"/>
          </a:p>
        </p:txBody>
      </p:sp>
    </p:spTree>
    <p:extLst>
      <p:ext uri="{BB962C8B-B14F-4D97-AF65-F5344CB8AC3E}">
        <p14:creationId xmlns:p14="http://schemas.microsoft.com/office/powerpoint/2010/main" val="1796200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419790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4926457-797A-40A9-AFDE-60DC724B2C17}" type="slidenum">
              <a:rPr lang="en-US"/>
              <a:pPr/>
              <a:t>21</a:t>
            </a:fld>
            <a:endParaRPr lang="en-US"/>
          </a:p>
        </p:txBody>
      </p:sp>
      <p:sp>
        <p:nvSpPr>
          <p:cNvPr id="401410" name="Rectangle 2"/>
          <p:cNvSpPr>
            <a:spLocks noGrp="1" noRot="1" noChangeAspect="1" noChangeArrowheads="1" noTextEdit="1"/>
          </p:cNvSpPr>
          <p:nvPr>
            <p:ph type="sldImg"/>
          </p:nvPr>
        </p:nvSpPr>
        <p:spPr>
          <a:ln/>
        </p:spPr>
      </p:sp>
      <p:sp>
        <p:nvSpPr>
          <p:cNvPr id="401411" name="Rectangle 3"/>
          <p:cNvSpPr>
            <a:spLocks noGrp="1" noChangeArrowheads="1"/>
          </p:cNvSpPr>
          <p:nvPr>
            <p:ph type="body" idx="1"/>
          </p:nvPr>
        </p:nvSpPr>
        <p:spPr/>
        <p:txBody>
          <a:bodyPr/>
          <a:lstStyle/>
          <a:p>
            <a:r>
              <a:rPr lang="en-US" b="1" u="sng" dirty="0"/>
              <a:t>Test for Characteristics of Good Solution</a:t>
            </a:r>
          </a:p>
          <a:p>
            <a:r>
              <a:rPr lang="en-US" b="0" u="sng" dirty="0"/>
              <a:t>Mutual Exclusion:</a:t>
            </a:r>
            <a:r>
              <a:rPr lang="en-US" b="0" u="none" dirty="0"/>
              <a:t>   Holds, because if P0 is in its CS then P1 cannot enter its CS.</a:t>
            </a:r>
            <a:r>
              <a:rPr lang="en-US" b="0" u="none" baseline="0" dirty="0"/>
              <a:t> Assumption is that turn is accessed mutually exclusively.</a:t>
            </a:r>
            <a:endParaRPr lang="en-US" b="0" u="sng" dirty="0"/>
          </a:p>
          <a:p>
            <a:r>
              <a:rPr lang="en-US" b="0" u="sng" dirty="0"/>
              <a:t>Progress:</a:t>
            </a:r>
            <a:r>
              <a:rPr lang="en-US" b="0" u="none" dirty="0"/>
              <a:t>       Does</a:t>
            </a:r>
            <a:r>
              <a:rPr lang="en-US" b="0" u="none" baseline="0" dirty="0"/>
              <a:t> not hold because of strict alternation, </a:t>
            </a:r>
            <a:r>
              <a:rPr lang="en-US" b="0" u="none" baseline="0" dirty="0" err="1"/>
              <a:t>eg</a:t>
            </a:r>
            <a:r>
              <a:rPr lang="en-US" b="0" u="none" baseline="0" dirty="0"/>
              <a:t>. Two brothers playing video game.</a:t>
            </a:r>
            <a:endParaRPr lang="en-US" b="0" u="sng" dirty="0"/>
          </a:p>
          <a:p>
            <a:r>
              <a:rPr lang="en-US" b="0" u="sng" dirty="0"/>
              <a:t>Bounded</a:t>
            </a:r>
            <a:r>
              <a:rPr lang="en-US" b="0" u="sng" baseline="0" dirty="0"/>
              <a:t> Wait: </a:t>
            </a:r>
            <a:r>
              <a:rPr lang="en-US" b="0" u="none" baseline="0" dirty="0"/>
              <a:t>              </a:t>
            </a:r>
            <a:r>
              <a:rPr lang="en-US" b="0" u="none" dirty="0"/>
              <a:t> </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4926457-797A-40A9-AFDE-60DC724B2C17}" type="slidenum">
              <a:rPr lang="en-US"/>
              <a:pPr/>
              <a:t>22</a:t>
            </a:fld>
            <a:endParaRPr lang="en-US"/>
          </a:p>
        </p:txBody>
      </p:sp>
      <p:sp>
        <p:nvSpPr>
          <p:cNvPr id="401410" name="Rectangle 2"/>
          <p:cNvSpPr>
            <a:spLocks noGrp="1" noRot="1" noChangeAspect="1" noChangeArrowheads="1" noTextEdit="1"/>
          </p:cNvSpPr>
          <p:nvPr>
            <p:ph type="sldImg"/>
          </p:nvPr>
        </p:nvSpPr>
        <p:spPr>
          <a:ln/>
        </p:spPr>
      </p:sp>
      <p:sp>
        <p:nvSpPr>
          <p:cNvPr id="401411" name="Rectangle 3"/>
          <p:cNvSpPr>
            <a:spLocks noGrp="1" noChangeArrowheads="1"/>
          </p:cNvSpPr>
          <p:nvPr>
            <p:ph type="body" idx="1"/>
          </p:nvPr>
        </p:nvSpPr>
        <p:spPr/>
        <p:txBody>
          <a:bodyPr/>
          <a:lstStyle/>
          <a:p>
            <a:r>
              <a:rPr lang="en-US" b="1" u="sng" dirty="0"/>
              <a:t>Test for Characteristics of Good Solution</a:t>
            </a:r>
          </a:p>
          <a:p>
            <a:r>
              <a:rPr lang="en-US" b="0" u="sng" dirty="0"/>
              <a:t>Mutual Exclusion:</a:t>
            </a:r>
            <a:r>
              <a:rPr lang="en-US" b="0" u="none" dirty="0"/>
              <a:t>     holds                        </a:t>
            </a:r>
            <a:endParaRPr lang="en-US" b="0" u="sng" dirty="0"/>
          </a:p>
          <a:p>
            <a:r>
              <a:rPr lang="en-US" b="0" u="sng" dirty="0"/>
              <a:t>Progress:</a:t>
            </a:r>
            <a:r>
              <a:rPr lang="en-US" b="0" u="none" dirty="0"/>
              <a:t>                does</a:t>
            </a:r>
            <a:r>
              <a:rPr lang="en-US" b="0" u="none" baseline="0" dirty="0"/>
              <a:t> not hold</a:t>
            </a:r>
            <a:endParaRPr lang="en-US" b="0" u="sng" dirty="0"/>
          </a:p>
          <a:p>
            <a:r>
              <a:rPr lang="en-US" b="0" u="sng" dirty="0"/>
              <a:t>Bounded</a:t>
            </a:r>
            <a:r>
              <a:rPr lang="en-US" b="0" u="sng" baseline="0" dirty="0"/>
              <a:t> Wait: </a:t>
            </a:r>
            <a:r>
              <a:rPr lang="en-US" b="0" u="none" baseline="0" dirty="0"/>
              <a:t>       does not hold</a:t>
            </a:r>
            <a:endParaRPr lang="en-US" b="0" u="none"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4926457-797A-40A9-AFDE-60DC724B2C17}" type="slidenum">
              <a:rPr lang="en-US"/>
              <a:pPr/>
              <a:t>23</a:t>
            </a:fld>
            <a:endParaRPr lang="en-US"/>
          </a:p>
        </p:txBody>
      </p:sp>
      <p:sp>
        <p:nvSpPr>
          <p:cNvPr id="401410" name="Rectangle 2"/>
          <p:cNvSpPr>
            <a:spLocks noGrp="1" noRot="1" noChangeAspect="1" noChangeArrowheads="1" noTextEdit="1"/>
          </p:cNvSpPr>
          <p:nvPr>
            <p:ph type="sldImg"/>
          </p:nvPr>
        </p:nvSpPr>
        <p:spPr>
          <a:ln/>
        </p:spPr>
      </p:sp>
      <p:sp>
        <p:nvSpPr>
          <p:cNvPr id="401411" name="Rectangle 3"/>
          <p:cNvSpPr>
            <a:spLocks noGrp="1" noChangeArrowheads="1"/>
          </p:cNvSpPr>
          <p:nvPr>
            <p:ph type="body" idx="1"/>
          </p:nvPr>
        </p:nvSpPr>
        <p:spPr/>
        <p:txBody>
          <a:bodyPr/>
          <a:lstStyle/>
          <a:p>
            <a:r>
              <a:rPr lang="en-US" dirty="0"/>
              <a:t>I want to go but</a:t>
            </a:r>
            <a:r>
              <a:rPr lang="en-US" baseline="0" dirty="0"/>
              <a:t> you go first</a:t>
            </a:r>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4926457-797A-40A9-AFDE-60DC724B2C17}" type="slidenum">
              <a:rPr lang="en-US"/>
              <a:pPr/>
              <a:t>24</a:t>
            </a:fld>
            <a:endParaRPr lang="en-US"/>
          </a:p>
        </p:txBody>
      </p:sp>
      <p:sp>
        <p:nvSpPr>
          <p:cNvPr id="401410" name="Rectangle 2"/>
          <p:cNvSpPr>
            <a:spLocks noGrp="1" noRot="1" noChangeAspect="1" noChangeArrowheads="1" noTextEdit="1"/>
          </p:cNvSpPr>
          <p:nvPr>
            <p:ph type="sldImg"/>
          </p:nvPr>
        </p:nvSpPr>
        <p:spPr>
          <a:ln/>
        </p:spPr>
      </p:sp>
      <p:sp>
        <p:nvSpPr>
          <p:cNvPr id="401411" name="Rectangle 3"/>
          <p:cNvSpPr>
            <a:spLocks noGrp="1" noChangeArrowheads="1"/>
          </p:cNvSpPr>
          <p:nvPr>
            <p:ph type="body" idx="1"/>
          </p:nvPr>
        </p:nvSpPr>
        <p:spPr/>
        <p:txBody>
          <a:bodyPr/>
          <a:lstStyle/>
          <a:p>
            <a:r>
              <a:rPr lang="en-US" b="1" u="sng" dirty="0"/>
              <a:t>Test for Characteristics of Good Solution</a:t>
            </a:r>
          </a:p>
          <a:p>
            <a:r>
              <a:rPr lang="en-US" b="0" u="sng" dirty="0"/>
              <a:t>Mutual Exclusion:</a:t>
            </a:r>
            <a:r>
              <a:rPr lang="en-US" b="0" u="none" dirty="0"/>
              <a:t>           Holds                  </a:t>
            </a:r>
            <a:endParaRPr lang="en-US" b="0" u="sng" dirty="0"/>
          </a:p>
          <a:p>
            <a:r>
              <a:rPr lang="en-US" b="0" u="sng" dirty="0"/>
              <a:t>Progress:</a:t>
            </a:r>
            <a:r>
              <a:rPr lang="en-US" b="0" u="none" dirty="0"/>
              <a:t>                      Holds</a:t>
            </a:r>
            <a:endParaRPr lang="en-US" b="0" u="sng" dirty="0"/>
          </a:p>
          <a:p>
            <a:r>
              <a:rPr lang="en-US" b="0" u="sng" dirty="0"/>
              <a:t>Bounded</a:t>
            </a:r>
            <a:r>
              <a:rPr lang="en-US" b="0" u="sng" baseline="0" dirty="0"/>
              <a:t> Wait: </a:t>
            </a:r>
            <a:r>
              <a:rPr lang="en-US" b="0" u="none" baseline="0" dirty="0"/>
              <a:t>     Suppose P0 show its willingness to enter its CS by setting its flag to true. Now P1 executes and enters its CS. Once P1 exits the CS it set its flag to false. Now even if P1 again tries to enter its CS again, it can’t because flag[0] is true and turn is also set to zero by P1 before entering the while loop. So P1 will spin and P0 enters its CS. So the bound is set to ONE.         </a:t>
            </a:r>
            <a:r>
              <a:rPr lang="en-US" b="0" u="none" dirty="0"/>
              <a:t> </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4926457-797A-40A9-AFDE-60DC724B2C17}" type="slidenum">
              <a:rPr lang="en-US"/>
              <a:pPr/>
              <a:t>25</a:t>
            </a:fld>
            <a:endParaRPr lang="en-US"/>
          </a:p>
        </p:txBody>
      </p:sp>
      <p:sp>
        <p:nvSpPr>
          <p:cNvPr id="401410" name="Rectangle 2"/>
          <p:cNvSpPr>
            <a:spLocks noGrp="1" noRot="1" noChangeAspect="1" noChangeArrowheads="1" noTextEdit="1"/>
          </p:cNvSpPr>
          <p:nvPr>
            <p:ph type="sldImg"/>
          </p:nvPr>
        </p:nvSpPr>
        <p:spPr>
          <a:ln/>
        </p:spPr>
      </p:sp>
      <p:sp>
        <p:nvSpPr>
          <p:cNvPr id="401411" name="Rectangle 3"/>
          <p:cNvSpPr>
            <a:spLocks noGrp="1" noChangeArrowheads="1"/>
          </p:cNvSpPr>
          <p:nvPr>
            <p:ph type="body" idx="1"/>
          </p:nvPr>
        </p:nvSpPr>
        <p:spPr/>
        <p:txBody>
          <a:bodyPr/>
          <a:lstStyle/>
          <a:p>
            <a:r>
              <a:rPr lang="en-US" dirty="0"/>
              <a:t>I want to go but</a:t>
            </a:r>
            <a:r>
              <a:rPr lang="en-US" baseline="0" dirty="0"/>
              <a:t> you go first</a:t>
            </a:r>
            <a:endParaRPr lang="en-US" dirty="0"/>
          </a:p>
        </p:txBody>
      </p:sp>
    </p:spTree>
    <p:extLst>
      <p:ext uri="{BB962C8B-B14F-4D97-AF65-F5344CB8AC3E}">
        <p14:creationId xmlns:p14="http://schemas.microsoft.com/office/powerpoint/2010/main" val="42631822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814171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9D81DCF-D5EC-4ACE-983C-8087A3BE5DA5}" type="slidenum">
              <a:rPr lang="en-US" smtClean="0"/>
              <a:pPr/>
              <a:t>27</a:t>
            </a:fld>
            <a:endParaRPr lang="en-US"/>
          </a:p>
        </p:txBody>
      </p:sp>
    </p:spTree>
    <p:extLst>
      <p:ext uri="{BB962C8B-B14F-4D97-AF65-F5344CB8AC3E}">
        <p14:creationId xmlns:p14="http://schemas.microsoft.com/office/powerpoint/2010/main" val="15292537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9D81DCF-D5EC-4ACE-983C-8087A3BE5DA5}" type="slidenum">
              <a:rPr lang="en-US" smtClean="0"/>
              <a:pPr/>
              <a:t>28</a:t>
            </a:fld>
            <a:endParaRPr lang="en-US"/>
          </a:p>
        </p:txBody>
      </p:sp>
    </p:spTree>
    <p:extLst>
      <p:ext uri="{BB962C8B-B14F-4D97-AF65-F5344CB8AC3E}">
        <p14:creationId xmlns:p14="http://schemas.microsoft.com/office/powerpoint/2010/main" val="20065028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9D81DCF-D5EC-4ACE-983C-8087A3BE5DA5}" type="slidenum">
              <a:rPr lang="en-US" smtClean="0"/>
              <a:pPr/>
              <a:t>29</a:t>
            </a:fld>
            <a:endParaRPr lang="en-US"/>
          </a:p>
        </p:txBody>
      </p:sp>
    </p:spTree>
    <p:extLst>
      <p:ext uri="{BB962C8B-B14F-4D97-AF65-F5344CB8AC3E}">
        <p14:creationId xmlns:p14="http://schemas.microsoft.com/office/powerpoint/2010/main" val="13391050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9D81DCF-D5EC-4ACE-983C-8087A3BE5DA5}" type="slidenum">
              <a:rPr lang="en-US" smtClean="0"/>
              <a:pPr/>
              <a:t>30</a:t>
            </a:fld>
            <a:endParaRPr lang="en-US"/>
          </a:p>
        </p:txBody>
      </p:sp>
    </p:spTree>
    <p:extLst>
      <p:ext uri="{BB962C8B-B14F-4D97-AF65-F5344CB8AC3E}">
        <p14:creationId xmlns:p14="http://schemas.microsoft.com/office/powerpoint/2010/main" val="35472853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4926457-797A-40A9-AFDE-60DC724B2C17}" type="slidenum">
              <a:rPr lang="en-US"/>
              <a:pPr/>
              <a:t>31</a:t>
            </a:fld>
            <a:endParaRPr lang="en-US"/>
          </a:p>
        </p:txBody>
      </p:sp>
      <p:sp>
        <p:nvSpPr>
          <p:cNvPr id="401410" name="Rectangle 2"/>
          <p:cNvSpPr>
            <a:spLocks noGrp="1" noRot="1" noChangeAspect="1" noChangeArrowheads="1" noTextEdit="1"/>
          </p:cNvSpPr>
          <p:nvPr>
            <p:ph type="sldImg"/>
          </p:nvPr>
        </p:nvSpPr>
        <p:spPr>
          <a:ln/>
        </p:spPr>
      </p:sp>
      <p:sp>
        <p:nvSpPr>
          <p:cNvPr id="4014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4926457-797A-40A9-AFDE-60DC724B2C17}" type="slidenum">
              <a:rPr lang="en-US"/>
              <a:pPr/>
              <a:t>32</a:t>
            </a:fld>
            <a:endParaRPr lang="en-US"/>
          </a:p>
        </p:txBody>
      </p:sp>
      <p:sp>
        <p:nvSpPr>
          <p:cNvPr id="401410" name="Rectangle 2"/>
          <p:cNvSpPr>
            <a:spLocks noGrp="1" noRot="1" noChangeAspect="1" noChangeArrowheads="1" noTextEdit="1"/>
          </p:cNvSpPr>
          <p:nvPr>
            <p:ph type="sldImg"/>
          </p:nvPr>
        </p:nvSpPr>
        <p:spPr>
          <a:ln/>
        </p:spPr>
      </p:sp>
      <p:sp>
        <p:nvSpPr>
          <p:cNvPr id="4014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2236763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2"/>
          <p:cNvSpPr>
            <a:spLocks noGrp="1" noRot="1" noChangeAspect="1" noChangeArrowheads="1" noTextEdit="1"/>
          </p:cNvSpPr>
          <p:nvPr>
            <p:ph type="sldImg"/>
          </p:nvPr>
        </p:nvSpPr>
        <p:spPr>
          <a:ln/>
        </p:spPr>
      </p:sp>
      <p:sp>
        <p:nvSpPr>
          <p:cNvPr id="3768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0600697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2"/>
          <p:cNvSpPr>
            <a:spLocks noGrp="1" noRot="1" noChangeAspect="1" noChangeArrowheads="1" noTextEdit="1"/>
          </p:cNvSpPr>
          <p:nvPr>
            <p:ph type="sldImg"/>
          </p:nvPr>
        </p:nvSpPr>
        <p:spPr>
          <a:ln/>
        </p:spPr>
      </p:sp>
      <p:sp>
        <p:nvSpPr>
          <p:cNvPr id="3768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411131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9D81DCF-D5EC-4ACE-983C-8087A3BE5DA5}" type="slidenum">
              <a:rPr lang="en-US" smtClean="0"/>
              <a:pPr/>
              <a:t>35</a:t>
            </a:fld>
            <a:endParaRPr lang="en-US"/>
          </a:p>
        </p:txBody>
      </p:sp>
    </p:spTree>
    <p:extLst>
      <p:ext uri="{BB962C8B-B14F-4D97-AF65-F5344CB8AC3E}">
        <p14:creationId xmlns:p14="http://schemas.microsoft.com/office/powerpoint/2010/main" val="3469916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4926457-797A-40A9-AFDE-60DC724B2C17}" type="slidenum">
              <a:rPr lang="en-US"/>
              <a:pPr/>
              <a:t>36</a:t>
            </a:fld>
            <a:endParaRPr lang="en-US"/>
          </a:p>
        </p:txBody>
      </p:sp>
      <p:sp>
        <p:nvSpPr>
          <p:cNvPr id="401410" name="Rectangle 2"/>
          <p:cNvSpPr>
            <a:spLocks noGrp="1" noRot="1" noChangeAspect="1" noChangeArrowheads="1" noTextEdit="1"/>
          </p:cNvSpPr>
          <p:nvPr>
            <p:ph type="sldImg"/>
          </p:nvPr>
        </p:nvSpPr>
        <p:spPr>
          <a:ln/>
        </p:spPr>
      </p:sp>
      <p:sp>
        <p:nvSpPr>
          <p:cNvPr id="401411"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51A2E241-E71B-4B35-B69B-2D69D5409309}"/>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CA593407-3A83-4E89-8524-3F2D7E670929}"/>
                </a:ext>
              </a:extLst>
            </p:cNvPr>
            <p:cNvSpPr>
              <a:spLocks noChangeArrowheads="1"/>
            </p:cNvSpPr>
            <p:nvPr/>
          </p:nvSpPr>
          <p:spPr bwMode="auto">
            <a:xfrm>
              <a:off x="125"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5" name="Rectangle 5">
              <a:extLst>
                <a:ext uri="{FF2B5EF4-FFF2-40B4-BE49-F238E27FC236}">
                  <a16:creationId xmlns:a16="http://schemas.microsoft.com/office/drawing/2014/main" id="{63C094EE-E8AB-42C7-A23E-1CE65617C897}"/>
                </a:ext>
              </a:extLst>
            </p:cNvPr>
            <p:cNvSpPr>
              <a:spLocks noChangeArrowheads="1"/>
            </p:cNvSpPr>
            <p:nvPr/>
          </p:nvSpPr>
          <p:spPr bwMode="auto">
            <a:xfrm>
              <a:off x="1933" y="1865"/>
              <a:ext cx="1808" cy="12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6" name="Rectangle 6">
              <a:extLst>
                <a:ext uri="{FF2B5EF4-FFF2-40B4-BE49-F238E27FC236}">
                  <a16:creationId xmlns:a16="http://schemas.microsoft.com/office/drawing/2014/main" id="{465B52CB-4EE3-4303-91A6-1E3D2BCA2DF6}"/>
                </a:ext>
              </a:extLst>
            </p:cNvPr>
            <p:cNvSpPr>
              <a:spLocks noChangeArrowheads="1"/>
            </p:cNvSpPr>
            <p:nvPr/>
          </p:nvSpPr>
          <p:spPr bwMode="auto">
            <a:xfrm>
              <a:off x="3741"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3E29D3E6-430F-439A-B7E4-DBD6A407A147}"/>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336699"/>
                </a:solidFill>
                <a:latin typeface="Helvetica" pitchFamily="2" charset="0"/>
              </a:rPr>
              <a:t>Silberschatz, Galvin and Gagne ©2018</a:t>
            </a:r>
          </a:p>
        </p:txBody>
      </p:sp>
      <p:sp>
        <p:nvSpPr>
          <p:cNvPr id="8" name="Text Box 8">
            <a:extLst>
              <a:ext uri="{FF2B5EF4-FFF2-40B4-BE49-F238E27FC236}">
                <a16:creationId xmlns:a16="http://schemas.microsoft.com/office/drawing/2014/main" id="{3EBF474A-C9EA-4112-BDD8-3544E23F5898}"/>
              </a:ext>
            </a:extLst>
          </p:cNvPr>
          <p:cNvSpPr txBox="1">
            <a:spLocks noChangeArrowheads="1"/>
          </p:cNvSpPr>
          <p:nvPr/>
        </p:nvSpPr>
        <p:spPr bwMode="auto">
          <a:xfrm>
            <a:off x="26988" y="6613525"/>
            <a:ext cx="270192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a:solidFill>
                  <a:srgbClr val="336699"/>
                </a:solidFill>
                <a:latin typeface="Helvetica" pitchFamily="2" charset="0"/>
              </a:rPr>
              <a:t>Operating System Concepts – 10</a:t>
            </a:r>
            <a:r>
              <a:rPr lang="en-US" altLang="en-US" sz="1000" b="1" baseline="30000">
                <a:solidFill>
                  <a:srgbClr val="336699"/>
                </a:solidFill>
                <a:latin typeface="Helvetica" pitchFamily="2" charset="0"/>
              </a:rPr>
              <a:t>h</a:t>
            </a:r>
            <a:r>
              <a:rPr lang="en-US" altLang="en-US" sz="1000" b="1">
                <a:solidFill>
                  <a:srgbClr val="336699"/>
                </a:solidFill>
                <a:latin typeface="Helvetica" pitchFamily="2" charset="0"/>
              </a:rPr>
              <a:t> Edition</a:t>
            </a:r>
          </a:p>
        </p:txBody>
      </p:sp>
      <p:pic>
        <p:nvPicPr>
          <p:cNvPr id="9" name="Picture 9" descr="dino_4">
            <a:extLst>
              <a:ext uri="{FF2B5EF4-FFF2-40B4-BE49-F238E27FC236}">
                <a16:creationId xmlns:a16="http://schemas.microsoft.com/office/drawing/2014/main" id="{6F57BE7D-8CFC-4E3D-B9D3-E99A00EC1F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94A9A856-762E-4DC7-9B2F-F993E5BF7A0D}"/>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spTree>
    <p:extLst>
      <p:ext uri="{BB962C8B-B14F-4D97-AF65-F5344CB8AC3E}">
        <p14:creationId xmlns:p14="http://schemas.microsoft.com/office/powerpoint/2010/main" val="2295912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defRPr sz="2400">
                <a:latin typeface="Calibri" panose="020F0502020204030204" pitchFamily="34" charset="0"/>
                <a:cs typeface="Calibri" panose="020F0502020204030204" pitchFamily="34" charset="0"/>
              </a:defRPr>
            </a:lvl1pPr>
            <a:lvl2pPr>
              <a:defRPr sz="2200">
                <a:latin typeface="Calibri" panose="020F0502020204030204" pitchFamily="34" charset="0"/>
                <a:cs typeface="Calibri" panose="020F0502020204030204" pitchFamily="34" charset="0"/>
              </a:defRPr>
            </a:lvl2pPr>
            <a:lvl3pPr>
              <a:defRPr sz="2200">
                <a:latin typeface="Calibri" panose="020F0502020204030204" pitchFamily="34" charset="0"/>
                <a:cs typeface="Calibri" panose="020F0502020204030204" pitchFamily="34" charset="0"/>
              </a:defRPr>
            </a:lvl3pPr>
            <a:lvl4pPr>
              <a:defRPr sz="2200">
                <a:latin typeface="Calibri" panose="020F0502020204030204" pitchFamily="34" charset="0"/>
                <a:cs typeface="Calibri" panose="020F0502020204030204" pitchFamily="34" charset="0"/>
              </a:defRPr>
            </a:lvl4pPr>
            <a:lvl5pPr>
              <a:defRPr sz="2200">
                <a:latin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1483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261281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96944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0761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94927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5A080DD-98A5-D4C4-20F8-D9A475979DA7}"/>
              </a:ext>
            </a:extLst>
          </p:cNvPr>
          <p:cNvSpPr>
            <a:spLocks noGrp="1" noChangeArrowheads="1"/>
          </p:cNvSpPr>
          <p:nvPr>
            <p:ph idx="1"/>
          </p:nvPr>
        </p:nvSpPr>
        <p:spPr bwMode="auto">
          <a:xfrm>
            <a:off x="408890" y="1233488"/>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3" name="Rectangle 3">
            <a:extLst>
              <a:ext uri="{FF2B5EF4-FFF2-40B4-BE49-F238E27FC236}">
                <a16:creationId xmlns:a16="http://schemas.microsoft.com/office/drawing/2014/main" id="{08744B61-96D7-4760-03C8-CAB57CC5E1CE}"/>
              </a:ext>
            </a:extLst>
          </p:cNvPr>
          <p:cNvSpPr>
            <a:spLocks noGrp="1" noChangeArrowheads="1"/>
          </p:cNvSpPr>
          <p:nvPr>
            <p:ph type="title"/>
          </p:nvPr>
        </p:nvSpPr>
        <p:spPr bwMode="auto">
          <a:xfrm>
            <a:off x="1093304" y="277813"/>
            <a:ext cx="7441096"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dirty="0"/>
              <a:t>Click to edit Master title style</a:t>
            </a:r>
          </a:p>
        </p:txBody>
      </p:sp>
    </p:spTree>
    <p:extLst>
      <p:ext uri="{BB962C8B-B14F-4D97-AF65-F5344CB8AC3E}">
        <p14:creationId xmlns:p14="http://schemas.microsoft.com/office/powerpoint/2010/main" val="886788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marL="742950" indent="-285750">
              <a:buFont typeface="Wingdings" panose="05000000000000000000" pitchFamily="2" charset="2"/>
              <a:buChar cha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341367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644207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08059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8954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E8EB374D-FC2E-49AD-94F6-BF0F89E9A9D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711A7626-44E9-4D96-BC9A-F6A4BE08DC4C}"/>
              </a:ext>
            </a:extLst>
          </p:cNvPr>
          <p:cNvSpPr>
            <a:spLocks noGrp="1" noChangeArrowheads="1"/>
          </p:cNvSpPr>
          <p:nvPr>
            <p:ph type="title"/>
          </p:nvPr>
        </p:nvSpPr>
        <p:spPr bwMode="auto">
          <a:xfrm>
            <a:off x="1093304" y="277813"/>
            <a:ext cx="7441096"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dirty="0"/>
              <a:t>Click to edit Master title style</a:t>
            </a:r>
          </a:p>
        </p:txBody>
      </p:sp>
      <p:sp>
        <p:nvSpPr>
          <p:cNvPr id="1028" name="Rectangle 4">
            <a:extLst>
              <a:ext uri="{FF2B5EF4-FFF2-40B4-BE49-F238E27FC236}">
                <a16:creationId xmlns:a16="http://schemas.microsoft.com/office/drawing/2014/main" id="{AAC79F07-0E6C-44FE-917F-8A0EE9E669C9}"/>
              </a:ext>
            </a:extLst>
          </p:cNvPr>
          <p:cNvSpPr>
            <a:spLocks noGrp="1" noChangeArrowheads="1"/>
          </p:cNvSpPr>
          <p:nvPr>
            <p:ph type="body" idx="1"/>
          </p:nvPr>
        </p:nvSpPr>
        <p:spPr bwMode="auto">
          <a:xfrm>
            <a:off x="408890" y="1233488"/>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8584B750-FEEC-0B4D-999E-B75B39028B83}"/>
              </a:ext>
            </a:extLst>
          </p:cNvPr>
          <p:cNvSpPr>
            <a:spLocks noChangeArrowheads="1"/>
          </p:cNvSpPr>
          <p:nvPr/>
        </p:nvSpPr>
        <p:spPr bwMode="auto">
          <a:xfrm>
            <a:off x="0" y="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0" name="Line 6">
            <a:extLst>
              <a:ext uri="{FF2B5EF4-FFF2-40B4-BE49-F238E27FC236}">
                <a16:creationId xmlns:a16="http://schemas.microsoft.com/office/drawing/2014/main" id="{BB3E8C43-4EF8-44FA-8DCA-47F2442F5363}"/>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2FE5170B-2E7A-4B4C-94CA-557F2ECD977A}"/>
              </a:ext>
            </a:extLst>
          </p:cNvPr>
          <p:cNvSpPr>
            <a:spLocks noChangeArrowheads="1"/>
          </p:cNvSpPr>
          <p:nvPr/>
        </p:nvSpPr>
        <p:spPr bwMode="auto">
          <a:xfrm>
            <a:off x="0" y="2286000"/>
            <a:ext cx="228600" cy="22860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2" name="Rectangle 8">
            <a:extLst>
              <a:ext uri="{FF2B5EF4-FFF2-40B4-BE49-F238E27FC236}">
                <a16:creationId xmlns:a16="http://schemas.microsoft.com/office/drawing/2014/main" id="{496210B7-549D-3546-82A3-21674AB19ED7}"/>
              </a:ext>
            </a:extLst>
          </p:cNvPr>
          <p:cNvSpPr>
            <a:spLocks noChangeArrowheads="1"/>
          </p:cNvSpPr>
          <p:nvPr/>
        </p:nvSpPr>
        <p:spPr bwMode="auto">
          <a:xfrm>
            <a:off x="0" y="457200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4071" r:id="rId1"/>
    <p:sldLayoutId id="2147484061" r:id="rId2"/>
    <p:sldLayoutId id="2147484062" r:id="rId3"/>
    <p:sldLayoutId id="2147484063" r:id="rId4"/>
    <p:sldLayoutId id="2147484064" r:id="rId5"/>
    <p:sldLayoutId id="2147484065" r:id="rId6"/>
    <p:sldLayoutId id="2147484066" r:id="rId7"/>
    <p:sldLayoutId id="2147484067" r:id="rId8"/>
    <p:sldLayoutId id="2147484068" r:id="rId9"/>
    <p:sldLayoutId id="2147484069" r:id="rId10"/>
    <p:sldLayoutId id="2147484070"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sz="2400">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sz="2200">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200">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sz="2200">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sz="2200">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a:extLst>
              <a:ext uri="{FF2B5EF4-FFF2-40B4-BE49-F238E27FC236}">
                <a16:creationId xmlns:a16="http://schemas.microsoft.com/office/drawing/2014/main" id="{8A5870B4-1ED7-12B7-6AA3-77117E26F32C}"/>
              </a:ext>
            </a:extLst>
          </p:cNvPr>
          <p:cNvSpPr>
            <a:spLocks noChangeArrowheads="1"/>
          </p:cNvSpPr>
          <p:nvPr/>
        </p:nvSpPr>
        <p:spPr bwMode="auto">
          <a:xfrm>
            <a:off x="6415088" y="4278086"/>
            <a:ext cx="2576512" cy="2373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dirty="0">
                <a:solidFill>
                  <a:srgbClr val="008000"/>
                </a:solidFill>
                <a:latin typeface="Gill Sans MT" panose="020B0502020104020203" pitchFamily="34" charset="0"/>
              </a:rPr>
              <a:t>Operating System Concepts </a:t>
            </a:r>
            <a:br>
              <a:rPr lang="en-US" altLang="en-US" sz="2400" dirty="0">
                <a:solidFill>
                  <a:srgbClr val="008000"/>
                </a:solidFill>
                <a:latin typeface="Gill Sans MT" panose="020B0502020104020203" pitchFamily="34" charset="0"/>
              </a:rPr>
            </a:br>
            <a:r>
              <a:rPr lang="en-US" altLang="en-US" sz="1800" dirty="0">
                <a:solidFill>
                  <a:srgbClr val="008000"/>
                </a:solidFill>
                <a:latin typeface="Gill Sans MT" panose="020B0502020104020203" pitchFamily="34" charset="0"/>
              </a:rPr>
              <a:t>9</a:t>
            </a:r>
            <a:r>
              <a:rPr lang="en-US" altLang="en-US" sz="1800" baseline="30000" dirty="0">
                <a:solidFill>
                  <a:srgbClr val="008000"/>
                </a:solidFill>
                <a:latin typeface="Gill Sans MT" panose="020B0502020104020203" pitchFamily="34" charset="0"/>
              </a:rPr>
              <a:t>th</a:t>
            </a:r>
            <a:r>
              <a:rPr lang="en-US" altLang="en-US" sz="1800" dirty="0">
                <a:solidFill>
                  <a:srgbClr val="008000"/>
                </a:solidFill>
                <a:latin typeface="Gill Sans MT" panose="020B0502020104020203" pitchFamily="34" charset="0"/>
              </a:rPr>
              <a:t> edition </a:t>
            </a:r>
            <a:br>
              <a:rPr lang="en-US" altLang="en-US" sz="1800" dirty="0">
                <a:solidFill>
                  <a:srgbClr val="008000"/>
                </a:solidFill>
                <a:latin typeface="Gill Sans MT" panose="020B0502020104020203" pitchFamily="34" charset="0"/>
              </a:rPr>
            </a:br>
            <a:r>
              <a:rPr lang="en-US" altLang="en-US" sz="1800" dirty="0" err="1">
                <a:solidFill>
                  <a:srgbClr val="008000"/>
                </a:solidFill>
                <a:latin typeface="Gill Sans MT" panose="020B0502020104020203" pitchFamily="34" charset="0"/>
              </a:rPr>
              <a:t>Silberschatz</a:t>
            </a:r>
            <a:r>
              <a:rPr lang="en-US" altLang="en-US" sz="1800" dirty="0">
                <a:solidFill>
                  <a:srgbClr val="008000"/>
                </a:solidFill>
                <a:latin typeface="Gill Sans MT" panose="020B0502020104020203" pitchFamily="34" charset="0"/>
              </a:rPr>
              <a:t>, Galvin &amp; Gagne</a:t>
            </a:r>
            <a:br>
              <a:rPr lang="en-US" altLang="en-US" sz="1800" dirty="0">
                <a:solidFill>
                  <a:srgbClr val="008000"/>
                </a:solidFill>
                <a:latin typeface="Gill Sans MT" panose="020B0502020104020203" pitchFamily="34" charset="0"/>
              </a:rPr>
            </a:br>
            <a:r>
              <a:rPr lang="en-US" sz="1800" dirty="0">
                <a:solidFill>
                  <a:srgbClr val="008000"/>
                </a:solidFill>
                <a:latin typeface="Gill Sans MT" panose="020B0502020104020203" pitchFamily="34" charset="0"/>
              </a:rPr>
              <a:t>John Wiley &amp; Sons</a:t>
            </a:r>
            <a:br>
              <a:rPr lang="en-US" altLang="en-US" sz="1800" dirty="0">
                <a:solidFill>
                  <a:srgbClr val="008000"/>
                </a:solidFill>
                <a:latin typeface="Gill Sans MT" panose="020B0502020104020203" pitchFamily="34" charset="0"/>
              </a:rPr>
            </a:br>
            <a:r>
              <a:rPr lang="en-US" altLang="en-US" sz="1800" dirty="0">
                <a:solidFill>
                  <a:srgbClr val="008000"/>
                </a:solidFill>
                <a:latin typeface="Gill Sans MT" panose="020B0502020104020203" pitchFamily="34" charset="0"/>
              </a:rPr>
              <a:t>2013</a:t>
            </a:r>
          </a:p>
        </p:txBody>
      </p:sp>
      <p:sp>
        <p:nvSpPr>
          <p:cNvPr id="3077" name="Rectangle 3">
            <a:extLst>
              <a:ext uri="{FF2B5EF4-FFF2-40B4-BE49-F238E27FC236}">
                <a16:creationId xmlns:a16="http://schemas.microsoft.com/office/drawing/2014/main" id="{9F7CCCC7-1A34-2F65-50C6-85CAE622F8CC}"/>
              </a:ext>
            </a:extLst>
          </p:cNvPr>
          <p:cNvSpPr txBox="1">
            <a:spLocks noChangeArrowheads="1"/>
          </p:cNvSpPr>
          <p:nvPr/>
        </p:nvSpPr>
        <p:spPr bwMode="auto">
          <a:xfrm>
            <a:off x="381000" y="5419725"/>
            <a:ext cx="4114800"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marL="17463">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Clr>
                <a:schemeClr val="accent1"/>
              </a:buClr>
              <a:buSzPct val="80000"/>
              <a:buFont typeface="Wingdings 2" panose="05020102010507070707" pitchFamily="18" charset="2"/>
              <a:buNone/>
            </a:pPr>
            <a:r>
              <a:rPr lang="en-GB" altLang="en-US" sz="2200" i="1">
                <a:solidFill>
                  <a:srgbClr val="002060"/>
                </a:solidFill>
              </a:rPr>
              <a:t>Dr Nauman Mazhar</a:t>
            </a:r>
          </a:p>
          <a:p>
            <a:pPr eaLnBrk="1" hangingPunct="1">
              <a:spcBef>
                <a:spcPts val="1200"/>
              </a:spcBef>
              <a:buClr>
                <a:schemeClr val="accent1"/>
              </a:buClr>
              <a:buSzPct val="80000"/>
              <a:buFont typeface="Wingdings 2" panose="05020102010507070707" pitchFamily="18" charset="2"/>
              <a:buNone/>
            </a:pPr>
            <a:r>
              <a:rPr lang="en-GB" altLang="en-US" sz="1800" i="1">
                <a:solidFill>
                  <a:srgbClr val="002060"/>
                </a:solidFill>
              </a:rPr>
              <a:t>Faculty of Information Technology (FIT)</a:t>
            </a:r>
          </a:p>
          <a:p>
            <a:pPr eaLnBrk="1" hangingPunct="1">
              <a:spcBef>
                <a:spcPct val="0"/>
              </a:spcBef>
              <a:buClr>
                <a:schemeClr val="accent1"/>
              </a:buClr>
              <a:buSzPct val="80000"/>
              <a:buFont typeface="Wingdings 2" panose="05020102010507070707" pitchFamily="18" charset="2"/>
              <a:buNone/>
            </a:pPr>
            <a:r>
              <a:rPr lang="en-GB" altLang="en-US" sz="1800" i="1">
                <a:solidFill>
                  <a:srgbClr val="002060"/>
                </a:solidFill>
              </a:rPr>
              <a:t>University of Central Punjab (UCP)</a:t>
            </a:r>
          </a:p>
        </p:txBody>
      </p:sp>
      <p:sp>
        <p:nvSpPr>
          <p:cNvPr id="10" name="Rectangle 2">
            <a:extLst>
              <a:ext uri="{FF2B5EF4-FFF2-40B4-BE49-F238E27FC236}">
                <a16:creationId xmlns:a16="http://schemas.microsoft.com/office/drawing/2014/main" id="{3E0C7144-25C9-C5AB-98F9-BA0DEB94097B}"/>
              </a:ext>
            </a:extLst>
          </p:cNvPr>
          <p:cNvSpPr txBox="1">
            <a:spLocks noChangeArrowheads="1"/>
          </p:cNvSpPr>
          <p:nvPr/>
        </p:nvSpPr>
        <p:spPr>
          <a:xfrm>
            <a:off x="930728" y="833438"/>
            <a:ext cx="7282543" cy="1828800"/>
          </a:xfrm>
          <a:prstGeom prst="rect">
            <a:avLst/>
          </a:prstGeom>
        </p:spPr>
        <p:txBody>
          <a:bodyPr/>
          <a:lstStyle/>
          <a:p>
            <a:pPr algn="ctr" eaLnBrk="1" fontAlgn="auto" hangingPunct="1">
              <a:spcAft>
                <a:spcPts val="0"/>
              </a:spcAft>
              <a:buFont typeface="Times New Roman" pitchFamily="18" charset="0"/>
              <a:buNone/>
              <a:defRPr/>
            </a:pPr>
            <a:r>
              <a:rPr lang="en-US" sz="3800" b="1" dirty="0">
                <a:solidFill>
                  <a:srgbClr val="0000CC"/>
                </a:solidFill>
                <a:latin typeface="+mj-lt"/>
                <a:ea typeface="+mj-ea"/>
                <a:cs typeface="+mj-cs"/>
              </a:rPr>
              <a:t>Operating Systems</a:t>
            </a:r>
          </a:p>
          <a:p>
            <a:pPr algn="ctr" eaLnBrk="1" fontAlgn="auto" hangingPunct="1">
              <a:spcBef>
                <a:spcPts val="1200"/>
              </a:spcBef>
              <a:spcAft>
                <a:spcPts val="0"/>
              </a:spcAft>
              <a:buFont typeface="Times New Roman" pitchFamily="18" charset="0"/>
              <a:buNone/>
              <a:defRPr/>
            </a:pPr>
            <a:r>
              <a:rPr lang="en-US" sz="2800" b="1" dirty="0">
                <a:solidFill>
                  <a:srgbClr val="0000CC"/>
                </a:solidFill>
                <a:latin typeface="+mj-lt"/>
                <a:ea typeface="+mj-ea"/>
                <a:cs typeface="+mj-cs"/>
              </a:rPr>
              <a:t>SENS-3513</a:t>
            </a:r>
          </a:p>
        </p:txBody>
      </p:sp>
      <p:sp>
        <p:nvSpPr>
          <p:cNvPr id="11" name="Rectangle 3">
            <a:extLst>
              <a:ext uri="{FF2B5EF4-FFF2-40B4-BE49-F238E27FC236}">
                <a16:creationId xmlns:a16="http://schemas.microsoft.com/office/drawing/2014/main" id="{9BC456DD-7F97-E05E-C599-ED9C715C1840}"/>
              </a:ext>
            </a:extLst>
          </p:cNvPr>
          <p:cNvSpPr txBox="1">
            <a:spLocks noChangeArrowheads="1"/>
          </p:cNvSpPr>
          <p:nvPr/>
        </p:nvSpPr>
        <p:spPr>
          <a:xfrm>
            <a:off x="609600" y="3352793"/>
            <a:ext cx="5410200" cy="1197429"/>
          </a:xfrm>
          <a:prstGeom prst="rect">
            <a:avLst/>
          </a:prstGeom>
        </p:spPr>
        <p:txBody>
          <a:bodyPr/>
          <a:lstStyle/>
          <a:p>
            <a:pPr marL="290513" indent="-290513" eaLnBrk="1" fontAlgn="auto" hangingPunct="1">
              <a:spcBef>
                <a:spcPts val="750"/>
              </a:spcBef>
              <a:spcAft>
                <a:spcPts val="0"/>
              </a:spcAft>
              <a:buFont typeface="Arial" pitchFamily="34" charset="0"/>
              <a:buChar char="•"/>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sz="2400" i="1" dirty="0">
                <a:solidFill>
                  <a:srgbClr val="FF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Process Synchronization -1</a:t>
            </a:r>
          </a:p>
        </p:txBody>
      </p:sp>
      <p:sp>
        <p:nvSpPr>
          <p:cNvPr id="12" name="Rectangle 3">
            <a:extLst>
              <a:ext uri="{FF2B5EF4-FFF2-40B4-BE49-F238E27FC236}">
                <a16:creationId xmlns:a16="http://schemas.microsoft.com/office/drawing/2014/main" id="{8F84B381-6B23-3BBF-67F5-2B4832F9FC4B}"/>
              </a:ext>
            </a:extLst>
          </p:cNvPr>
          <p:cNvSpPr txBox="1">
            <a:spLocks noChangeArrowheads="1"/>
          </p:cNvSpPr>
          <p:nvPr/>
        </p:nvSpPr>
        <p:spPr>
          <a:xfrm>
            <a:off x="609600" y="2819394"/>
            <a:ext cx="2819400" cy="533400"/>
          </a:xfrm>
          <a:prstGeom prst="rect">
            <a:avLst/>
          </a:prstGeom>
        </p:spPr>
        <p:txBody>
          <a:bodyPr/>
          <a:lstStyle/>
          <a:p>
            <a:pPr marL="342900" indent="-342900" eaLnBrk="1" fontAlgn="auto" hangingPunct="1">
              <a:spcBef>
                <a:spcPts val="750"/>
              </a:spcBef>
              <a:spcAft>
                <a:spcPts val="0"/>
              </a:spcAft>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sz="2800" dirty="0">
                <a:solidFill>
                  <a:srgbClr val="FF0000"/>
                </a:solidFill>
                <a:effectLst>
                  <a:outerShdw blurRad="38100" dist="38100" dir="2700000" algn="tl">
                    <a:srgbClr val="C0C0C0"/>
                  </a:outerShdw>
                </a:effectLst>
                <a:latin typeface="+mn-lt"/>
                <a:cs typeface="+mn-cs"/>
              </a:rPr>
              <a:t>Week</a:t>
            </a:r>
            <a:r>
              <a:rPr lang="en-US" sz="2800">
                <a:solidFill>
                  <a:srgbClr val="FF0000"/>
                </a:solidFill>
                <a:effectLst>
                  <a:outerShdw blurRad="38100" dist="38100" dir="2700000" algn="tl">
                    <a:srgbClr val="C0C0C0"/>
                  </a:outerShdw>
                </a:effectLst>
                <a:latin typeface="+mn-lt"/>
                <a:cs typeface="+mn-cs"/>
              </a:rPr>
              <a:t>: 11</a:t>
            </a:r>
            <a:endParaRPr lang="en-US" sz="2800" dirty="0">
              <a:solidFill>
                <a:srgbClr val="FF0000"/>
              </a:solidFill>
              <a:effectLst>
                <a:outerShdw blurRad="38100" dist="38100" dir="2700000" algn="tl">
                  <a:srgbClr val="C0C0C0"/>
                </a:outerShdw>
              </a:effectLst>
              <a:latin typeface="+mn-lt"/>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FB756355-6FC3-4D1A-BBDC-6B9FBCD76A54}"/>
              </a:ext>
            </a:extLst>
          </p:cNvPr>
          <p:cNvSpPr>
            <a:spLocks noGrp="1" noChangeArrowheads="1"/>
          </p:cNvSpPr>
          <p:nvPr>
            <p:ph type="title"/>
          </p:nvPr>
        </p:nvSpPr>
        <p:spPr>
          <a:xfrm>
            <a:off x="457200" y="166688"/>
            <a:ext cx="8015288" cy="617537"/>
          </a:xfrm>
        </p:spPr>
        <p:txBody>
          <a:bodyPr/>
          <a:lstStyle/>
          <a:p>
            <a:pPr eaLnBrk="1" hangingPunct="1"/>
            <a:r>
              <a:rPr lang="en-US" altLang="en-US" dirty="0"/>
              <a:t>Objectives</a:t>
            </a:r>
          </a:p>
        </p:txBody>
      </p:sp>
      <p:sp>
        <p:nvSpPr>
          <p:cNvPr id="2" name="Slide Number Placeholder 3">
            <a:extLst>
              <a:ext uri="{FF2B5EF4-FFF2-40B4-BE49-F238E27FC236}">
                <a16:creationId xmlns:a16="http://schemas.microsoft.com/office/drawing/2014/main" id="{F209E117-91F8-FC11-86BA-CADC1106502C}"/>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2</a:t>
            </a:fld>
            <a:endParaRPr lang="en-US" altLang="en-US" sz="1400" dirty="0">
              <a:solidFill>
                <a:schemeClr val="tx1"/>
              </a:solidFill>
              <a:latin typeface="Tahoma" panose="020B0604030504040204" pitchFamily="34" charset="0"/>
              <a:ea typeface="MS PGothic" panose="020B0600070205080204" pitchFamily="34" charset="-128"/>
            </a:endParaRPr>
          </a:p>
        </p:txBody>
      </p:sp>
      <p:sp>
        <p:nvSpPr>
          <p:cNvPr id="3" name="Rectangle 3">
            <a:extLst>
              <a:ext uri="{FF2B5EF4-FFF2-40B4-BE49-F238E27FC236}">
                <a16:creationId xmlns:a16="http://schemas.microsoft.com/office/drawing/2014/main" id="{825DCB83-2430-8292-CDE8-F26EB8DE553C}"/>
              </a:ext>
            </a:extLst>
          </p:cNvPr>
          <p:cNvSpPr txBox="1">
            <a:spLocks noChangeArrowheads="1"/>
          </p:cNvSpPr>
          <p:nvPr/>
        </p:nvSpPr>
        <p:spPr bwMode="auto">
          <a:xfrm>
            <a:off x="812722" y="1239519"/>
            <a:ext cx="7650558" cy="5256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sz="2400">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sz="2200">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200">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sz="2200">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sz="2200">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lnSpc>
                <a:spcPct val="120000"/>
              </a:lnSpc>
              <a:spcBef>
                <a:spcPts val="600"/>
              </a:spcBef>
            </a:pPr>
            <a:r>
              <a:rPr lang="en-US" dirty="0">
                <a:solidFill>
                  <a:srgbClr val="000000"/>
                </a:solidFill>
                <a:latin typeface="Calibri" panose="020F0502020204030204" pitchFamily="34" charset="0"/>
                <a:cs typeface="Calibri" panose="020F0502020204030204" pitchFamily="34" charset="0"/>
              </a:rPr>
              <a:t>Cooperating processes</a:t>
            </a:r>
          </a:p>
          <a:p>
            <a:pPr>
              <a:lnSpc>
                <a:spcPct val="120000"/>
              </a:lnSpc>
              <a:spcBef>
                <a:spcPts val="600"/>
              </a:spcBef>
            </a:pPr>
            <a:r>
              <a:rPr lang="en-US" dirty="0">
                <a:solidFill>
                  <a:srgbClr val="000000"/>
                </a:solidFill>
                <a:latin typeface="Calibri" panose="020F0502020204030204" pitchFamily="34" charset="0"/>
                <a:cs typeface="Calibri" panose="020F0502020204030204" pitchFamily="34" charset="0"/>
              </a:rPr>
              <a:t>Process</a:t>
            </a:r>
            <a:r>
              <a:rPr lang="en-US" b="1" dirty="0">
                <a:solidFill>
                  <a:srgbClr val="000000"/>
                </a:solidFill>
                <a:latin typeface="Calibri" panose="020F0502020204030204" pitchFamily="34" charset="0"/>
                <a:cs typeface="Calibri" panose="020F0502020204030204" pitchFamily="34" charset="0"/>
              </a:rPr>
              <a:t> </a:t>
            </a:r>
            <a:r>
              <a:rPr lang="en-US" dirty="0">
                <a:solidFill>
                  <a:srgbClr val="000000"/>
                </a:solidFill>
                <a:latin typeface="Calibri" panose="020F0502020204030204" pitchFamily="34" charset="0"/>
                <a:cs typeface="Calibri" panose="020F0502020204030204" pitchFamily="34" charset="0"/>
              </a:rPr>
              <a:t>synchronization  </a:t>
            </a:r>
          </a:p>
          <a:p>
            <a:pPr>
              <a:lnSpc>
                <a:spcPct val="120000"/>
              </a:lnSpc>
              <a:spcBef>
                <a:spcPts val="600"/>
              </a:spcBef>
            </a:pPr>
            <a:r>
              <a:rPr lang="en-US" dirty="0">
                <a:solidFill>
                  <a:srgbClr val="000000"/>
                </a:solidFill>
                <a:latin typeface="Calibri" panose="020F0502020204030204" pitchFamily="34" charset="0"/>
                <a:cs typeface="Calibri" panose="020F0502020204030204" pitchFamily="34" charset="0"/>
              </a:rPr>
              <a:t>Critical Section problem</a:t>
            </a:r>
          </a:p>
          <a:p>
            <a:pPr lvl="1">
              <a:lnSpc>
                <a:spcPct val="120000"/>
              </a:lnSpc>
              <a:spcBef>
                <a:spcPts val="600"/>
              </a:spcBef>
            </a:pPr>
            <a:r>
              <a:rPr lang="en-US" dirty="0">
                <a:solidFill>
                  <a:srgbClr val="000000"/>
                </a:solidFill>
                <a:latin typeface="Calibri" panose="020F0502020204030204" pitchFamily="34" charset="0"/>
                <a:cs typeface="Calibri" panose="020F0502020204030204" pitchFamily="34" charset="0"/>
              </a:rPr>
              <a:t>Solution to Critical Section problem</a:t>
            </a:r>
          </a:p>
          <a:p>
            <a:pPr>
              <a:lnSpc>
                <a:spcPct val="120000"/>
              </a:lnSpc>
              <a:spcBef>
                <a:spcPts val="600"/>
              </a:spcBef>
            </a:pPr>
            <a:r>
              <a:rPr lang="en-US" dirty="0">
                <a:solidFill>
                  <a:srgbClr val="000000"/>
                </a:solidFill>
                <a:latin typeface="Calibri" panose="020F0502020204030204" pitchFamily="34" charset="0"/>
                <a:cs typeface="Calibri" panose="020F0502020204030204" pitchFamily="34" charset="0"/>
              </a:rPr>
              <a:t>Software based solutions</a:t>
            </a:r>
          </a:p>
          <a:p>
            <a:pPr lvl="1">
              <a:lnSpc>
                <a:spcPct val="120000"/>
              </a:lnSpc>
              <a:spcBef>
                <a:spcPts val="600"/>
              </a:spcBef>
            </a:pPr>
            <a:r>
              <a:rPr lang="en-US" dirty="0">
                <a:solidFill>
                  <a:srgbClr val="000000"/>
                </a:solidFill>
                <a:latin typeface="Calibri" panose="020F0502020204030204" pitchFamily="34" charset="0"/>
                <a:cs typeface="Calibri" panose="020F0502020204030204" pitchFamily="34" charset="0"/>
              </a:rPr>
              <a:t>For 2 processes: </a:t>
            </a:r>
          </a:p>
          <a:p>
            <a:pPr lvl="2">
              <a:lnSpc>
                <a:spcPct val="120000"/>
              </a:lnSpc>
              <a:spcBef>
                <a:spcPts val="600"/>
              </a:spcBef>
            </a:pPr>
            <a:r>
              <a:rPr lang="en-US" dirty="0">
                <a:solidFill>
                  <a:srgbClr val="000000"/>
                </a:solidFill>
                <a:latin typeface="Calibri" panose="020F0502020204030204" pitchFamily="34" charset="0"/>
                <a:cs typeface="Calibri" panose="020F0502020204030204" pitchFamily="34" charset="0"/>
              </a:rPr>
              <a:t>Strict alternation &amp; Flags algorithms  </a:t>
            </a:r>
          </a:p>
          <a:p>
            <a:pPr lvl="2">
              <a:lnSpc>
                <a:spcPct val="120000"/>
              </a:lnSpc>
              <a:spcBef>
                <a:spcPts val="600"/>
              </a:spcBef>
            </a:pPr>
            <a:r>
              <a:rPr lang="en-US" dirty="0">
                <a:solidFill>
                  <a:srgbClr val="000000"/>
                </a:solidFill>
                <a:latin typeface="Calibri" panose="020F0502020204030204" pitchFamily="34" charset="0"/>
                <a:cs typeface="Calibri" panose="020F0502020204030204" pitchFamily="34" charset="0"/>
              </a:rPr>
              <a:t>Peterson’s solution</a:t>
            </a:r>
          </a:p>
          <a:p>
            <a:pPr>
              <a:lnSpc>
                <a:spcPct val="120000"/>
              </a:lnSpc>
              <a:spcBef>
                <a:spcPts val="600"/>
              </a:spcBef>
            </a:pPr>
            <a:r>
              <a:rPr lang="en-US" dirty="0">
                <a:solidFill>
                  <a:srgbClr val="000000"/>
                </a:solidFill>
                <a:latin typeface="Calibri" panose="020F0502020204030204" pitchFamily="34" charset="0"/>
                <a:cs typeface="Calibri" panose="020F0502020204030204" pitchFamily="34" charset="0"/>
              </a:rPr>
              <a:t>Threads synchronization using Mutex</a:t>
            </a:r>
          </a:p>
          <a:p>
            <a:pPr lvl="1">
              <a:lnSpc>
                <a:spcPct val="120000"/>
              </a:lnSpc>
              <a:spcBef>
                <a:spcPts val="600"/>
              </a:spcBef>
            </a:pPr>
            <a:endParaRPr lang="en-US" sz="2400" kern="0" dirty="0">
              <a:solidFill>
                <a:srgbClr val="000000"/>
              </a:solidFill>
              <a:latin typeface="Calibri" panose="020F0502020204030204" pitchFamily="34" charset="0"/>
              <a:cs typeface="Calibri" panose="020F0502020204030204" pitchFamily="34" charset="0"/>
            </a:endParaRPr>
          </a:p>
          <a:p>
            <a:pPr lvl="1">
              <a:lnSpc>
                <a:spcPct val="120000"/>
              </a:lnSpc>
              <a:spcBef>
                <a:spcPts val="600"/>
              </a:spcBef>
            </a:pPr>
            <a:endParaRPr lang="en-US" sz="2400" kern="0" dirty="0">
              <a:solidFill>
                <a:srgbClr val="000000"/>
              </a:solidFill>
              <a:latin typeface="Calibri" panose="020F0502020204030204" pitchFamily="34" charset="0"/>
              <a:cs typeface="Calibri" panose="020F0502020204030204" pitchFamily="34" charset="0"/>
            </a:endParaRPr>
          </a:p>
          <a:p>
            <a:pPr>
              <a:lnSpc>
                <a:spcPct val="120000"/>
              </a:lnSpc>
              <a:spcBef>
                <a:spcPts val="600"/>
              </a:spcBef>
            </a:pPr>
            <a:endParaRPr lang="en-US" kern="0" dirty="0">
              <a:solidFill>
                <a:srgbClr val="000000"/>
              </a:solidFill>
              <a:latin typeface="Calibri" panose="020F0502020204030204" pitchFamily="34" charset="0"/>
              <a:cs typeface="Calibri" panose="020F0502020204030204" pitchFamily="34" charset="0"/>
            </a:endParaRPr>
          </a:p>
          <a:p>
            <a:pPr>
              <a:lnSpc>
                <a:spcPct val="120000"/>
              </a:lnSpc>
              <a:spcBef>
                <a:spcPts val="600"/>
              </a:spcBef>
            </a:pPr>
            <a:endParaRPr lang="en-US" kern="0" dirty="0">
              <a:solidFill>
                <a:srgbClr val="000000"/>
              </a:solidFill>
              <a:latin typeface="Calibri" panose="020F0502020204030204" pitchFamily="34" charset="0"/>
              <a:cs typeface="Calibri" panose="020F0502020204030204" pitchFamily="34" charset="0"/>
            </a:endParaRPr>
          </a:p>
          <a:p>
            <a:pPr lvl="1">
              <a:lnSpc>
                <a:spcPct val="120000"/>
              </a:lnSpc>
              <a:spcBef>
                <a:spcPts val="600"/>
              </a:spcBef>
            </a:pPr>
            <a:endParaRPr lang="en-US" sz="2400" kern="0" dirty="0">
              <a:solidFill>
                <a:srgbClr val="000000"/>
              </a:solidFill>
              <a:latin typeface="Calibri" panose="020F0502020204030204" pitchFamily="34" charset="0"/>
              <a:cs typeface="Calibri" panose="020F0502020204030204" pitchFamily="34" charset="0"/>
            </a:endParaRPr>
          </a:p>
          <a:p>
            <a:pPr lvl="1">
              <a:lnSpc>
                <a:spcPct val="120000"/>
              </a:lnSpc>
              <a:spcBef>
                <a:spcPts val="600"/>
              </a:spcBef>
            </a:pPr>
            <a:endParaRPr lang="en-US" sz="2400" kern="0" dirty="0">
              <a:solidFill>
                <a:srgbClr val="000000"/>
              </a:solidFill>
              <a:latin typeface="Calibri" panose="020F0502020204030204" pitchFamily="34" charset="0"/>
              <a:cs typeface="Calibri" panose="020F0502020204030204" pitchFamily="34" charset="0"/>
            </a:endParaRPr>
          </a:p>
          <a:p>
            <a:pPr lvl="1">
              <a:lnSpc>
                <a:spcPct val="120000"/>
              </a:lnSpc>
              <a:spcBef>
                <a:spcPts val="600"/>
              </a:spcBef>
            </a:pPr>
            <a:endParaRPr lang="en-US" altLang="en-US" sz="2400" kern="0" dirty="0">
              <a:latin typeface="Calibri" panose="020F0502020204030204" pitchFamily="34" charset="0"/>
              <a:cs typeface="Calibri" panose="020F0502020204030204" pitchFamily="34" charset="0"/>
            </a:endParaRPr>
          </a:p>
          <a:p>
            <a:pPr>
              <a:lnSpc>
                <a:spcPct val="120000"/>
              </a:lnSpc>
              <a:spcBef>
                <a:spcPts val="600"/>
              </a:spcBef>
            </a:pPr>
            <a:endParaRPr lang="en-US" altLang="en-US" kern="0" dirty="0">
              <a:latin typeface="Calibri" panose="020F0502020204030204" pitchFamily="34" charset="0"/>
              <a:cs typeface="Calibri" panose="020F0502020204030204" pitchFamily="34" charset="0"/>
            </a:endParaRPr>
          </a:p>
          <a:p>
            <a:pPr>
              <a:lnSpc>
                <a:spcPct val="120000"/>
              </a:lnSpc>
              <a:spcBef>
                <a:spcPts val="600"/>
              </a:spcBef>
            </a:pPr>
            <a:endParaRPr lang="en-US" altLang="en-US" kern="0" dirty="0">
              <a:latin typeface="Calibri" panose="020F0502020204030204" pitchFamily="34" charset="0"/>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026"/>
          <p:cNvSpPr>
            <a:spLocks noGrp="1" noChangeArrowheads="1"/>
          </p:cNvSpPr>
          <p:nvPr>
            <p:ph type="title"/>
          </p:nvPr>
        </p:nvSpPr>
        <p:spPr>
          <a:xfrm>
            <a:off x="419100" y="304800"/>
            <a:ext cx="8305800" cy="457200"/>
          </a:xfrm>
        </p:spPr>
        <p:txBody>
          <a:bodyPr>
            <a:noAutofit/>
          </a:bodyPr>
          <a:lstStyle/>
          <a:p>
            <a:r>
              <a:rPr lang="en-US" dirty="0"/>
              <a:t>Cooperating Processes</a:t>
            </a:r>
          </a:p>
        </p:txBody>
      </p:sp>
      <p:sp>
        <p:nvSpPr>
          <p:cNvPr id="16" name="Rectangle 3"/>
          <p:cNvSpPr txBox="1">
            <a:spLocks noChangeArrowheads="1"/>
          </p:cNvSpPr>
          <p:nvPr/>
        </p:nvSpPr>
        <p:spPr>
          <a:xfrm>
            <a:off x="346825" y="1138970"/>
            <a:ext cx="8543175" cy="5567680"/>
          </a:xfrm>
          <a:prstGeom prst="rect">
            <a:avLst/>
          </a:prstGeom>
        </p:spPr>
        <p:txBody>
          <a:bodyPr vert="horz" lIns="91440" tIns="45720" rIns="91440" bIns="45720" rtlCol="0">
            <a:noAutofit/>
          </a:bodyPr>
          <a:lstStyle/>
          <a:p>
            <a:pPr marL="342900" marR="0" lvl="0" indent="-342900" algn="l" defTabSz="914400" rtl="0" eaLnBrk="1" fontAlgn="auto" latinLnBrk="0" hangingPunct="1">
              <a:spcBef>
                <a:spcPts val="1800"/>
              </a:spcBef>
              <a:spcAft>
                <a:spcPts val="0"/>
              </a:spcAft>
              <a:buClrTx/>
              <a:buSzTx/>
              <a:buFont typeface="Wingdings" panose="05000000000000000000" pitchFamily="2" charset="2"/>
              <a:buChar char="§"/>
              <a:tabLst/>
              <a:defRPr/>
            </a:pPr>
            <a:r>
              <a:rPr lang="en-US" sz="2300" dirty="0">
                <a:latin typeface="Calibri" panose="020F0502020204030204" pitchFamily="34" charset="0"/>
                <a:cs typeface="Calibri" panose="020F0502020204030204" pitchFamily="34" charset="0"/>
              </a:rPr>
              <a:t>Cooperating processes are processes that can affect or be affected by other processes</a:t>
            </a:r>
          </a:p>
          <a:p>
            <a:pPr marL="800100" lvl="1" indent="-342900" eaLnBrk="1" fontAlgn="auto" hangingPunct="1">
              <a:spcBef>
                <a:spcPts val="600"/>
              </a:spcBef>
              <a:spcAft>
                <a:spcPts val="0"/>
              </a:spcAft>
              <a:buFont typeface="Arial" panose="020B0604020202020204" pitchFamily="34" charset="0"/>
              <a:buChar char="•"/>
              <a:defRPr/>
            </a:pPr>
            <a:r>
              <a:rPr lang="en-US" sz="2200" i="1" dirty="0">
                <a:solidFill>
                  <a:srgbClr val="C00000"/>
                </a:solidFill>
                <a:latin typeface="Calibri" panose="020F0502020204030204" pitchFamily="34" charset="0"/>
                <a:cs typeface="Calibri" panose="020F0502020204030204" pitchFamily="34" charset="0"/>
              </a:rPr>
              <a:t>share data &amp; resources</a:t>
            </a:r>
            <a:r>
              <a:rPr lang="en-US" sz="2200" dirty="0">
                <a:latin typeface="Calibri" panose="020F0502020204030204" pitchFamily="34" charset="0"/>
                <a:cs typeface="Calibri" panose="020F0502020204030204" pitchFamily="34" charset="0"/>
              </a:rPr>
              <a:t>, and execution can be dependent on </a:t>
            </a:r>
            <a:br>
              <a:rPr lang="en-US" sz="2200" dirty="0">
                <a:latin typeface="Calibri" panose="020F0502020204030204" pitchFamily="34" charset="0"/>
                <a:cs typeface="Calibri" panose="020F0502020204030204" pitchFamily="34" charset="0"/>
              </a:rPr>
            </a:br>
            <a:r>
              <a:rPr lang="en-US" sz="2200" dirty="0">
                <a:latin typeface="Calibri" panose="020F0502020204030204" pitchFamily="34" charset="0"/>
                <a:cs typeface="Calibri" panose="020F0502020204030204" pitchFamily="34" charset="0"/>
              </a:rPr>
              <a:t>each other</a:t>
            </a:r>
          </a:p>
          <a:p>
            <a:pPr marL="800100" lvl="1" indent="-342900" eaLnBrk="1" fontAlgn="auto" hangingPunct="1">
              <a:spcBef>
                <a:spcPts val="600"/>
              </a:spcBef>
              <a:spcAft>
                <a:spcPts val="0"/>
              </a:spcAft>
              <a:buFont typeface="Arial" panose="020B0604020202020204" pitchFamily="34" charset="0"/>
              <a:buChar char="•"/>
              <a:defRPr/>
            </a:pPr>
            <a:r>
              <a:rPr lang="en-US" sz="2200" dirty="0">
                <a:latin typeface="Calibri" panose="020F0502020204030204" pitchFamily="34" charset="0"/>
                <a:cs typeface="Calibri" panose="020F0502020204030204" pitchFamily="34" charset="0"/>
              </a:rPr>
              <a:t>cooperation can occur thru IPC techniques – </a:t>
            </a:r>
            <a:r>
              <a:rPr lang="en-US" sz="2200" i="1" dirty="0">
                <a:solidFill>
                  <a:srgbClr val="C00000"/>
                </a:solidFill>
                <a:latin typeface="Calibri" panose="020F0502020204030204" pitchFamily="34" charset="0"/>
                <a:cs typeface="Calibri" panose="020F0502020204030204" pitchFamily="34" charset="0"/>
              </a:rPr>
              <a:t>shared memory</a:t>
            </a:r>
            <a:r>
              <a:rPr lang="en-US" sz="2200" dirty="0">
                <a:latin typeface="Calibri" panose="020F0502020204030204" pitchFamily="34" charset="0"/>
                <a:cs typeface="Calibri" panose="020F0502020204030204" pitchFamily="34" charset="0"/>
              </a:rPr>
              <a:t>, </a:t>
            </a:r>
            <a:r>
              <a:rPr lang="en-US" sz="2200" i="1" dirty="0">
                <a:solidFill>
                  <a:srgbClr val="C00000"/>
                </a:solidFill>
                <a:latin typeface="Calibri" panose="020F0502020204030204" pitchFamily="34" charset="0"/>
                <a:cs typeface="Calibri" panose="020F0502020204030204" pitchFamily="34" charset="0"/>
              </a:rPr>
              <a:t>message passing</a:t>
            </a:r>
          </a:p>
          <a:p>
            <a:pPr marL="342900" marR="0" lvl="0" indent="-342900" algn="l" defTabSz="914400" rtl="0" eaLnBrk="1" fontAlgn="auto" latinLnBrk="0" hangingPunct="1">
              <a:spcBef>
                <a:spcPts val="2400"/>
              </a:spcBef>
              <a:spcAft>
                <a:spcPts val="0"/>
              </a:spcAft>
              <a:buClrTx/>
              <a:buSzTx/>
              <a:buFont typeface="Wingdings" panose="05000000000000000000" pitchFamily="2" charset="2"/>
              <a:buChar char="§"/>
              <a:tabLst/>
              <a:defRPr/>
            </a:pPr>
            <a:r>
              <a:rPr lang="en-US" sz="2300" dirty="0">
                <a:latin typeface="Calibri" panose="020F0502020204030204" pitchFamily="34" charset="0"/>
                <a:cs typeface="Calibri" panose="020F0502020204030204" pitchFamily="34" charset="0"/>
              </a:rPr>
              <a:t>When cooperating </a:t>
            </a:r>
            <a:r>
              <a:rPr lang="en-US" sz="2300" i="1" dirty="0">
                <a:solidFill>
                  <a:srgbClr val="0000CC"/>
                </a:solidFill>
                <a:latin typeface="Calibri" panose="020F0502020204030204" pitchFamily="34" charset="0"/>
                <a:cs typeface="Calibri" panose="020F0502020204030204" pitchFamily="34" charset="0"/>
              </a:rPr>
              <a:t>processes execute using shared memory</a:t>
            </a:r>
            <a:r>
              <a:rPr lang="en-US" sz="2300" dirty="0">
                <a:latin typeface="Calibri" panose="020F0502020204030204" pitchFamily="34" charset="0"/>
                <a:cs typeface="Calibri" panose="020F0502020204030204" pitchFamily="34" charset="0"/>
              </a:rPr>
              <a:t>, and scheduler switches rapidly between them</a:t>
            </a:r>
          </a:p>
          <a:p>
            <a:pPr marL="741363" lvl="1" indent="-284163" eaLnBrk="1" fontAlgn="auto" hangingPunct="1">
              <a:spcBef>
                <a:spcPts val="1200"/>
              </a:spcBef>
              <a:spcAft>
                <a:spcPts val="0"/>
              </a:spcAft>
              <a:buFont typeface="Arial" panose="020B0604020202020204" pitchFamily="34" charset="0"/>
              <a:buChar char="•"/>
              <a:defRPr/>
            </a:pPr>
            <a:r>
              <a:rPr lang="en-US" sz="2200" dirty="0">
                <a:latin typeface="Calibri" panose="020F0502020204030204" pitchFamily="34" charset="0"/>
                <a:cs typeface="Calibri" panose="020F0502020204030204" pitchFamily="34" charset="0"/>
              </a:rPr>
              <a:t>a process might have executed partially, &amp; other gets scheduled</a:t>
            </a:r>
          </a:p>
          <a:p>
            <a:pPr marL="741363" lvl="1" indent="-284163" eaLnBrk="1" fontAlgn="auto" hangingPunct="1">
              <a:spcBef>
                <a:spcPts val="1200"/>
              </a:spcBef>
              <a:spcAft>
                <a:spcPts val="0"/>
              </a:spcAft>
              <a:buFont typeface="Arial" panose="020B0604020202020204" pitchFamily="34" charset="0"/>
              <a:buChar char="•"/>
              <a:defRPr/>
            </a:pPr>
            <a:r>
              <a:rPr lang="en-US" sz="2200" dirty="0">
                <a:latin typeface="Calibri" panose="020F0502020204030204" pitchFamily="34" charset="0"/>
                <a:cs typeface="Calibri" panose="020F0502020204030204" pitchFamily="34" charset="0"/>
              </a:rPr>
              <a:t>may lead to issues involving </a:t>
            </a:r>
            <a:r>
              <a:rPr lang="en-US" sz="2200" i="1" dirty="0">
                <a:solidFill>
                  <a:srgbClr val="C00000"/>
                </a:solidFill>
                <a:latin typeface="Calibri" panose="020F0502020204030204" pitchFamily="34" charset="0"/>
                <a:cs typeface="Calibri" panose="020F0502020204030204" pitchFamily="34" charset="0"/>
              </a:rPr>
              <a:t>integrity of data, </a:t>
            </a:r>
            <a:r>
              <a:rPr lang="en-US" sz="2200" dirty="0">
                <a:latin typeface="Calibri" panose="020F0502020204030204" pitchFamily="34" charset="0"/>
                <a:cs typeface="Calibri" panose="020F0502020204030204" pitchFamily="34" charset="0"/>
              </a:rPr>
              <a:t>when processes access &amp; update shared data</a:t>
            </a:r>
          </a:p>
        </p:txBody>
      </p:sp>
      <p:sp>
        <p:nvSpPr>
          <p:cNvPr id="2" name="Slide Number Placeholder 3">
            <a:extLst>
              <a:ext uri="{FF2B5EF4-FFF2-40B4-BE49-F238E27FC236}">
                <a16:creationId xmlns:a16="http://schemas.microsoft.com/office/drawing/2014/main" id="{C8951CBF-0002-9385-528E-A93CDEC66544}"/>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3</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36699012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026"/>
          <p:cNvSpPr>
            <a:spLocks noGrp="1" noChangeArrowheads="1"/>
          </p:cNvSpPr>
          <p:nvPr>
            <p:ph type="title"/>
          </p:nvPr>
        </p:nvSpPr>
        <p:spPr>
          <a:xfrm>
            <a:off x="419100" y="304800"/>
            <a:ext cx="8305800" cy="457200"/>
          </a:xfrm>
        </p:spPr>
        <p:txBody>
          <a:bodyPr>
            <a:noAutofit/>
          </a:bodyPr>
          <a:lstStyle/>
          <a:p>
            <a:r>
              <a:rPr lang="en-US" dirty="0"/>
              <a:t>Process Synchronization</a:t>
            </a:r>
          </a:p>
        </p:txBody>
      </p:sp>
      <p:sp>
        <p:nvSpPr>
          <p:cNvPr id="16" name="Rectangle 3"/>
          <p:cNvSpPr txBox="1">
            <a:spLocks noChangeArrowheads="1"/>
          </p:cNvSpPr>
          <p:nvPr/>
        </p:nvSpPr>
        <p:spPr>
          <a:xfrm>
            <a:off x="503612" y="1279549"/>
            <a:ext cx="8136775" cy="2316480"/>
          </a:xfrm>
          <a:prstGeom prst="rect">
            <a:avLst/>
          </a:prstGeom>
        </p:spPr>
        <p:txBody>
          <a:bodyPr vert="horz" lIns="91440" tIns="45720" rIns="91440" bIns="45720" rtlCol="0">
            <a:noAutofit/>
          </a:bodyPr>
          <a:lstStyle/>
          <a:p>
            <a:pPr marL="0" lvl="1" algn="ctr" eaLnBrk="1" fontAlgn="auto" hangingPunct="1">
              <a:lnSpc>
                <a:spcPct val="120000"/>
              </a:lnSpc>
              <a:spcBef>
                <a:spcPts val="600"/>
              </a:spcBef>
              <a:spcAft>
                <a:spcPts val="0"/>
              </a:spcAft>
              <a:defRPr/>
            </a:pPr>
            <a:r>
              <a:rPr lang="en-US" sz="2400" i="1" dirty="0">
                <a:solidFill>
                  <a:srgbClr val="003399"/>
                </a:solidFill>
                <a:latin typeface="Calibri" panose="020F0502020204030204" pitchFamily="34" charset="0"/>
                <a:cs typeface="Calibri" panose="020F0502020204030204" pitchFamily="34" charset="0"/>
              </a:rPr>
              <a:t>“Process synchronization involves mechanisms and approaches </a:t>
            </a:r>
            <a:br>
              <a:rPr lang="en-US" sz="2400" i="1" dirty="0">
                <a:solidFill>
                  <a:srgbClr val="003399"/>
                </a:solidFill>
                <a:latin typeface="Calibri" panose="020F0502020204030204" pitchFamily="34" charset="0"/>
                <a:cs typeface="Calibri" panose="020F0502020204030204" pitchFamily="34" charset="0"/>
              </a:rPr>
            </a:br>
            <a:r>
              <a:rPr lang="en-US" sz="2400" i="1" dirty="0">
                <a:solidFill>
                  <a:srgbClr val="003399"/>
                </a:solidFill>
                <a:latin typeface="Calibri" panose="020F0502020204030204" pitchFamily="34" charset="0"/>
                <a:cs typeface="Calibri" panose="020F0502020204030204" pitchFamily="34" charset="0"/>
              </a:rPr>
              <a:t>that ensure </a:t>
            </a:r>
            <a:r>
              <a:rPr lang="en-US" sz="2400" i="1" dirty="0">
                <a:solidFill>
                  <a:srgbClr val="C00000"/>
                </a:solidFill>
                <a:latin typeface="Calibri" panose="020F0502020204030204" pitchFamily="34" charset="0"/>
                <a:cs typeface="Calibri" panose="020F0502020204030204" pitchFamily="34" charset="0"/>
              </a:rPr>
              <a:t>orderly</a:t>
            </a:r>
            <a:r>
              <a:rPr lang="en-US" sz="2400" i="1" dirty="0">
                <a:solidFill>
                  <a:srgbClr val="FF0000"/>
                </a:solidFill>
                <a:latin typeface="Calibri" panose="020F0502020204030204" pitchFamily="34" charset="0"/>
                <a:cs typeface="Calibri" panose="020F0502020204030204" pitchFamily="34" charset="0"/>
              </a:rPr>
              <a:t> </a:t>
            </a:r>
            <a:r>
              <a:rPr lang="en-US" sz="2400" i="1" dirty="0">
                <a:solidFill>
                  <a:srgbClr val="C00000"/>
                </a:solidFill>
                <a:latin typeface="Calibri" panose="020F0502020204030204" pitchFamily="34" charset="0"/>
                <a:cs typeface="Calibri" panose="020F0502020204030204" pitchFamily="34" charset="0"/>
              </a:rPr>
              <a:t>execution</a:t>
            </a:r>
            <a:r>
              <a:rPr lang="en-US" sz="2400" i="1" dirty="0">
                <a:solidFill>
                  <a:srgbClr val="FF0000"/>
                </a:solidFill>
                <a:latin typeface="Calibri" panose="020F0502020204030204" pitchFamily="34" charset="0"/>
                <a:cs typeface="Calibri" panose="020F0502020204030204" pitchFamily="34" charset="0"/>
              </a:rPr>
              <a:t> </a:t>
            </a:r>
            <a:r>
              <a:rPr lang="en-US" sz="2400" i="1" dirty="0">
                <a:solidFill>
                  <a:srgbClr val="003399"/>
                </a:solidFill>
                <a:latin typeface="Calibri" panose="020F0502020204030204" pitchFamily="34" charset="0"/>
                <a:cs typeface="Calibri" panose="020F0502020204030204" pitchFamily="34" charset="0"/>
              </a:rPr>
              <a:t>of cooperating processes </a:t>
            </a:r>
            <a:br>
              <a:rPr lang="en-US" sz="2400" i="1" dirty="0">
                <a:solidFill>
                  <a:srgbClr val="003399"/>
                </a:solidFill>
                <a:latin typeface="Calibri" panose="020F0502020204030204" pitchFamily="34" charset="0"/>
                <a:cs typeface="Calibri" panose="020F0502020204030204" pitchFamily="34" charset="0"/>
              </a:rPr>
            </a:br>
            <a:r>
              <a:rPr lang="en-US" sz="2400" i="1" dirty="0">
                <a:solidFill>
                  <a:srgbClr val="003399"/>
                </a:solidFill>
                <a:latin typeface="Calibri" panose="020F0502020204030204" pitchFamily="34" charset="0"/>
                <a:cs typeface="Calibri" panose="020F0502020204030204" pitchFamily="34" charset="0"/>
              </a:rPr>
              <a:t>that share data &amp; resources, </a:t>
            </a:r>
            <a:br>
              <a:rPr lang="en-US" sz="2400" i="1" dirty="0">
                <a:solidFill>
                  <a:srgbClr val="003399"/>
                </a:solidFill>
                <a:latin typeface="Calibri" panose="020F0502020204030204" pitchFamily="34" charset="0"/>
                <a:cs typeface="Calibri" panose="020F0502020204030204" pitchFamily="34" charset="0"/>
              </a:rPr>
            </a:br>
            <a:r>
              <a:rPr lang="en-US" sz="2400" i="1" dirty="0">
                <a:solidFill>
                  <a:srgbClr val="003399"/>
                </a:solidFill>
                <a:latin typeface="Calibri" panose="020F0502020204030204" pitchFamily="34" charset="0"/>
                <a:cs typeface="Calibri" panose="020F0502020204030204" pitchFamily="34" charset="0"/>
              </a:rPr>
              <a:t>in order to maintain </a:t>
            </a:r>
            <a:r>
              <a:rPr lang="en-US" sz="2400" i="1" dirty="0">
                <a:solidFill>
                  <a:srgbClr val="C00000"/>
                </a:solidFill>
                <a:latin typeface="Calibri" panose="020F0502020204030204" pitchFamily="34" charset="0"/>
                <a:cs typeface="Calibri" panose="020F0502020204030204" pitchFamily="34" charset="0"/>
              </a:rPr>
              <a:t>data</a:t>
            </a:r>
            <a:r>
              <a:rPr lang="en-US" sz="2400" i="1" dirty="0">
                <a:solidFill>
                  <a:srgbClr val="FF0000"/>
                </a:solidFill>
                <a:latin typeface="Calibri" panose="020F0502020204030204" pitchFamily="34" charset="0"/>
                <a:cs typeface="Calibri" panose="020F0502020204030204" pitchFamily="34" charset="0"/>
              </a:rPr>
              <a:t> </a:t>
            </a:r>
            <a:r>
              <a:rPr lang="en-US" sz="2400" i="1" dirty="0">
                <a:solidFill>
                  <a:srgbClr val="C00000"/>
                </a:solidFill>
                <a:latin typeface="Calibri" panose="020F0502020204030204" pitchFamily="34" charset="0"/>
                <a:cs typeface="Calibri" panose="020F0502020204030204" pitchFamily="34" charset="0"/>
              </a:rPr>
              <a:t>consistency</a:t>
            </a:r>
            <a:r>
              <a:rPr lang="en-US" sz="2400" i="1" dirty="0">
                <a:solidFill>
                  <a:srgbClr val="003399"/>
                </a:solidFill>
                <a:latin typeface="Calibri" panose="020F0502020204030204" pitchFamily="34" charset="0"/>
                <a:cs typeface="Calibri" panose="020F0502020204030204" pitchFamily="34" charset="0"/>
              </a:rPr>
              <a:t>” </a:t>
            </a:r>
          </a:p>
        </p:txBody>
      </p:sp>
      <p:sp>
        <p:nvSpPr>
          <p:cNvPr id="2" name="Slide Number Placeholder 3">
            <a:extLst>
              <a:ext uri="{FF2B5EF4-FFF2-40B4-BE49-F238E27FC236}">
                <a16:creationId xmlns:a16="http://schemas.microsoft.com/office/drawing/2014/main" id="{C8951CBF-0002-9385-528E-A93CDEC66544}"/>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4</a:t>
            </a:fld>
            <a:endParaRPr lang="en-US" altLang="en-US" sz="1400" dirty="0">
              <a:solidFill>
                <a:schemeClr val="tx1"/>
              </a:solidFill>
              <a:latin typeface="Tahoma" panose="020B0604030504040204" pitchFamily="34" charset="0"/>
              <a:ea typeface="MS PGothic" panose="020B0600070205080204" pitchFamily="34" charset="-128"/>
            </a:endParaRPr>
          </a:p>
        </p:txBody>
      </p:sp>
      <p:sp>
        <p:nvSpPr>
          <p:cNvPr id="3" name="Rectangle 3">
            <a:extLst>
              <a:ext uri="{FF2B5EF4-FFF2-40B4-BE49-F238E27FC236}">
                <a16:creationId xmlns:a16="http://schemas.microsoft.com/office/drawing/2014/main" id="{55582552-521A-F939-DEC1-62F918ACB0DC}"/>
              </a:ext>
            </a:extLst>
          </p:cNvPr>
          <p:cNvSpPr txBox="1">
            <a:spLocks noChangeArrowheads="1"/>
          </p:cNvSpPr>
          <p:nvPr/>
        </p:nvSpPr>
        <p:spPr>
          <a:xfrm>
            <a:off x="713212" y="3611327"/>
            <a:ext cx="7875617" cy="2316480"/>
          </a:xfrm>
          <a:prstGeom prst="rect">
            <a:avLst/>
          </a:prstGeom>
        </p:spPr>
        <p:txBody>
          <a:bodyPr vert="horz" lIns="91440" tIns="45720" rIns="91440" bIns="45720" rtlCol="0">
            <a:noAutofit/>
          </a:bodyPr>
          <a:lstStyle/>
          <a:p>
            <a:pPr marL="342900" lvl="0" indent="-342900" eaLnBrk="1" fontAlgn="auto" hangingPunct="1">
              <a:spcBef>
                <a:spcPts val="600"/>
              </a:spcBef>
              <a:spcAft>
                <a:spcPts val="0"/>
              </a:spcAft>
              <a:buFont typeface="Wingdings" panose="05000000000000000000" pitchFamily="2" charset="2"/>
              <a:buChar char="§"/>
              <a:defRPr/>
            </a:pPr>
            <a:r>
              <a:rPr lang="en-US" sz="2300" dirty="0">
                <a:latin typeface="Calibri" panose="020F0502020204030204" pitchFamily="34" charset="0"/>
                <a:cs typeface="Calibri" panose="020F0502020204030204" pitchFamily="34" charset="0"/>
              </a:rPr>
              <a:t>Synchronization is also needed for threads…</a:t>
            </a:r>
          </a:p>
          <a:p>
            <a:pPr marL="746125" lvl="1" indent="-288925" eaLnBrk="1" fontAlgn="auto" hangingPunct="1">
              <a:spcBef>
                <a:spcPts val="600"/>
              </a:spcBef>
              <a:spcAft>
                <a:spcPts val="0"/>
              </a:spcAft>
              <a:buFont typeface="Arial" panose="020B0604020202020204" pitchFamily="34" charset="0"/>
              <a:buChar char="•"/>
              <a:defRPr/>
            </a:pPr>
            <a:r>
              <a:rPr lang="en-US" sz="2300" dirty="0">
                <a:latin typeface="Calibri" panose="020F0502020204030204" pitchFamily="34" charset="0"/>
                <a:cs typeface="Calibri" panose="020F0502020204030204" pitchFamily="34" charset="0"/>
              </a:rPr>
              <a:t>share address space</a:t>
            </a:r>
          </a:p>
          <a:p>
            <a:pPr marL="746125" lvl="1" indent="-288925" eaLnBrk="1" fontAlgn="auto" hangingPunct="1">
              <a:spcBef>
                <a:spcPts val="600"/>
              </a:spcBef>
              <a:spcAft>
                <a:spcPts val="0"/>
              </a:spcAft>
              <a:buFont typeface="Arial" panose="020B0604020202020204" pitchFamily="34" charset="0"/>
              <a:buChar char="•"/>
              <a:defRPr/>
            </a:pPr>
            <a:r>
              <a:rPr lang="en-US" sz="2300" dirty="0">
                <a:latin typeface="Calibri" panose="020F0502020204030204" pitchFamily="34" charset="0"/>
                <a:cs typeface="Calibri" panose="020F0502020204030204" pitchFamily="34" charset="0"/>
              </a:rPr>
              <a:t>can c</a:t>
            </a:r>
            <a:r>
              <a:rPr lang="en-US" sz="2400" b="0" i="0" dirty="0">
                <a:solidFill>
                  <a:srgbClr val="0D0D0D"/>
                </a:solidFill>
                <a:effectLst/>
                <a:highlight>
                  <a:srgbClr val="FFFFFF"/>
                </a:highlight>
                <a:latin typeface="Söhne"/>
              </a:rPr>
              <a:t>ommunicate directly through shared variables</a:t>
            </a:r>
            <a:endParaRPr lang="en-US" sz="2300" dirty="0">
              <a:latin typeface="Calibri" panose="020F0502020204030204" pitchFamily="34" charset="0"/>
              <a:cs typeface="Calibri" panose="020F0502020204030204" pitchFamily="34" charset="0"/>
            </a:endParaRPr>
          </a:p>
          <a:p>
            <a:pPr marL="342900" lvl="0" indent="-342900" eaLnBrk="1" fontAlgn="auto" hangingPunct="1">
              <a:spcBef>
                <a:spcPts val="1800"/>
              </a:spcBef>
              <a:spcAft>
                <a:spcPts val="0"/>
              </a:spcAft>
              <a:buFont typeface="Wingdings" panose="05000000000000000000" pitchFamily="2" charset="2"/>
              <a:buChar char="§"/>
              <a:defRPr/>
            </a:pPr>
            <a:r>
              <a:rPr lang="en-US" sz="2300" dirty="0">
                <a:latin typeface="Calibri" panose="020F0502020204030204" pitchFamily="34" charset="0"/>
                <a:cs typeface="Calibri" panose="020F0502020204030204" pitchFamily="34" charset="0"/>
              </a:rPr>
              <a:t>Let’s see why cooperating processes (or threads) may need synchronization… </a:t>
            </a:r>
          </a:p>
        </p:txBody>
      </p:sp>
    </p:spTree>
    <p:extLst>
      <p:ext uri="{BB962C8B-B14F-4D97-AF65-F5344CB8AC3E}">
        <p14:creationId xmlns:p14="http://schemas.microsoft.com/office/powerpoint/2010/main" val="1310733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1DD38CE7-44E1-4AFB-70C2-C0809384E2ED}"/>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5</a:t>
            </a:fld>
            <a:endParaRPr lang="en-US" altLang="en-US" sz="1400" dirty="0">
              <a:solidFill>
                <a:schemeClr val="tx1"/>
              </a:solidFill>
              <a:latin typeface="Tahoma" panose="020B0604030504040204" pitchFamily="34" charset="0"/>
              <a:ea typeface="MS PGothic" panose="020B0600070205080204" pitchFamily="34" charset="-128"/>
            </a:endParaRPr>
          </a:p>
        </p:txBody>
      </p:sp>
      <p:sp>
        <p:nvSpPr>
          <p:cNvPr id="3" name="Rectangle 6">
            <a:extLst>
              <a:ext uri="{FF2B5EF4-FFF2-40B4-BE49-F238E27FC236}">
                <a16:creationId xmlns:a16="http://schemas.microsoft.com/office/drawing/2014/main" id="{AA055BAF-0653-1062-8260-A2604C175090}"/>
              </a:ext>
            </a:extLst>
          </p:cNvPr>
          <p:cNvSpPr txBox="1">
            <a:spLocks noChangeArrowheads="1"/>
          </p:cNvSpPr>
          <p:nvPr/>
        </p:nvSpPr>
        <p:spPr>
          <a:xfrm>
            <a:off x="471977" y="974445"/>
            <a:ext cx="8428183" cy="2438400"/>
          </a:xfrm>
          <a:prstGeom prst="rect">
            <a:avLst/>
          </a:prstGeom>
          <a:solidFill>
            <a:schemeClr val="bg1">
              <a:lumMod val="95000"/>
            </a:schemeClr>
          </a:solidFill>
          <a:ln>
            <a:solidFill>
              <a:schemeClr val="tx1"/>
            </a:solidFill>
          </a:ln>
        </p:spPr>
        <p:txBody>
          <a:bodyPr>
            <a:noAutofit/>
          </a:bodyPr>
          <a:lstStyle/>
          <a:p>
            <a:pPr marL="342900" indent="-342900">
              <a:spcBef>
                <a:spcPct val="20000"/>
              </a:spcBef>
            </a:pPr>
            <a:r>
              <a:rPr lang="en-US" i="1" dirty="0">
                <a:latin typeface="Courier New" pitchFamily="49" charset="0"/>
                <a:cs typeface="Courier New" pitchFamily="49" charset="0"/>
              </a:rPr>
              <a:t>#define BUFF_SIZE 5</a:t>
            </a:r>
          </a:p>
          <a:p>
            <a:pPr marL="342900" indent="-342900">
              <a:spcBef>
                <a:spcPct val="20000"/>
              </a:spcBef>
            </a:pPr>
            <a:r>
              <a:rPr lang="en-US" i="1" dirty="0" err="1">
                <a:latin typeface="Courier New" pitchFamily="49" charset="0"/>
                <a:cs typeface="Courier New" pitchFamily="49" charset="0"/>
              </a:rPr>
              <a:t>typedef</a:t>
            </a:r>
            <a:r>
              <a:rPr lang="en-US" i="1" dirty="0">
                <a:latin typeface="Courier New" pitchFamily="49" charset="0"/>
                <a:cs typeface="Courier New" pitchFamily="49" charset="0"/>
              </a:rPr>
              <a:t> </a:t>
            </a:r>
            <a:r>
              <a:rPr lang="en-US" i="1" dirty="0" err="1">
                <a:latin typeface="Courier New" pitchFamily="49" charset="0"/>
                <a:cs typeface="Courier New" pitchFamily="49" charset="0"/>
              </a:rPr>
              <a:t>struct</a:t>
            </a:r>
            <a:r>
              <a:rPr lang="en-US" i="1" dirty="0">
                <a:latin typeface="Courier New" pitchFamily="49" charset="0"/>
                <a:cs typeface="Courier New" pitchFamily="49" charset="0"/>
              </a:rPr>
              <a:t>{ ---- } item;</a:t>
            </a:r>
          </a:p>
          <a:p>
            <a:pPr marL="342900" indent="-342900">
              <a:spcBef>
                <a:spcPct val="20000"/>
              </a:spcBef>
            </a:pPr>
            <a:r>
              <a:rPr lang="en-US" i="1" dirty="0">
                <a:latin typeface="Courier New" pitchFamily="49" charset="0"/>
                <a:cs typeface="Courier New" pitchFamily="49" charset="0"/>
              </a:rPr>
              <a:t>item buff[BUFF_SIZE];</a:t>
            </a:r>
          </a:p>
          <a:p>
            <a:pPr marL="342900" indent="-342900">
              <a:spcBef>
                <a:spcPct val="20000"/>
              </a:spcBef>
            </a:pPr>
            <a:r>
              <a:rPr lang="en-US" i="1" dirty="0">
                <a:latin typeface="Courier New" pitchFamily="49" charset="0"/>
                <a:cs typeface="Courier New" pitchFamily="49" charset="0"/>
              </a:rPr>
              <a:t>int in = 0; 	  </a:t>
            </a:r>
            <a:r>
              <a:rPr lang="en-US" sz="1600" i="1" dirty="0">
                <a:solidFill>
                  <a:srgbClr val="FF0000"/>
                </a:solidFill>
                <a:latin typeface="Courier New" pitchFamily="49" charset="0"/>
                <a:cs typeface="Courier New" pitchFamily="49" charset="0"/>
              </a:rPr>
              <a:t>//points to first empty location in buffer</a:t>
            </a:r>
            <a:br>
              <a:rPr lang="en-US" sz="1600" i="1" dirty="0">
                <a:solidFill>
                  <a:srgbClr val="FF0000"/>
                </a:solidFill>
                <a:latin typeface="Courier New" pitchFamily="49" charset="0"/>
                <a:cs typeface="Courier New" pitchFamily="49" charset="0"/>
              </a:rPr>
            </a:br>
            <a:r>
              <a:rPr lang="en-US" sz="1600" i="1" dirty="0">
                <a:solidFill>
                  <a:srgbClr val="FF0000"/>
                </a:solidFill>
                <a:latin typeface="Courier New" pitchFamily="49" charset="0"/>
                <a:cs typeface="Courier New" pitchFamily="49" charset="0"/>
              </a:rPr>
              <a:t>		    where next item will be placed by producer </a:t>
            </a:r>
            <a:endParaRPr lang="en-US" i="1" dirty="0">
              <a:solidFill>
                <a:srgbClr val="FF0000"/>
              </a:solidFill>
              <a:latin typeface="Courier New" pitchFamily="49" charset="0"/>
              <a:cs typeface="Courier New" pitchFamily="49" charset="0"/>
            </a:endParaRPr>
          </a:p>
          <a:p>
            <a:pPr marL="342900" indent="-342900">
              <a:spcBef>
                <a:spcPct val="20000"/>
              </a:spcBef>
            </a:pPr>
            <a:r>
              <a:rPr lang="en-US" i="1" dirty="0">
                <a:latin typeface="Courier New" pitchFamily="49" charset="0"/>
                <a:cs typeface="Courier New" pitchFamily="49" charset="0"/>
              </a:rPr>
              <a:t>int out = 0;</a:t>
            </a:r>
            <a:r>
              <a:rPr lang="en-US" i="1" dirty="0">
                <a:solidFill>
                  <a:srgbClr val="FF0000"/>
                </a:solidFill>
                <a:latin typeface="Courier New" pitchFamily="49" charset="0"/>
                <a:cs typeface="Courier New" pitchFamily="49" charset="0"/>
              </a:rPr>
              <a:t> 	  </a:t>
            </a:r>
            <a:r>
              <a:rPr lang="en-US" sz="1600" i="1" dirty="0">
                <a:solidFill>
                  <a:srgbClr val="FF0000"/>
                </a:solidFill>
                <a:latin typeface="Courier New" pitchFamily="49" charset="0"/>
                <a:cs typeface="Courier New" pitchFamily="49" charset="0"/>
              </a:rPr>
              <a:t>//points to first filled location in buffer</a:t>
            </a:r>
            <a:br>
              <a:rPr lang="en-US" sz="1600" i="1" dirty="0">
                <a:solidFill>
                  <a:srgbClr val="FF0000"/>
                </a:solidFill>
                <a:latin typeface="Courier New" pitchFamily="49" charset="0"/>
                <a:cs typeface="Courier New" pitchFamily="49" charset="0"/>
              </a:rPr>
            </a:br>
            <a:r>
              <a:rPr lang="en-US" sz="1600" i="1" dirty="0">
                <a:solidFill>
                  <a:srgbClr val="FF0000"/>
                </a:solidFill>
                <a:latin typeface="Courier New" pitchFamily="49" charset="0"/>
                <a:cs typeface="Courier New" pitchFamily="49" charset="0"/>
              </a:rPr>
              <a:t>	 	    from where next item is to be consumed</a:t>
            </a:r>
          </a:p>
          <a:p>
            <a:pPr marL="342900" indent="-342900">
              <a:spcBef>
                <a:spcPct val="20000"/>
              </a:spcBef>
            </a:pPr>
            <a:r>
              <a:rPr lang="en-US" b="1" i="1" dirty="0">
                <a:latin typeface="Courier New" pitchFamily="49" charset="0"/>
                <a:cs typeface="Courier New" pitchFamily="49" charset="0"/>
              </a:rPr>
              <a:t>int ctr = 0;	</a:t>
            </a:r>
            <a:r>
              <a:rPr lang="en-US" sz="1800" i="1" dirty="0">
                <a:solidFill>
                  <a:srgbClr val="FF0000"/>
                </a:solidFill>
                <a:latin typeface="Courier New" pitchFamily="49" charset="0"/>
                <a:cs typeface="Courier New" pitchFamily="49" charset="0"/>
              </a:rPr>
              <a:t>  </a:t>
            </a:r>
            <a:r>
              <a:rPr lang="en-US" sz="1600" i="1" dirty="0">
                <a:solidFill>
                  <a:srgbClr val="FF0000"/>
                </a:solidFill>
                <a:latin typeface="Courier New" pitchFamily="49" charset="0"/>
                <a:cs typeface="Courier New" pitchFamily="49" charset="0"/>
              </a:rPr>
              <a:t>//number of items in buffer </a:t>
            </a:r>
          </a:p>
        </p:txBody>
      </p:sp>
      <p:sp>
        <p:nvSpPr>
          <p:cNvPr id="4" name="Rectangle 6">
            <a:extLst>
              <a:ext uri="{FF2B5EF4-FFF2-40B4-BE49-F238E27FC236}">
                <a16:creationId xmlns:a16="http://schemas.microsoft.com/office/drawing/2014/main" id="{F053F159-4DF7-FDF4-874A-3D64B7E9440B}"/>
              </a:ext>
            </a:extLst>
          </p:cNvPr>
          <p:cNvSpPr txBox="1">
            <a:spLocks noChangeArrowheads="1"/>
          </p:cNvSpPr>
          <p:nvPr/>
        </p:nvSpPr>
        <p:spPr>
          <a:xfrm>
            <a:off x="471976" y="3539830"/>
            <a:ext cx="4008584" cy="3196250"/>
          </a:xfrm>
          <a:prstGeom prst="rect">
            <a:avLst/>
          </a:prstGeom>
          <a:solidFill>
            <a:schemeClr val="bg1">
              <a:lumMod val="95000"/>
            </a:schemeClr>
          </a:solidFill>
          <a:ln>
            <a:solidFill>
              <a:schemeClr val="tx1"/>
            </a:solidFill>
          </a:ln>
        </p:spPr>
        <p:txBody>
          <a:bodyPr>
            <a:noAutofit/>
          </a:bodyPr>
          <a:lstStyle/>
          <a:p>
            <a:pPr marL="342900" indent="-342900" algn="ctr">
              <a:lnSpc>
                <a:spcPct val="125000"/>
              </a:lnSpc>
              <a:spcBef>
                <a:spcPct val="20000"/>
              </a:spcBef>
            </a:pPr>
            <a:r>
              <a:rPr lang="en-US" sz="1400" b="1" u="sng" dirty="0">
                <a:latin typeface="Courier New" pitchFamily="49" charset="0"/>
                <a:cs typeface="Courier New" pitchFamily="49" charset="0"/>
              </a:rPr>
              <a:t>Producer Process</a:t>
            </a:r>
          </a:p>
          <a:p>
            <a:pPr marL="342900" indent="-342900">
              <a:lnSpc>
                <a:spcPct val="125000"/>
              </a:lnSpc>
              <a:spcBef>
                <a:spcPct val="20000"/>
              </a:spcBef>
            </a:pPr>
            <a:r>
              <a:rPr lang="en-US" sz="1400" i="1" dirty="0">
                <a:latin typeface="Courier New" pitchFamily="49" charset="0"/>
                <a:cs typeface="Courier New" pitchFamily="49" charset="0"/>
              </a:rPr>
              <a:t>item </a:t>
            </a:r>
            <a:r>
              <a:rPr lang="en-US" sz="1400" i="1" dirty="0" err="1">
                <a:latin typeface="Courier New" pitchFamily="49" charset="0"/>
                <a:cs typeface="Courier New" pitchFamily="49" charset="0"/>
              </a:rPr>
              <a:t>nextProduced</a:t>
            </a:r>
            <a:r>
              <a:rPr lang="en-US" sz="1400" i="1" dirty="0">
                <a:latin typeface="Courier New" pitchFamily="49" charset="0"/>
                <a:cs typeface="Courier New" pitchFamily="49" charset="0"/>
              </a:rPr>
              <a:t>;</a:t>
            </a:r>
          </a:p>
          <a:p>
            <a:pPr marL="342900" indent="-342900">
              <a:lnSpc>
                <a:spcPct val="125000"/>
              </a:lnSpc>
              <a:spcBef>
                <a:spcPct val="20000"/>
              </a:spcBef>
            </a:pPr>
            <a:r>
              <a:rPr lang="en-US" sz="1400" i="1" dirty="0">
                <a:latin typeface="Courier New" pitchFamily="49" charset="0"/>
                <a:cs typeface="Courier New" pitchFamily="49" charset="0"/>
              </a:rPr>
              <a:t>while(1)</a:t>
            </a:r>
          </a:p>
          <a:p>
            <a:pPr marL="342900" indent="-342900">
              <a:lnSpc>
                <a:spcPct val="125000"/>
              </a:lnSpc>
              <a:spcBef>
                <a:spcPct val="20000"/>
              </a:spcBef>
            </a:pPr>
            <a:r>
              <a:rPr lang="en-US" sz="1400" i="1" dirty="0">
                <a:latin typeface="Courier New" pitchFamily="49" charset="0"/>
                <a:cs typeface="Courier New" pitchFamily="49" charset="0"/>
              </a:rPr>
              <a:t>{</a:t>
            </a:r>
          </a:p>
          <a:p>
            <a:pPr marL="342900" indent="-342900">
              <a:lnSpc>
                <a:spcPct val="125000"/>
              </a:lnSpc>
              <a:spcBef>
                <a:spcPct val="20000"/>
              </a:spcBef>
            </a:pPr>
            <a:r>
              <a:rPr lang="en-US" sz="1400" i="1" dirty="0">
                <a:latin typeface="Courier New" pitchFamily="49" charset="0"/>
                <a:cs typeface="Courier New" pitchFamily="49" charset="0"/>
              </a:rPr>
              <a:t>   </a:t>
            </a:r>
            <a:r>
              <a:rPr lang="en-US" sz="1400" i="1" dirty="0" err="1">
                <a:latin typeface="Courier New" pitchFamily="49" charset="0"/>
                <a:cs typeface="Courier New" pitchFamily="49" charset="0"/>
              </a:rPr>
              <a:t>nextProduced</a:t>
            </a:r>
            <a:r>
              <a:rPr lang="en-US" sz="1400" i="1" dirty="0">
                <a:latin typeface="Courier New" pitchFamily="49" charset="0"/>
                <a:cs typeface="Courier New" pitchFamily="49" charset="0"/>
              </a:rPr>
              <a:t> = </a:t>
            </a:r>
            <a:r>
              <a:rPr lang="en-US" sz="1400" i="1" dirty="0" err="1">
                <a:latin typeface="Courier New" pitchFamily="49" charset="0"/>
                <a:cs typeface="Courier New" pitchFamily="49" charset="0"/>
              </a:rPr>
              <a:t>getItem</a:t>
            </a:r>
            <a:r>
              <a:rPr lang="en-US" sz="1400" i="1" dirty="0">
                <a:latin typeface="Courier New" pitchFamily="49" charset="0"/>
                <a:cs typeface="Courier New" pitchFamily="49" charset="0"/>
              </a:rPr>
              <a:t>();</a:t>
            </a:r>
          </a:p>
          <a:p>
            <a:pPr marL="342900" indent="-342900">
              <a:lnSpc>
                <a:spcPct val="125000"/>
              </a:lnSpc>
              <a:spcBef>
                <a:spcPct val="20000"/>
              </a:spcBef>
            </a:pPr>
            <a:r>
              <a:rPr lang="en-US" sz="1400" i="1" dirty="0">
                <a:latin typeface="Courier New" pitchFamily="49" charset="0"/>
                <a:cs typeface="Courier New" pitchFamily="49" charset="0"/>
              </a:rPr>
              <a:t>   while(</a:t>
            </a:r>
            <a:r>
              <a:rPr lang="en-US" sz="1400" b="1" i="1" dirty="0">
                <a:latin typeface="Courier New" pitchFamily="49" charset="0"/>
                <a:cs typeface="Courier New" pitchFamily="49" charset="0"/>
              </a:rPr>
              <a:t>ctr == BUFF_SIZE</a:t>
            </a:r>
            <a:r>
              <a:rPr lang="en-US" sz="1400" i="1" dirty="0">
                <a:latin typeface="Courier New" pitchFamily="49" charset="0"/>
                <a:cs typeface="Courier New" pitchFamily="49" charset="0"/>
              </a:rPr>
              <a:t>)</a:t>
            </a:r>
          </a:p>
          <a:p>
            <a:pPr marL="342900" indent="-342900">
              <a:lnSpc>
                <a:spcPct val="125000"/>
              </a:lnSpc>
              <a:spcBef>
                <a:spcPct val="20000"/>
              </a:spcBef>
            </a:pPr>
            <a:r>
              <a:rPr lang="en-US" sz="1400" i="1" dirty="0">
                <a:latin typeface="Courier New" pitchFamily="49" charset="0"/>
                <a:cs typeface="Courier New" pitchFamily="49" charset="0"/>
              </a:rPr>
              <a:t>        ; //do nothing</a:t>
            </a:r>
          </a:p>
          <a:p>
            <a:pPr marL="342900" indent="-342900">
              <a:lnSpc>
                <a:spcPct val="125000"/>
              </a:lnSpc>
              <a:spcBef>
                <a:spcPct val="20000"/>
              </a:spcBef>
            </a:pPr>
            <a:r>
              <a:rPr lang="en-US" sz="1400" i="1" dirty="0">
                <a:latin typeface="Courier New" pitchFamily="49" charset="0"/>
                <a:cs typeface="Courier New" pitchFamily="49" charset="0"/>
              </a:rPr>
              <a:t>   buff[in] = </a:t>
            </a:r>
            <a:r>
              <a:rPr lang="en-US" sz="1400" i="1" dirty="0" err="1">
                <a:latin typeface="Courier New" pitchFamily="49" charset="0"/>
                <a:cs typeface="Courier New" pitchFamily="49" charset="0"/>
              </a:rPr>
              <a:t>nextProduced</a:t>
            </a:r>
            <a:r>
              <a:rPr lang="en-US" sz="1400" i="1" dirty="0">
                <a:latin typeface="Courier New" pitchFamily="49" charset="0"/>
                <a:cs typeface="Courier New" pitchFamily="49" charset="0"/>
              </a:rPr>
              <a:t>;</a:t>
            </a:r>
          </a:p>
          <a:p>
            <a:pPr marL="342900" indent="-342900">
              <a:lnSpc>
                <a:spcPct val="125000"/>
              </a:lnSpc>
              <a:spcBef>
                <a:spcPct val="20000"/>
              </a:spcBef>
            </a:pPr>
            <a:r>
              <a:rPr lang="en-US" sz="1400" i="1" dirty="0">
                <a:latin typeface="Courier New" pitchFamily="49" charset="0"/>
                <a:cs typeface="Courier New" pitchFamily="49" charset="0"/>
              </a:rPr>
              <a:t>   in = (in + 1) % BUFF_SIZE;</a:t>
            </a:r>
          </a:p>
          <a:p>
            <a:pPr marL="342900" indent="-342900">
              <a:lnSpc>
                <a:spcPct val="125000"/>
              </a:lnSpc>
              <a:spcBef>
                <a:spcPct val="20000"/>
              </a:spcBef>
            </a:pPr>
            <a:r>
              <a:rPr lang="en-US" sz="1400" i="1" dirty="0">
                <a:latin typeface="Courier New" pitchFamily="49" charset="0"/>
                <a:cs typeface="Courier New" pitchFamily="49" charset="0"/>
              </a:rPr>
              <a:t>   </a:t>
            </a:r>
            <a:r>
              <a:rPr lang="en-US" sz="1400" b="1" i="1" dirty="0" err="1">
                <a:latin typeface="Courier New" pitchFamily="49" charset="0"/>
                <a:cs typeface="Courier New" pitchFamily="49" charset="0"/>
              </a:rPr>
              <a:t>ctr</a:t>
            </a:r>
            <a:r>
              <a:rPr lang="en-US" sz="1400" b="1" i="1" dirty="0">
                <a:latin typeface="Courier New" pitchFamily="49" charset="0"/>
                <a:cs typeface="Courier New" pitchFamily="49" charset="0"/>
              </a:rPr>
              <a:t>++; </a:t>
            </a:r>
            <a:r>
              <a:rPr lang="en-US" sz="1400" i="1" dirty="0">
                <a:latin typeface="Courier New" pitchFamily="49" charset="0"/>
                <a:cs typeface="Courier New" pitchFamily="49" charset="0"/>
              </a:rPr>
              <a:t>}</a:t>
            </a:r>
          </a:p>
        </p:txBody>
      </p:sp>
      <p:sp>
        <p:nvSpPr>
          <p:cNvPr id="5" name="Rectangle 6">
            <a:extLst>
              <a:ext uri="{FF2B5EF4-FFF2-40B4-BE49-F238E27FC236}">
                <a16:creationId xmlns:a16="http://schemas.microsoft.com/office/drawing/2014/main" id="{0871623C-D451-C1E9-5DAD-9CFA4AF331EE}"/>
              </a:ext>
            </a:extLst>
          </p:cNvPr>
          <p:cNvSpPr txBox="1">
            <a:spLocks noChangeArrowheads="1"/>
          </p:cNvSpPr>
          <p:nvPr/>
        </p:nvSpPr>
        <p:spPr>
          <a:xfrm>
            <a:off x="4876336" y="3546755"/>
            <a:ext cx="4008584" cy="3189325"/>
          </a:xfrm>
          <a:prstGeom prst="rect">
            <a:avLst/>
          </a:prstGeom>
          <a:solidFill>
            <a:schemeClr val="bg1">
              <a:lumMod val="95000"/>
            </a:schemeClr>
          </a:solidFill>
          <a:ln>
            <a:solidFill>
              <a:schemeClr val="tx1"/>
            </a:solidFill>
          </a:ln>
        </p:spPr>
        <p:txBody>
          <a:bodyPr>
            <a:noAutofit/>
          </a:bodyPr>
          <a:lstStyle/>
          <a:p>
            <a:pPr marL="342900" indent="-342900" algn="ctr">
              <a:lnSpc>
                <a:spcPct val="125000"/>
              </a:lnSpc>
              <a:spcBef>
                <a:spcPct val="20000"/>
              </a:spcBef>
            </a:pPr>
            <a:r>
              <a:rPr lang="en-US" sz="1400" b="1" u="sng" dirty="0">
                <a:latin typeface="Courier New" pitchFamily="49" charset="0"/>
                <a:cs typeface="Courier New" pitchFamily="49" charset="0"/>
              </a:rPr>
              <a:t>Consumer Process</a:t>
            </a:r>
          </a:p>
          <a:p>
            <a:pPr marL="342900" indent="-342900">
              <a:lnSpc>
                <a:spcPct val="125000"/>
              </a:lnSpc>
              <a:spcBef>
                <a:spcPct val="20000"/>
              </a:spcBef>
            </a:pPr>
            <a:r>
              <a:rPr lang="en-US" sz="1400" i="1" dirty="0">
                <a:latin typeface="Courier New" pitchFamily="49" charset="0"/>
                <a:cs typeface="Courier New" pitchFamily="49" charset="0"/>
              </a:rPr>
              <a:t>item </a:t>
            </a:r>
            <a:r>
              <a:rPr lang="en-US" sz="1400" i="1" dirty="0" err="1">
                <a:latin typeface="Courier New" pitchFamily="49" charset="0"/>
                <a:cs typeface="Courier New" pitchFamily="49" charset="0"/>
              </a:rPr>
              <a:t>nextConsumed</a:t>
            </a:r>
            <a:r>
              <a:rPr lang="en-US" sz="1400" i="1" dirty="0">
                <a:latin typeface="Courier New" pitchFamily="49" charset="0"/>
                <a:cs typeface="Courier New" pitchFamily="49" charset="0"/>
              </a:rPr>
              <a:t>;</a:t>
            </a:r>
          </a:p>
          <a:p>
            <a:pPr marL="342900" indent="-342900">
              <a:lnSpc>
                <a:spcPct val="125000"/>
              </a:lnSpc>
              <a:spcBef>
                <a:spcPct val="20000"/>
              </a:spcBef>
            </a:pPr>
            <a:r>
              <a:rPr lang="en-US" sz="1400" i="1" dirty="0">
                <a:latin typeface="Courier New" pitchFamily="49" charset="0"/>
                <a:cs typeface="Courier New" pitchFamily="49" charset="0"/>
              </a:rPr>
              <a:t>while(1)</a:t>
            </a:r>
          </a:p>
          <a:p>
            <a:pPr marL="342900" indent="-342900">
              <a:lnSpc>
                <a:spcPct val="125000"/>
              </a:lnSpc>
              <a:spcBef>
                <a:spcPct val="20000"/>
              </a:spcBef>
            </a:pPr>
            <a:r>
              <a:rPr lang="en-US" sz="1400" i="1" dirty="0">
                <a:latin typeface="Courier New" pitchFamily="49" charset="0"/>
                <a:cs typeface="Courier New" pitchFamily="49" charset="0"/>
              </a:rPr>
              <a:t>{</a:t>
            </a:r>
          </a:p>
          <a:p>
            <a:pPr marL="342900" indent="-342900">
              <a:lnSpc>
                <a:spcPct val="125000"/>
              </a:lnSpc>
              <a:spcBef>
                <a:spcPct val="20000"/>
              </a:spcBef>
            </a:pPr>
            <a:r>
              <a:rPr lang="en-US" sz="1400" i="1" dirty="0">
                <a:latin typeface="Courier New" pitchFamily="49" charset="0"/>
                <a:cs typeface="Courier New" pitchFamily="49" charset="0"/>
              </a:rPr>
              <a:t>   while(</a:t>
            </a:r>
            <a:r>
              <a:rPr lang="en-US" sz="1400" b="1" i="1" dirty="0" err="1">
                <a:latin typeface="Courier New" pitchFamily="49" charset="0"/>
                <a:cs typeface="Courier New" pitchFamily="49" charset="0"/>
              </a:rPr>
              <a:t>ctr</a:t>
            </a:r>
            <a:r>
              <a:rPr lang="en-US" sz="1400" b="1" i="1" dirty="0">
                <a:latin typeface="Courier New" pitchFamily="49" charset="0"/>
                <a:cs typeface="Courier New" pitchFamily="49" charset="0"/>
              </a:rPr>
              <a:t> == 0</a:t>
            </a:r>
            <a:r>
              <a:rPr lang="en-US" sz="1400" i="1" dirty="0">
                <a:latin typeface="Courier New" pitchFamily="49" charset="0"/>
                <a:cs typeface="Courier New" pitchFamily="49" charset="0"/>
              </a:rPr>
              <a:t>)</a:t>
            </a:r>
          </a:p>
          <a:p>
            <a:pPr marL="342900" indent="-342900">
              <a:lnSpc>
                <a:spcPct val="125000"/>
              </a:lnSpc>
              <a:spcBef>
                <a:spcPct val="20000"/>
              </a:spcBef>
            </a:pPr>
            <a:r>
              <a:rPr lang="en-US" sz="1400" i="1" dirty="0">
                <a:latin typeface="Courier New" pitchFamily="49" charset="0"/>
                <a:cs typeface="Courier New" pitchFamily="49" charset="0"/>
              </a:rPr>
              <a:t>        ; //do nothing</a:t>
            </a:r>
          </a:p>
          <a:p>
            <a:pPr marL="342900" indent="-342900">
              <a:lnSpc>
                <a:spcPct val="125000"/>
              </a:lnSpc>
              <a:spcBef>
                <a:spcPct val="20000"/>
              </a:spcBef>
            </a:pPr>
            <a:r>
              <a:rPr lang="en-US" sz="1400" i="1" dirty="0">
                <a:latin typeface="Courier New" pitchFamily="49" charset="0"/>
                <a:cs typeface="Courier New" pitchFamily="49" charset="0"/>
              </a:rPr>
              <a:t>   </a:t>
            </a:r>
            <a:r>
              <a:rPr lang="en-US" sz="1400" i="1" dirty="0" err="1">
                <a:latin typeface="Courier New" pitchFamily="49" charset="0"/>
                <a:cs typeface="Courier New" pitchFamily="49" charset="0"/>
              </a:rPr>
              <a:t>nextConsumed</a:t>
            </a:r>
            <a:r>
              <a:rPr lang="en-US" sz="1400" i="1" dirty="0">
                <a:latin typeface="Courier New" pitchFamily="49" charset="0"/>
                <a:cs typeface="Courier New" pitchFamily="49" charset="0"/>
              </a:rPr>
              <a:t> = buff[out];</a:t>
            </a:r>
          </a:p>
          <a:p>
            <a:pPr marL="342900" indent="-342900">
              <a:lnSpc>
                <a:spcPct val="125000"/>
              </a:lnSpc>
              <a:spcBef>
                <a:spcPct val="20000"/>
              </a:spcBef>
            </a:pPr>
            <a:r>
              <a:rPr lang="en-US" sz="1400" i="1" dirty="0">
                <a:latin typeface="Courier New" pitchFamily="49" charset="0"/>
                <a:cs typeface="Courier New" pitchFamily="49" charset="0"/>
              </a:rPr>
              <a:t>   out = (out + 1) % BUFF_SIZE;</a:t>
            </a:r>
          </a:p>
          <a:p>
            <a:pPr marL="342900" indent="-342900">
              <a:lnSpc>
                <a:spcPct val="125000"/>
              </a:lnSpc>
              <a:spcBef>
                <a:spcPct val="20000"/>
              </a:spcBef>
            </a:pPr>
            <a:r>
              <a:rPr lang="en-US" sz="1400" i="1" dirty="0">
                <a:latin typeface="Courier New" pitchFamily="49" charset="0"/>
                <a:cs typeface="Courier New" pitchFamily="49" charset="0"/>
              </a:rPr>
              <a:t>   </a:t>
            </a:r>
            <a:r>
              <a:rPr lang="en-US" sz="1400" b="1" i="1" dirty="0" err="1">
                <a:latin typeface="Courier New" pitchFamily="49" charset="0"/>
                <a:cs typeface="Courier New" pitchFamily="49" charset="0"/>
              </a:rPr>
              <a:t>ctr</a:t>
            </a:r>
            <a:r>
              <a:rPr lang="en-US" sz="1400" b="1" i="1" dirty="0">
                <a:latin typeface="Courier New" pitchFamily="49" charset="0"/>
                <a:cs typeface="Courier New" pitchFamily="49" charset="0"/>
              </a:rPr>
              <a:t>--;</a:t>
            </a:r>
          </a:p>
          <a:p>
            <a:pPr marL="342900" indent="-342900">
              <a:lnSpc>
                <a:spcPct val="125000"/>
              </a:lnSpc>
              <a:spcBef>
                <a:spcPct val="20000"/>
              </a:spcBef>
            </a:pPr>
            <a:r>
              <a:rPr lang="en-US" sz="1400" i="1" dirty="0">
                <a:latin typeface="Courier New" pitchFamily="49" charset="0"/>
                <a:cs typeface="Courier New" pitchFamily="49" charset="0"/>
              </a:rPr>
              <a:t>}</a:t>
            </a:r>
          </a:p>
        </p:txBody>
      </p:sp>
      <p:sp>
        <p:nvSpPr>
          <p:cNvPr id="7" name="Rectangle 2">
            <a:extLst>
              <a:ext uri="{FF2B5EF4-FFF2-40B4-BE49-F238E27FC236}">
                <a16:creationId xmlns:a16="http://schemas.microsoft.com/office/drawing/2014/main" id="{AB0FA17D-F961-72EF-7EA9-D9B399FD66FF}"/>
              </a:ext>
            </a:extLst>
          </p:cNvPr>
          <p:cNvSpPr>
            <a:spLocks noGrp="1" noChangeArrowheads="1"/>
          </p:cNvSpPr>
          <p:nvPr>
            <p:ph type="title"/>
          </p:nvPr>
        </p:nvSpPr>
        <p:spPr>
          <a:xfrm>
            <a:off x="1310640" y="210502"/>
            <a:ext cx="7172960" cy="533400"/>
          </a:xfrm>
        </p:spPr>
        <p:txBody>
          <a:bodyPr>
            <a:noAutofit/>
          </a:bodyPr>
          <a:lstStyle/>
          <a:p>
            <a:r>
              <a:rPr lang="en-US" sz="3000" dirty="0"/>
              <a:t>Example 1 - Producer Consumer</a:t>
            </a:r>
          </a:p>
        </p:txBody>
      </p:sp>
    </p:spTree>
    <p:extLst>
      <p:ext uri="{BB962C8B-B14F-4D97-AF65-F5344CB8AC3E}">
        <p14:creationId xmlns:p14="http://schemas.microsoft.com/office/powerpoint/2010/main" val="11500885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6676" name="Picture 4"/>
          <p:cNvPicPr>
            <a:picLocks noChangeAspect="1" noChangeArrowheads="1"/>
          </p:cNvPicPr>
          <p:nvPr/>
        </p:nvPicPr>
        <p:blipFill>
          <a:blip r:embed="rId3"/>
          <a:srcRect/>
          <a:stretch>
            <a:fillRect/>
          </a:stretch>
        </p:blipFill>
        <p:spPr bwMode="auto">
          <a:xfrm>
            <a:off x="4567238" y="3424238"/>
            <a:ext cx="9525" cy="9525"/>
          </a:xfrm>
          <a:prstGeom prst="rect">
            <a:avLst/>
          </a:prstGeom>
          <a:noFill/>
          <a:ln w="9525">
            <a:noFill/>
            <a:miter lim="800000"/>
            <a:headEnd/>
            <a:tailEnd/>
          </a:ln>
          <a:effectLst/>
        </p:spPr>
      </p:pic>
      <p:pic>
        <p:nvPicPr>
          <p:cNvPr id="156677" name="Picture 5"/>
          <p:cNvPicPr>
            <a:picLocks noChangeAspect="1" noChangeArrowheads="1"/>
          </p:cNvPicPr>
          <p:nvPr/>
        </p:nvPicPr>
        <p:blipFill>
          <a:blip r:embed="rId3"/>
          <a:srcRect/>
          <a:stretch>
            <a:fillRect/>
          </a:stretch>
        </p:blipFill>
        <p:spPr bwMode="auto">
          <a:xfrm>
            <a:off x="4567238" y="3424238"/>
            <a:ext cx="9525" cy="9525"/>
          </a:xfrm>
          <a:prstGeom prst="rect">
            <a:avLst/>
          </a:prstGeom>
          <a:noFill/>
          <a:ln w="9525">
            <a:noFill/>
            <a:miter lim="800000"/>
            <a:headEnd/>
            <a:tailEnd/>
          </a:ln>
          <a:effectLst/>
        </p:spPr>
      </p:pic>
      <p:pic>
        <p:nvPicPr>
          <p:cNvPr id="156678" name="Picture 6"/>
          <p:cNvPicPr>
            <a:picLocks noChangeAspect="1" noChangeArrowheads="1"/>
          </p:cNvPicPr>
          <p:nvPr/>
        </p:nvPicPr>
        <p:blipFill>
          <a:blip r:embed="rId3"/>
          <a:srcRect/>
          <a:stretch>
            <a:fillRect/>
          </a:stretch>
        </p:blipFill>
        <p:spPr bwMode="auto">
          <a:xfrm>
            <a:off x="4567238" y="3424238"/>
            <a:ext cx="9525" cy="9525"/>
          </a:xfrm>
          <a:prstGeom prst="rect">
            <a:avLst/>
          </a:prstGeom>
          <a:noFill/>
          <a:ln w="9525">
            <a:noFill/>
            <a:miter lim="800000"/>
            <a:headEnd/>
            <a:tailEnd/>
          </a:ln>
          <a:effectLst/>
        </p:spPr>
      </p:pic>
      <p:sp>
        <p:nvSpPr>
          <p:cNvPr id="14" name="Rectangle 3"/>
          <p:cNvSpPr txBox="1">
            <a:spLocks noChangeArrowheads="1"/>
          </p:cNvSpPr>
          <p:nvPr/>
        </p:nvSpPr>
        <p:spPr>
          <a:xfrm>
            <a:off x="1502770" y="4408636"/>
            <a:ext cx="3040150" cy="1965960"/>
          </a:xfrm>
          <a:prstGeom prst="rect">
            <a:avLst/>
          </a:prstGeom>
        </p:spPr>
        <p:txBody>
          <a:bodyPr vert="horz" lIns="91440" tIns="45720" rIns="91440" bIns="45720" rtlCol="0">
            <a:noAutofit/>
          </a:bodyPr>
          <a:lstStyle/>
          <a:p>
            <a:pPr marL="342900" marR="0" lvl="0" indent="-342900" defTabSz="914400" rtl="0" eaLnBrk="1" fontAlgn="auto" latinLnBrk="0" hangingPunct="1">
              <a:spcBef>
                <a:spcPct val="20000"/>
              </a:spcBef>
              <a:spcAft>
                <a:spcPts val="0"/>
              </a:spcAft>
              <a:buClrTx/>
              <a:buSzTx/>
              <a:tabLst/>
              <a:defRPr/>
            </a:pPr>
            <a:r>
              <a:rPr lang="en-US" sz="2300" dirty="0" err="1">
                <a:latin typeface="Comic Sans MS" pitchFamily="66" charset="0"/>
              </a:rPr>
              <a:t>ctr</a:t>
            </a:r>
            <a:r>
              <a:rPr lang="en-US" sz="2300" dirty="0">
                <a:latin typeface="Comic Sans MS" pitchFamily="66" charset="0"/>
              </a:rPr>
              <a:t>++; </a:t>
            </a:r>
          </a:p>
          <a:p>
            <a:pPr marL="342900" marR="0" lvl="0" indent="-342900" algn="l" defTabSz="914400" rtl="0" eaLnBrk="1" fontAlgn="auto" latinLnBrk="0" hangingPunct="1">
              <a:spcBef>
                <a:spcPct val="20000"/>
              </a:spcBef>
              <a:spcAft>
                <a:spcPts val="0"/>
              </a:spcAft>
              <a:buClrTx/>
              <a:buSzTx/>
              <a:tabLst/>
              <a:defRPr/>
            </a:pPr>
            <a:r>
              <a:rPr lang="en-US" sz="2300" dirty="0">
                <a:latin typeface="Comic Sans MS" pitchFamily="66" charset="0"/>
              </a:rPr>
              <a:t>P</a:t>
            </a:r>
            <a:r>
              <a:rPr lang="en-US" sz="2300" baseline="-25000" dirty="0">
                <a:latin typeface="Comic Sans MS" pitchFamily="66" charset="0"/>
              </a:rPr>
              <a:t>1</a:t>
            </a:r>
            <a:r>
              <a:rPr lang="en-US" sz="2300" dirty="0">
                <a:latin typeface="Comic Sans MS" pitchFamily="66" charset="0"/>
              </a:rPr>
              <a:t>:   MOV  R1, </a:t>
            </a:r>
            <a:r>
              <a:rPr lang="en-US" sz="2300" dirty="0" err="1">
                <a:latin typeface="Comic Sans MS" pitchFamily="66" charset="0"/>
              </a:rPr>
              <a:t>ctr</a:t>
            </a:r>
            <a:endParaRPr lang="en-US" sz="2300" dirty="0">
              <a:latin typeface="Comic Sans MS" pitchFamily="66" charset="0"/>
            </a:endParaRPr>
          </a:p>
          <a:p>
            <a:pPr marL="342900" marR="0" lvl="0" indent="-342900" algn="l" defTabSz="914400" rtl="0" eaLnBrk="1" fontAlgn="auto" latinLnBrk="0" hangingPunct="1">
              <a:spcBef>
                <a:spcPct val="20000"/>
              </a:spcBef>
              <a:spcAft>
                <a:spcPts val="0"/>
              </a:spcAft>
              <a:buClrTx/>
              <a:buSzTx/>
              <a:tabLst/>
              <a:defRPr/>
            </a:pPr>
            <a:r>
              <a:rPr lang="en-US" sz="2300" dirty="0">
                <a:latin typeface="Comic Sans MS" pitchFamily="66" charset="0"/>
              </a:rPr>
              <a:t>P</a:t>
            </a:r>
            <a:r>
              <a:rPr lang="en-US" sz="2300" baseline="-25000" dirty="0">
                <a:latin typeface="Comic Sans MS" pitchFamily="66" charset="0"/>
              </a:rPr>
              <a:t>2</a:t>
            </a:r>
            <a:r>
              <a:rPr lang="en-US" sz="2300" dirty="0">
                <a:latin typeface="Comic Sans MS" pitchFamily="66" charset="0"/>
              </a:rPr>
              <a:t>:   INC   R1</a:t>
            </a:r>
          </a:p>
          <a:p>
            <a:pPr marL="342900" marR="0" lvl="0" indent="-342900" algn="l" defTabSz="914400" rtl="0" eaLnBrk="1" fontAlgn="auto" latinLnBrk="0" hangingPunct="1">
              <a:spcBef>
                <a:spcPct val="20000"/>
              </a:spcBef>
              <a:spcAft>
                <a:spcPts val="0"/>
              </a:spcAft>
              <a:buClrTx/>
              <a:buSzTx/>
              <a:tabLst/>
              <a:defRPr/>
            </a:pPr>
            <a:r>
              <a:rPr lang="en-US" sz="2300" dirty="0">
                <a:latin typeface="Comic Sans MS" pitchFamily="66" charset="0"/>
              </a:rPr>
              <a:t>P</a:t>
            </a:r>
            <a:r>
              <a:rPr lang="en-US" sz="2300" baseline="-25000" dirty="0">
                <a:latin typeface="Comic Sans MS" pitchFamily="66" charset="0"/>
              </a:rPr>
              <a:t>3</a:t>
            </a:r>
            <a:r>
              <a:rPr lang="en-US" sz="2300" dirty="0">
                <a:latin typeface="Comic Sans MS" pitchFamily="66" charset="0"/>
              </a:rPr>
              <a:t>:   MOV  </a:t>
            </a:r>
            <a:r>
              <a:rPr lang="en-US" sz="2300" dirty="0" err="1">
                <a:latin typeface="Comic Sans MS" pitchFamily="66" charset="0"/>
              </a:rPr>
              <a:t>ctr</a:t>
            </a:r>
            <a:r>
              <a:rPr lang="en-US" sz="2300" dirty="0">
                <a:latin typeface="Comic Sans MS" pitchFamily="66" charset="0"/>
              </a:rPr>
              <a:t>, R1</a:t>
            </a:r>
          </a:p>
        </p:txBody>
      </p:sp>
      <p:sp>
        <p:nvSpPr>
          <p:cNvPr id="18" name="Rectangle 3"/>
          <p:cNvSpPr txBox="1">
            <a:spLocks noChangeArrowheads="1"/>
          </p:cNvSpPr>
          <p:nvPr/>
        </p:nvSpPr>
        <p:spPr>
          <a:xfrm>
            <a:off x="409153" y="1155656"/>
            <a:ext cx="8379230" cy="3048482"/>
          </a:xfrm>
          <a:prstGeom prst="rect">
            <a:avLst/>
          </a:prstGeom>
        </p:spPr>
        <p:txBody>
          <a:bodyPr vert="horz" lIns="91440" tIns="45720" rIns="91440" bIns="45720" rtlCol="0">
            <a:noAutofit/>
          </a:bodyPr>
          <a:lstStyle/>
          <a:p>
            <a:pPr marL="342900" lvl="0" indent="-342900" eaLnBrk="1" fontAlgn="auto" hangingPunct="1">
              <a:spcBef>
                <a:spcPts val="600"/>
              </a:spcBef>
              <a:spcAft>
                <a:spcPts val="0"/>
              </a:spcAft>
              <a:buFont typeface="Wingdings" panose="05000000000000000000" pitchFamily="2" charset="2"/>
              <a:buChar char="§"/>
              <a:defRPr/>
            </a:pPr>
            <a:r>
              <a:rPr lang="en-US" sz="2300" dirty="0">
                <a:latin typeface="Calibri" panose="020F0502020204030204" pitchFamily="34" charset="0"/>
                <a:cs typeface="Calibri" panose="020F0502020204030204" pitchFamily="34" charset="0"/>
              </a:rPr>
              <a:t>Producer and Consumer processes need to access shared data,</a:t>
            </a:r>
            <a:br>
              <a:rPr lang="en-US" sz="2300" dirty="0">
                <a:latin typeface="Calibri" panose="020F0502020204030204" pitchFamily="34" charset="0"/>
                <a:cs typeface="Calibri" panose="020F0502020204030204" pitchFamily="34" charset="0"/>
              </a:rPr>
            </a:br>
            <a:r>
              <a:rPr lang="en-US" sz="2400" b="1" i="1" dirty="0">
                <a:solidFill>
                  <a:srgbClr val="C00000"/>
                </a:solidFill>
                <a:latin typeface="Calibri" panose="020F0502020204030204" pitchFamily="34" charset="0"/>
                <a:cs typeface="Calibri" panose="020F0502020204030204" pitchFamily="34" charset="0"/>
              </a:rPr>
              <a:t>ctr</a:t>
            </a:r>
            <a:r>
              <a:rPr lang="en-US" sz="2300" b="1" dirty="0">
                <a:solidFill>
                  <a:srgbClr val="FF0000"/>
                </a:solidFill>
                <a:latin typeface="Calibri" panose="020F0502020204030204" pitchFamily="34" charset="0"/>
                <a:cs typeface="Calibri" panose="020F0502020204030204" pitchFamily="34" charset="0"/>
              </a:rPr>
              <a:t> </a:t>
            </a:r>
            <a:r>
              <a:rPr lang="en-US" sz="2300" dirty="0">
                <a:latin typeface="Calibri" panose="020F0502020204030204" pitchFamily="34" charset="0"/>
                <a:cs typeface="Calibri" panose="020F0502020204030204" pitchFamily="34" charset="0"/>
              </a:rPr>
              <a:t>&amp; </a:t>
            </a:r>
            <a:r>
              <a:rPr lang="en-US" sz="2400" b="1" i="1" dirty="0">
                <a:solidFill>
                  <a:srgbClr val="C00000"/>
                </a:solidFill>
                <a:latin typeface="Calibri" panose="020F0502020204030204" pitchFamily="34" charset="0"/>
                <a:cs typeface="Calibri" panose="020F0502020204030204" pitchFamily="34" charset="0"/>
              </a:rPr>
              <a:t>buffer</a:t>
            </a:r>
          </a:p>
          <a:p>
            <a:pPr marL="800100" lvl="1" indent="-342900" eaLnBrk="1" fontAlgn="auto" hangingPunct="1">
              <a:spcBef>
                <a:spcPts val="600"/>
              </a:spcBef>
              <a:spcAft>
                <a:spcPts val="0"/>
              </a:spcAft>
              <a:buFont typeface="Arial" panose="020B0604020202020204" pitchFamily="34" charset="0"/>
              <a:buChar char="•"/>
              <a:defRPr/>
            </a:pPr>
            <a:r>
              <a:rPr lang="en-US" sz="2300" b="1" dirty="0">
                <a:latin typeface="Calibri" panose="020F0502020204030204" pitchFamily="34" charset="0"/>
                <a:cs typeface="Calibri" panose="020F0502020204030204" pitchFamily="34" charset="0"/>
              </a:rPr>
              <a:t>ctr</a:t>
            </a:r>
            <a:r>
              <a:rPr lang="en-US" sz="2300" dirty="0">
                <a:latin typeface="Calibri" panose="020F0502020204030204" pitchFamily="34" charset="0"/>
                <a:cs typeface="Calibri" panose="020F0502020204030204" pitchFamily="34" charset="0"/>
              </a:rPr>
              <a:t> is shared variable, checks whether buffer is empty/full</a:t>
            </a:r>
          </a:p>
          <a:p>
            <a:pPr marL="800100" lvl="1" indent="-342900" eaLnBrk="1" fontAlgn="auto" hangingPunct="1">
              <a:spcBef>
                <a:spcPts val="600"/>
              </a:spcBef>
              <a:spcAft>
                <a:spcPts val="0"/>
              </a:spcAft>
              <a:buFont typeface="Arial" panose="020B0604020202020204" pitchFamily="34" charset="0"/>
              <a:buChar char="•"/>
              <a:defRPr/>
            </a:pPr>
            <a:r>
              <a:rPr lang="en-US" sz="2300" b="1" dirty="0">
                <a:latin typeface="Calibri" panose="020F0502020204030204" pitchFamily="34" charset="0"/>
                <a:cs typeface="Calibri" panose="020F0502020204030204" pitchFamily="34" charset="0"/>
              </a:rPr>
              <a:t>ctr</a:t>
            </a:r>
            <a:r>
              <a:rPr lang="en-US" sz="2300" dirty="0">
                <a:latin typeface="Calibri" panose="020F0502020204030204" pitchFamily="34" charset="0"/>
                <a:cs typeface="Calibri" panose="020F0502020204030204" pitchFamily="34" charset="0"/>
              </a:rPr>
              <a:t> is updated by both producer &amp; consumer</a:t>
            </a:r>
          </a:p>
          <a:p>
            <a:pPr marL="342900" indent="-342900" eaLnBrk="1" fontAlgn="auto" hangingPunct="1">
              <a:spcBef>
                <a:spcPts val="2400"/>
              </a:spcBef>
              <a:spcAft>
                <a:spcPts val="0"/>
              </a:spcAft>
              <a:buFont typeface="Wingdings" panose="05000000000000000000" pitchFamily="2" charset="2"/>
              <a:buChar char="§"/>
              <a:defRPr/>
            </a:pPr>
            <a:r>
              <a:rPr lang="en-US" sz="2300" i="1" dirty="0">
                <a:solidFill>
                  <a:srgbClr val="0000CC"/>
                </a:solidFill>
                <a:latin typeface="Calibri" panose="020F0502020204030204" pitchFamily="34" charset="0"/>
                <a:cs typeface="Calibri" panose="020F0502020204030204" pitchFamily="34" charset="0"/>
              </a:rPr>
              <a:t>How can access to shared data result in data inconsistency… </a:t>
            </a:r>
          </a:p>
          <a:p>
            <a:pPr marL="800100" lvl="1" indent="-342900" eaLnBrk="1" fontAlgn="auto" hangingPunct="1">
              <a:spcBef>
                <a:spcPts val="600"/>
              </a:spcBef>
              <a:spcAft>
                <a:spcPts val="0"/>
              </a:spcAft>
              <a:buFont typeface="Arial" panose="020B0604020202020204" pitchFamily="34" charset="0"/>
              <a:buChar char="•"/>
              <a:defRPr/>
            </a:pPr>
            <a:r>
              <a:rPr lang="en-US" sz="2300" dirty="0">
                <a:latin typeface="Calibri" panose="020F0502020204030204" pitchFamily="34" charset="0"/>
                <a:cs typeface="Calibri" panose="020F0502020204030204" pitchFamily="34" charset="0"/>
              </a:rPr>
              <a:t>the instructions  ctr++  &amp;  ctr-- can be written in assembly language as: </a:t>
            </a:r>
            <a:endParaRPr lang="en-US" sz="2300" baseline="0" dirty="0">
              <a:latin typeface="Calibri" panose="020F0502020204030204" pitchFamily="34" charset="0"/>
              <a:cs typeface="Calibri" panose="020F0502020204030204" pitchFamily="34" charset="0"/>
            </a:endParaRPr>
          </a:p>
        </p:txBody>
      </p:sp>
      <p:sp>
        <p:nvSpPr>
          <p:cNvPr id="21" name="Rectangle 3"/>
          <p:cNvSpPr txBox="1">
            <a:spLocks noChangeArrowheads="1"/>
          </p:cNvSpPr>
          <p:nvPr/>
        </p:nvSpPr>
        <p:spPr>
          <a:xfrm>
            <a:off x="5421760" y="4408636"/>
            <a:ext cx="3040150" cy="1965960"/>
          </a:xfrm>
          <a:prstGeom prst="rect">
            <a:avLst/>
          </a:prstGeom>
        </p:spPr>
        <p:txBody>
          <a:bodyPr vert="horz" lIns="91440" tIns="45720" rIns="91440" bIns="45720" rtlCol="0">
            <a:noAutofit/>
          </a:bodyPr>
          <a:lstStyle/>
          <a:p>
            <a:pPr marL="342900" marR="0" lvl="0" indent="-342900" defTabSz="914400" rtl="0" eaLnBrk="1" fontAlgn="auto" latinLnBrk="0" hangingPunct="1">
              <a:spcBef>
                <a:spcPct val="20000"/>
              </a:spcBef>
              <a:spcAft>
                <a:spcPts val="0"/>
              </a:spcAft>
              <a:buClrTx/>
              <a:buSzTx/>
              <a:tabLst/>
              <a:defRPr/>
            </a:pPr>
            <a:r>
              <a:rPr lang="en-US" sz="2300" dirty="0" err="1">
                <a:latin typeface="Comic Sans MS" pitchFamily="66" charset="0"/>
              </a:rPr>
              <a:t>ctr</a:t>
            </a:r>
            <a:r>
              <a:rPr lang="en-US" sz="2300" dirty="0">
                <a:latin typeface="Comic Sans MS" pitchFamily="66" charset="0"/>
              </a:rPr>
              <a:t>--; </a:t>
            </a:r>
          </a:p>
          <a:p>
            <a:pPr marL="342900" marR="0" lvl="0" indent="-342900" algn="l" defTabSz="914400" rtl="0" eaLnBrk="1" fontAlgn="auto" latinLnBrk="0" hangingPunct="1">
              <a:spcBef>
                <a:spcPct val="20000"/>
              </a:spcBef>
              <a:spcAft>
                <a:spcPts val="0"/>
              </a:spcAft>
              <a:buClrTx/>
              <a:buSzTx/>
              <a:tabLst/>
              <a:defRPr/>
            </a:pPr>
            <a:r>
              <a:rPr lang="en-US" sz="2300" dirty="0">
                <a:latin typeface="Comic Sans MS" pitchFamily="66" charset="0"/>
              </a:rPr>
              <a:t>C</a:t>
            </a:r>
            <a:r>
              <a:rPr lang="en-US" sz="2300" baseline="-25000" dirty="0">
                <a:latin typeface="Comic Sans MS" pitchFamily="66" charset="0"/>
              </a:rPr>
              <a:t>1</a:t>
            </a:r>
            <a:r>
              <a:rPr lang="en-US" sz="2300" dirty="0">
                <a:latin typeface="Comic Sans MS" pitchFamily="66" charset="0"/>
              </a:rPr>
              <a:t>:   MOV  R2, </a:t>
            </a:r>
            <a:r>
              <a:rPr lang="en-US" sz="2300" dirty="0" err="1">
                <a:latin typeface="Comic Sans MS" pitchFamily="66" charset="0"/>
              </a:rPr>
              <a:t>ctr</a:t>
            </a:r>
            <a:endParaRPr lang="en-US" sz="2300" dirty="0">
              <a:latin typeface="Comic Sans MS" pitchFamily="66" charset="0"/>
            </a:endParaRPr>
          </a:p>
          <a:p>
            <a:pPr marL="342900" marR="0" lvl="0" indent="-342900" algn="l" defTabSz="914400" rtl="0" eaLnBrk="1" fontAlgn="auto" latinLnBrk="0" hangingPunct="1">
              <a:spcBef>
                <a:spcPct val="20000"/>
              </a:spcBef>
              <a:spcAft>
                <a:spcPts val="0"/>
              </a:spcAft>
              <a:buClrTx/>
              <a:buSzTx/>
              <a:tabLst/>
              <a:defRPr/>
            </a:pPr>
            <a:r>
              <a:rPr lang="en-US" sz="2300" dirty="0">
                <a:latin typeface="Comic Sans MS" pitchFamily="66" charset="0"/>
              </a:rPr>
              <a:t>C</a:t>
            </a:r>
            <a:r>
              <a:rPr lang="en-US" sz="2300" baseline="-25000" dirty="0">
                <a:latin typeface="Comic Sans MS" pitchFamily="66" charset="0"/>
              </a:rPr>
              <a:t>2</a:t>
            </a:r>
            <a:r>
              <a:rPr lang="en-US" sz="2300" dirty="0">
                <a:latin typeface="Comic Sans MS" pitchFamily="66" charset="0"/>
              </a:rPr>
              <a:t>:   DEC   R2</a:t>
            </a:r>
          </a:p>
          <a:p>
            <a:pPr marL="342900" marR="0" lvl="0" indent="-342900" algn="l" defTabSz="914400" rtl="0" eaLnBrk="1" fontAlgn="auto" latinLnBrk="0" hangingPunct="1">
              <a:spcBef>
                <a:spcPct val="20000"/>
              </a:spcBef>
              <a:spcAft>
                <a:spcPts val="0"/>
              </a:spcAft>
              <a:buClrTx/>
              <a:buSzTx/>
              <a:tabLst/>
              <a:defRPr/>
            </a:pPr>
            <a:r>
              <a:rPr lang="en-US" sz="2300" dirty="0">
                <a:latin typeface="Comic Sans MS" pitchFamily="66" charset="0"/>
              </a:rPr>
              <a:t>C</a:t>
            </a:r>
            <a:r>
              <a:rPr lang="en-US" sz="2300" baseline="-25000" dirty="0">
                <a:latin typeface="Comic Sans MS" pitchFamily="66" charset="0"/>
              </a:rPr>
              <a:t>3</a:t>
            </a:r>
            <a:r>
              <a:rPr lang="en-US" sz="2300" dirty="0">
                <a:latin typeface="Comic Sans MS" pitchFamily="66" charset="0"/>
              </a:rPr>
              <a:t>:   MOV  </a:t>
            </a:r>
            <a:r>
              <a:rPr lang="en-US" sz="2300" dirty="0" err="1">
                <a:latin typeface="Comic Sans MS" pitchFamily="66" charset="0"/>
              </a:rPr>
              <a:t>ctr</a:t>
            </a:r>
            <a:r>
              <a:rPr lang="en-US" sz="2300" dirty="0">
                <a:latin typeface="Comic Sans MS" pitchFamily="66" charset="0"/>
              </a:rPr>
              <a:t>, R2</a:t>
            </a:r>
          </a:p>
        </p:txBody>
      </p:sp>
      <p:sp>
        <p:nvSpPr>
          <p:cNvPr id="2" name="Slide Number Placeholder 3">
            <a:extLst>
              <a:ext uri="{FF2B5EF4-FFF2-40B4-BE49-F238E27FC236}">
                <a16:creationId xmlns:a16="http://schemas.microsoft.com/office/drawing/2014/main" id="{1A85452F-30B0-2565-7077-B18A7F191666}"/>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6</a:t>
            </a:fld>
            <a:endParaRPr lang="en-US" altLang="en-US" sz="1400" dirty="0">
              <a:solidFill>
                <a:schemeClr val="tx1"/>
              </a:solidFill>
              <a:latin typeface="Tahoma" panose="020B0604030504040204" pitchFamily="34" charset="0"/>
              <a:ea typeface="MS PGothic" panose="020B0600070205080204" pitchFamily="34" charset="-128"/>
            </a:endParaRPr>
          </a:p>
        </p:txBody>
      </p:sp>
      <p:sp>
        <p:nvSpPr>
          <p:cNvPr id="4" name="Rectangle 2">
            <a:extLst>
              <a:ext uri="{FF2B5EF4-FFF2-40B4-BE49-F238E27FC236}">
                <a16:creationId xmlns:a16="http://schemas.microsoft.com/office/drawing/2014/main" id="{7C52FDE6-C05F-1433-59F7-7F31F0108DC4}"/>
              </a:ext>
            </a:extLst>
          </p:cNvPr>
          <p:cNvSpPr>
            <a:spLocks noGrp="1" noChangeArrowheads="1"/>
          </p:cNvSpPr>
          <p:nvPr>
            <p:ph type="title"/>
          </p:nvPr>
        </p:nvSpPr>
        <p:spPr>
          <a:xfrm>
            <a:off x="1310640" y="210502"/>
            <a:ext cx="7172960" cy="533400"/>
          </a:xfrm>
        </p:spPr>
        <p:txBody>
          <a:bodyPr>
            <a:noAutofit/>
          </a:bodyPr>
          <a:lstStyle/>
          <a:p>
            <a:r>
              <a:rPr lang="en-US" sz="3000" dirty="0"/>
              <a:t>Example 1 - Producer Consumer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6676" name="Picture 4"/>
          <p:cNvPicPr>
            <a:picLocks noChangeAspect="1" noChangeArrowheads="1"/>
          </p:cNvPicPr>
          <p:nvPr/>
        </p:nvPicPr>
        <p:blipFill>
          <a:blip r:embed="rId3"/>
          <a:srcRect/>
          <a:stretch>
            <a:fillRect/>
          </a:stretch>
        </p:blipFill>
        <p:spPr bwMode="auto">
          <a:xfrm>
            <a:off x="4567238" y="3424238"/>
            <a:ext cx="9525" cy="9525"/>
          </a:xfrm>
          <a:prstGeom prst="rect">
            <a:avLst/>
          </a:prstGeom>
          <a:noFill/>
          <a:ln w="9525">
            <a:noFill/>
            <a:miter lim="800000"/>
            <a:headEnd/>
            <a:tailEnd/>
          </a:ln>
          <a:effectLst/>
        </p:spPr>
      </p:pic>
      <p:pic>
        <p:nvPicPr>
          <p:cNvPr id="156677" name="Picture 5"/>
          <p:cNvPicPr>
            <a:picLocks noChangeAspect="1" noChangeArrowheads="1"/>
          </p:cNvPicPr>
          <p:nvPr/>
        </p:nvPicPr>
        <p:blipFill>
          <a:blip r:embed="rId3"/>
          <a:srcRect/>
          <a:stretch>
            <a:fillRect/>
          </a:stretch>
        </p:blipFill>
        <p:spPr bwMode="auto">
          <a:xfrm>
            <a:off x="4567238" y="3424238"/>
            <a:ext cx="9525" cy="9525"/>
          </a:xfrm>
          <a:prstGeom prst="rect">
            <a:avLst/>
          </a:prstGeom>
          <a:noFill/>
          <a:ln w="9525">
            <a:noFill/>
            <a:miter lim="800000"/>
            <a:headEnd/>
            <a:tailEnd/>
          </a:ln>
          <a:effectLst/>
        </p:spPr>
      </p:pic>
      <p:pic>
        <p:nvPicPr>
          <p:cNvPr id="156678" name="Picture 6"/>
          <p:cNvPicPr>
            <a:picLocks noChangeAspect="1" noChangeArrowheads="1"/>
          </p:cNvPicPr>
          <p:nvPr/>
        </p:nvPicPr>
        <p:blipFill>
          <a:blip r:embed="rId3"/>
          <a:srcRect/>
          <a:stretch>
            <a:fillRect/>
          </a:stretch>
        </p:blipFill>
        <p:spPr bwMode="auto">
          <a:xfrm>
            <a:off x="4567238" y="3424238"/>
            <a:ext cx="9525" cy="9525"/>
          </a:xfrm>
          <a:prstGeom prst="rect">
            <a:avLst/>
          </a:prstGeom>
          <a:noFill/>
          <a:ln w="9525">
            <a:noFill/>
            <a:miter lim="800000"/>
            <a:headEnd/>
            <a:tailEnd/>
          </a:ln>
          <a:effectLst/>
        </p:spPr>
      </p:pic>
      <p:sp>
        <p:nvSpPr>
          <p:cNvPr id="14" name="Rectangle 3"/>
          <p:cNvSpPr txBox="1">
            <a:spLocks noChangeArrowheads="1"/>
          </p:cNvSpPr>
          <p:nvPr/>
        </p:nvSpPr>
        <p:spPr>
          <a:xfrm>
            <a:off x="1013690" y="921702"/>
            <a:ext cx="3014750" cy="1371600"/>
          </a:xfrm>
          <a:prstGeom prst="rect">
            <a:avLst/>
          </a:prstGeom>
        </p:spPr>
        <p:txBody>
          <a:bodyPr vert="horz" lIns="91440" tIns="45720" rIns="91440" bIns="45720" rtlCol="0">
            <a:noAutofit/>
          </a:bodyPr>
          <a:lstStyle/>
          <a:p>
            <a:pPr marL="342900" marR="0" lvl="0" indent="-342900" defTabSz="914400" rtl="0" eaLnBrk="1" fontAlgn="auto" latinLnBrk="0" hangingPunct="1">
              <a:spcBef>
                <a:spcPct val="20000"/>
              </a:spcBef>
              <a:spcAft>
                <a:spcPts val="0"/>
              </a:spcAft>
              <a:buClrTx/>
              <a:buSzTx/>
              <a:tabLst/>
              <a:defRPr/>
            </a:pPr>
            <a:r>
              <a:rPr lang="en-US" sz="2400" dirty="0" err="1">
                <a:latin typeface="Comic Sans MS" pitchFamily="66" charset="0"/>
              </a:rPr>
              <a:t>ctr</a:t>
            </a:r>
            <a:r>
              <a:rPr lang="en-US" sz="2400" dirty="0">
                <a:latin typeface="Comic Sans MS" pitchFamily="66" charset="0"/>
              </a:rPr>
              <a:t>++; </a:t>
            </a:r>
          </a:p>
          <a:p>
            <a:pPr marL="342900" marR="0" lvl="0" indent="-342900" algn="l" defTabSz="914400" rtl="0" eaLnBrk="1" fontAlgn="auto" latinLnBrk="0" hangingPunct="1">
              <a:spcBef>
                <a:spcPct val="20000"/>
              </a:spcBef>
              <a:spcAft>
                <a:spcPts val="0"/>
              </a:spcAft>
              <a:buClrTx/>
              <a:buSzTx/>
              <a:tabLst/>
              <a:defRPr/>
            </a:pPr>
            <a:r>
              <a:rPr lang="en-US" sz="1600" dirty="0">
                <a:latin typeface="Comic Sans MS" pitchFamily="66" charset="0"/>
              </a:rPr>
              <a:t>P</a:t>
            </a:r>
            <a:r>
              <a:rPr lang="en-US" sz="1600" baseline="-25000" dirty="0">
                <a:latin typeface="Comic Sans MS" pitchFamily="66" charset="0"/>
              </a:rPr>
              <a:t>1</a:t>
            </a:r>
            <a:r>
              <a:rPr lang="en-US" sz="1600" dirty="0">
                <a:latin typeface="Comic Sans MS" pitchFamily="66" charset="0"/>
              </a:rPr>
              <a:t>:   MOV  R1, </a:t>
            </a:r>
            <a:r>
              <a:rPr lang="en-US" sz="1600" dirty="0" err="1">
                <a:latin typeface="Comic Sans MS" pitchFamily="66" charset="0"/>
              </a:rPr>
              <a:t>ctr</a:t>
            </a:r>
            <a:endParaRPr lang="en-US" sz="1600" dirty="0">
              <a:latin typeface="Comic Sans MS" pitchFamily="66" charset="0"/>
            </a:endParaRPr>
          </a:p>
          <a:p>
            <a:pPr marL="342900" marR="0" lvl="0" indent="-342900" algn="l" defTabSz="914400" rtl="0" eaLnBrk="1" fontAlgn="auto" latinLnBrk="0" hangingPunct="1">
              <a:spcBef>
                <a:spcPct val="20000"/>
              </a:spcBef>
              <a:spcAft>
                <a:spcPts val="0"/>
              </a:spcAft>
              <a:buClrTx/>
              <a:buSzTx/>
              <a:tabLst/>
              <a:defRPr/>
            </a:pPr>
            <a:r>
              <a:rPr lang="en-US" sz="1600" dirty="0">
                <a:latin typeface="Comic Sans MS" pitchFamily="66" charset="0"/>
              </a:rPr>
              <a:t>P</a:t>
            </a:r>
            <a:r>
              <a:rPr lang="en-US" sz="1600" baseline="-25000" dirty="0">
                <a:latin typeface="Comic Sans MS" pitchFamily="66" charset="0"/>
              </a:rPr>
              <a:t>2</a:t>
            </a:r>
            <a:r>
              <a:rPr lang="en-US" sz="1600" dirty="0">
                <a:latin typeface="Comic Sans MS" pitchFamily="66" charset="0"/>
              </a:rPr>
              <a:t>:   INC   R1</a:t>
            </a:r>
          </a:p>
          <a:p>
            <a:pPr marL="342900" marR="0" lvl="0" indent="-342900" algn="l" defTabSz="914400" rtl="0" eaLnBrk="1" fontAlgn="auto" latinLnBrk="0" hangingPunct="1">
              <a:spcBef>
                <a:spcPct val="20000"/>
              </a:spcBef>
              <a:spcAft>
                <a:spcPts val="0"/>
              </a:spcAft>
              <a:buClrTx/>
              <a:buSzTx/>
              <a:tabLst/>
              <a:defRPr/>
            </a:pPr>
            <a:r>
              <a:rPr lang="en-US" sz="1600" dirty="0">
                <a:latin typeface="Comic Sans MS" pitchFamily="66" charset="0"/>
              </a:rPr>
              <a:t>P</a:t>
            </a:r>
            <a:r>
              <a:rPr lang="en-US" sz="1600" baseline="-25000" dirty="0">
                <a:latin typeface="Comic Sans MS" pitchFamily="66" charset="0"/>
              </a:rPr>
              <a:t>3</a:t>
            </a:r>
            <a:r>
              <a:rPr lang="en-US" sz="1600" dirty="0">
                <a:latin typeface="Comic Sans MS" pitchFamily="66" charset="0"/>
              </a:rPr>
              <a:t>:   MOV  </a:t>
            </a:r>
            <a:r>
              <a:rPr lang="en-US" sz="1600" dirty="0" err="1">
                <a:latin typeface="Comic Sans MS" pitchFamily="66" charset="0"/>
              </a:rPr>
              <a:t>ctr</a:t>
            </a:r>
            <a:r>
              <a:rPr lang="en-US" sz="1600" dirty="0">
                <a:latin typeface="Comic Sans MS" pitchFamily="66" charset="0"/>
              </a:rPr>
              <a:t>, R1</a:t>
            </a:r>
          </a:p>
        </p:txBody>
      </p:sp>
      <p:sp>
        <p:nvSpPr>
          <p:cNvPr id="21" name="Rectangle 3"/>
          <p:cNvSpPr txBox="1">
            <a:spLocks noChangeArrowheads="1"/>
          </p:cNvSpPr>
          <p:nvPr/>
        </p:nvSpPr>
        <p:spPr>
          <a:xfrm>
            <a:off x="5574079" y="921702"/>
            <a:ext cx="3014750" cy="1371600"/>
          </a:xfrm>
          <a:prstGeom prst="rect">
            <a:avLst/>
          </a:prstGeom>
        </p:spPr>
        <p:txBody>
          <a:bodyPr vert="horz" lIns="91440" tIns="45720" rIns="91440" bIns="45720" rtlCol="0">
            <a:noAutofit/>
          </a:bodyPr>
          <a:lstStyle/>
          <a:p>
            <a:pPr marL="342900" marR="0" lvl="0" indent="-342900" defTabSz="914400" rtl="0" eaLnBrk="1" fontAlgn="auto" latinLnBrk="0" hangingPunct="1">
              <a:spcBef>
                <a:spcPct val="20000"/>
              </a:spcBef>
              <a:spcAft>
                <a:spcPts val="0"/>
              </a:spcAft>
              <a:buClrTx/>
              <a:buSzTx/>
              <a:tabLst/>
              <a:defRPr/>
            </a:pPr>
            <a:r>
              <a:rPr lang="en-US" sz="2400" dirty="0" err="1">
                <a:latin typeface="Comic Sans MS" pitchFamily="66" charset="0"/>
              </a:rPr>
              <a:t>ctr</a:t>
            </a:r>
            <a:r>
              <a:rPr lang="en-US" sz="2400" dirty="0">
                <a:latin typeface="Comic Sans MS" pitchFamily="66" charset="0"/>
              </a:rPr>
              <a:t>--; </a:t>
            </a:r>
          </a:p>
          <a:p>
            <a:pPr marL="342900" marR="0" lvl="0" indent="-342900" algn="l" defTabSz="914400" rtl="0" eaLnBrk="1" fontAlgn="auto" latinLnBrk="0" hangingPunct="1">
              <a:spcBef>
                <a:spcPct val="20000"/>
              </a:spcBef>
              <a:spcAft>
                <a:spcPts val="0"/>
              </a:spcAft>
              <a:buClrTx/>
              <a:buSzTx/>
              <a:tabLst/>
              <a:defRPr/>
            </a:pPr>
            <a:r>
              <a:rPr lang="en-US" sz="1600" dirty="0">
                <a:latin typeface="Comic Sans MS" pitchFamily="66" charset="0"/>
              </a:rPr>
              <a:t>C</a:t>
            </a:r>
            <a:r>
              <a:rPr lang="en-US" sz="1600" baseline="-25000" dirty="0">
                <a:latin typeface="Comic Sans MS" pitchFamily="66" charset="0"/>
              </a:rPr>
              <a:t>1</a:t>
            </a:r>
            <a:r>
              <a:rPr lang="en-US" sz="1600" dirty="0">
                <a:latin typeface="Comic Sans MS" pitchFamily="66" charset="0"/>
              </a:rPr>
              <a:t>:   MOV  R2, </a:t>
            </a:r>
            <a:r>
              <a:rPr lang="en-US" sz="1600" dirty="0" err="1">
                <a:latin typeface="Comic Sans MS" pitchFamily="66" charset="0"/>
              </a:rPr>
              <a:t>ctr</a:t>
            </a:r>
            <a:endParaRPr lang="en-US" sz="1600" dirty="0">
              <a:latin typeface="Comic Sans MS" pitchFamily="66" charset="0"/>
            </a:endParaRPr>
          </a:p>
          <a:p>
            <a:pPr marL="342900" marR="0" lvl="0" indent="-342900" algn="l" defTabSz="914400" rtl="0" eaLnBrk="1" fontAlgn="auto" latinLnBrk="0" hangingPunct="1">
              <a:spcBef>
                <a:spcPct val="20000"/>
              </a:spcBef>
              <a:spcAft>
                <a:spcPts val="0"/>
              </a:spcAft>
              <a:buClrTx/>
              <a:buSzTx/>
              <a:tabLst/>
              <a:defRPr/>
            </a:pPr>
            <a:r>
              <a:rPr lang="en-US" sz="1600" dirty="0">
                <a:latin typeface="Comic Sans MS" pitchFamily="66" charset="0"/>
              </a:rPr>
              <a:t>C</a:t>
            </a:r>
            <a:r>
              <a:rPr lang="en-US" sz="1600" baseline="-25000" dirty="0">
                <a:latin typeface="Comic Sans MS" pitchFamily="66" charset="0"/>
              </a:rPr>
              <a:t>2</a:t>
            </a:r>
            <a:r>
              <a:rPr lang="en-US" sz="1600" dirty="0">
                <a:latin typeface="Comic Sans MS" pitchFamily="66" charset="0"/>
              </a:rPr>
              <a:t>:   DEC   R2</a:t>
            </a:r>
          </a:p>
          <a:p>
            <a:pPr marL="342900" marR="0" lvl="0" indent="-342900" algn="l" defTabSz="914400" rtl="0" eaLnBrk="1" fontAlgn="auto" latinLnBrk="0" hangingPunct="1">
              <a:spcBef>
                <a:spcPct val="20000"/>
              </a:spcBef>
              <a:spcAft>
                <a:spcPts val="0"/>
              </a:spcAft>
              <a:buClrTx/>
              <a:buSzTx/>
              <a:tabLst/>
              <a:defRPr/>
            </a:pPr>
            <a:r>
              <a:rPr lang="en-US" sz="1600" dirty="0">
                <a:latin typeface="Comic Sans MS" pitchFamily="66" charset="0"/>
              </a:rPr>
              <a:t>C</a:t>
            </a:r>
            <a:r>
              <a:rPr lang="en-US" sz="1600" baseline="-25000" dirty="0">
                <a:latin typeface="Comic Sans MS" pitchFamily="66" charset="0"/>
              </a:rPr>
              <a:t>3</a:t>
            </a:r>
            <a:r>
              <a:rPr lang="en-US" sz="1600" dirty="0">
                <a:latin typeface="Comic Sans MS" pitchFamily="66" charset="0"/>
              </a:rPr>
              <a:t>:   MOV  </a:t>
            </a:r>
            <a:r>
              <a:rPr lang="en-US" sz="1600" dirty="0" err="1">
                <a:latin typeface="Comic Sans MS" pitchFamily="66" charset="0"/>
              </a:rPr>
              <a:t>ctr</a:t>
            </a:r>
            <a:r>
              <a:rPr lang="en-US" sz="1600" dirty="0">
                <a:latin typeface="Comic Sans MS" pitchFamily="66" charset="0"/>
              </a:rPr>
              <a:t>, R2</a:t>
            </a:r>
          </a:p>
        </p:txBody>
      </p:sp>
      <p:sp>
        <p:nvSpPr>
          <p:cNvPr id="22" name="Rectangle 3"/>
          <p:cNvSpPr txBox="1">
            <a:spLocks noChangeArrowheads="1"/>
          </p:cNvSpPr>
          <p:nvPr/>
        </p:nvSpPr>
        <p:spPr>
          <a:xfrm>
            <a:off x="338050" y="2430462"/>
            <a:ext cx="8684756" cy="4254818"/>
          </a:xfrm>
          <a:prstGeom prst="rect">
            <a:avLst/>
          </a:prstGeom>
        </p:spPr>
        <p:txBody>
          <a:bodyPr vert="horz" lIns="91440" tIns="45720" rIns="91440" bIns="45720" rtlCol="0">
            <a:noAutofit/>
          </a:bodyPr>
          <a:lstStyle/>
          <a:p>
            <a:pPr marL="342900" indent="-342900" eaLnBrk="1" fontAlgn="auto" hangingPunct="1">
              <a:spcBef>
                <a:spcPct val="20000"/>
              </a:spcBef>
              <a:spcAft>
                <a:spcPts val="0"/>
              </a:spcAft>
              <a:buFont typeface="Wingdings" panose="05000000000000000000" pitchFamily="2" charset="2"/>
              <a:buChar char="§"/>
              <a:defRPr/>
            </a:pPr>
            <a:r>
              <a:rPr lang="en-US" sz="2300" dirty="0">
                <a:latin typeface="Calibri" panose="020F0502020204030204" pitchFamily="34" charset="0"/>
                <a:cs typeface="Calibri" panose="020F0502020204030204" pitchFamily="34" charset="0"/>
              </a:rPr>
              <a:t>Assume value of </a:t>
            </a:r>
            <a:r>
              <a:rPr lang="en-US" sz="2300" b="1" dirty="0">
                <a:solidFill>
                  <a:srgbClr val="FF0000"/>
                </a:solidFill>
                <a:latin typeface="Calibri" panose="020F0502020204030204" pitchFamily="34" charset="0"/>
                <a:cs typeface="Calibri" panose="020F0502020204030204" pitchFamily="34" charset="0"/>
              </a:rPr>
              <a:t>ctr</a:t>
            </a:r>
            <a:r>
              <a:rPr lang="en-US" sz="2300" dirty="0">
                <a:latin typeface="Calibri" panose="020F0502020204030204" pitchFamily="34" charset="0"/>
                <a:cs typeface="Calibri" panose="020F0502020204030204" pitchFamily="34" charset="0"/>
              </a:rPr>
              <a:t> is initially </a:t>
            </a:r>
            <a:r>
              <a:rPr lang="en-US" sz="2300" b="1" dirty="0">
                <a:solidFill>
                  <a:srgbClr val="FF0000"/>
                </a:solidFill>
                <a:latin typeface="Calibri" panose="020F0502020204030204" pitchFamily="34" charset="0"/>
                <a:cs typeface="Calibri" panose="020F0502020204030204" pitchFamily="34" charset="0"/>
              </a:rPr>
              <a:t>4</a:t>
            </a:r>
            <a:r>
              <a:rPr lang="en-US" sz="2300" dirty="0">
                <a:latin typeface="Calibri" panose="020F0502020204030204" pitchFamily="34" charset="0"/>
                <a:cs typeface="Calibri" panose="020F0502020204030204" pitchFamily="34" charset="0"/>
              </a:rPr>
              <a:t> </a:t>
            </a:r>
          </a:p>
          <a:p>
            <a:pPr marL="342900" marR="0" lvl="0" indent="-342900" algn="l" defTabSz="914400" rtl="0" eaLnBrk="1" fontAlgn="auto" latinLnBrk="0" hangingPunct="1">
              <a:spcBef>
                <a:spcPct val="20000"/>
              </a:spcBef>
              <a:spcAft>
                <a:spcPts val="0"/>
              </a:spcAft>
              <a:buClrTx/>
              <a:buSzTx/>
              <a:buFont typeface="Wingdings" panose="05000000000000000000" pitchFamily="2" charset="2"/>
              <a:buChar char="§"/>
              <a:tabLst/>
              <a:defRPr/>
            </a:pPr>
            <a:r>
              <a:rPr lang="en-US" sz="2300" dirty="0">
                <a:latin typeface="Calibri" panose="020F0502020204030204" pitchFamily="34" charset="0"/>
                <a:cs typeface="Calibri" panose="020F0502020204030204" pitchFamily="34" charset="0"/>
              </a:rPr>
              <a:t>If instructions execute concurrently, they may interleave</a:t>
            </a:r>
          </a:p>
          <a:p>
            <a:pPr marL="342900" marR="0" lvl="0" indent="-342900" algn="l" defTabSz="914400" rtl="0" eaLnBrk="1" fontAlgn="auto" latinLnBrk="0" hangingPunct="1">
              <a:spcBef>
                <a:spcPts val="1200"/>
              </a:spcBef>
              <a:spcAft>
                <a:spcPts val="0"/>
              </a:spcAft>
              <a:buClrTx/>
              <a:buSzTx/>
              <a:buFont typeface="Wingdings" panose="05000000000000000000" pitchFamily="2" charset="2"/>
              <a:buChar char="§"/>
              <a:tabLst/>
              <a:defRPr/>
            </a:pPr>
            <a:r>
              <a:rPr lang="en-US" sz="2300" dirty="0">
                <a:latin typeface="Calibri" panose="020F0502020204030204" pitchFamily="34" charset="0"/>
                <a:cs typeface="Calibri" panose="020F0502020204030204" pitchFamily="34" charset="0"/>
              </a:rPr>
              <a:t>Final value of </a:t>
            </a:r>
            <a:r>
              <a:rPr lang="en-US" sz="2300" b="1" dirty="0">
                <a:solidFill>
                  <a:srgbClr val="FF0000"/>
                </a:solidFill>
                <a:latin typeface="Calibri" panose="020F0502020204030204" pitchFamily="34" charset="0"/>
                <a:cs typeface="Calibri" panose="020F0502020204030204" pitchFamily="34" charset="0"/>
              </a:rPr>
              <a:t>ctr</a:t>
            </a:r>
            <a:r>
              <a:rPr lang="en-US" sz="2300" dirty="0">
                <a:latin typeface="Calibri" panose="020F0502020204030204" pitchFamily="34" charset="0"/>
                <a:cs typeface="Calibri" panose="020F0502020204030204" pitchFamily="34" charset="0"/>
              </a:rPr>
              <a:t> for various </a:t>
            </a:r>
            <a:r>
              <a:rPr lang="en-US" sz="2300" b="1" dirty="0">
                <a:solidFill>
                  <a:srgbClr val="FF0000"/>
                </a:solidFill>
                <a:latin typeface="Calibri" panose="020F0502020204030204" pitchFamily="34" charset="0"/>
                <a:cs typeface="Calibri" panose="020F0502020204030204" pitchFamily="34" charset="0"/>
              </a:rPr>
              <a:t>interleave sequences </a:t>
            </a:r>
            <a:r>
              <a:rPr lang="en-US" sz="2300" dirty="0">
                <a:latin typeface="Calibri" panose="020F0502020204030204" pitchFamily="34" charset="0"/>
                <a:cs typeface="Calibri" panose="020F0502020204030204" pitchFamily="34" charset="0"/>
              </a:rPr>
              <a:t>would be…</a:t>
            </a:r>
          </a:p>
          <a:p>
            <a:pPr marL="741363" lvl="1" indent="-284163">
              <a:spcBef>
                <a:spcPts val="1200"/>
              </a:spcBef>
              <a:buFont typeface="Arial" pitchFamily="34" charset="0"/>
              <a:buChar char="•"/>
              <a:defRPr/>
            </a:pPr>
            <a:r>
              <a:rPr lang="en-US" sz="2200" dirty="0">
                <a:latin typeface="Calibri" panose="020F0502020204030204" pitchFamily="34" charset="0"/>
                <a:cs typeface="Calibri" panose="020F0502020204030204" pitchFamily="34" charset="0"/>
              </a:rPr>
              <a:t>1st possible sequence:  	  </a:t>
            </a:r>
            <a:r>
              <a:rPr lang="en-US" sz="2200" dirty="0">
                <a:solidFill>
                  <a:srgbClr val="0000CC"/>
                </a:solidFill>
                <a:latin typeface="Calibri" panose="020F0502020204030204" pitchFamily="34" charset="0"/>
                <a:cs typeface="Calibri" panose="020F0502020204030204" pitchFamily="34" charset="0"/>
              </a:rPr>
              <a:t>P</a:t>
            </a:r>
            <a:r>
              <a:rPr lang="en-US" sz="2200" baseline="-25000" dirty="0">
                <a:solidFill>
                  <a:srgbClr val="0000CC"/>
                </a:solidFill>
                <a:latin typeface="Calibri" panose="020F0502020204030204" pitchFamily="34" charset="0"/>
                <a:cs typeface="Calibri" panose="020F0502020204030204" pitchFamily="34" charset="0"/>
              </a:rPr>
              <a:t>1</a:t>
            </a:r>
            <a:r>
              <a:rPr lang="en-US" sz="2200" dirty="0">
                <a:solidFill>
                  <a:srgbClr val="0000CC"/>
                </a:solidFill>
                <a:latin typeface="Calibri" panose="020F0502020204030204" pitchFamily="34" charset="0"/>
                <a:cs typeface="Calibri" panose="020F0502020204030204" pitchFamily="34" charset="0"/>
              </a:rPr>
              <a:t>, P</a:t>
            </a:r>
            <a:r>
              <a:rPr lang="en-US" sz="2200" baseline="-25000" dirty="0">
                <a:solidFill>
                  <a:srgbClr val="0000CC"/>
                </a:solidFill>
                <a:latin typeface="Calibri" panose="020F0502020204030204" pitchFamily="34" charset="0"/>
                <a:cs typeface="Calibri" panose="020F0502020204030204" pitchFamily="34" charset="0"/>
              </a:rPr>
              <a:t>2</a:t>
            </a:r>
            <a:r>
              <a:rPr lang="en-US" sz="2200" dirty="0">
                <a:solidFill>
                  <a:srgbClr val="0000CC"/>
                </a:solidFill>
                <a:latin typeface="Calibri" panose="020F0502020204030204" pitchFamily="34" charset="0"/>
                <a:cs typeface="Calibri" panose="020F0502020204030204" pitchFamily="34" charset="0"/>
              </a:rPr>
              <a:t> ,</a:t>
            </a:r>
            <a:r>
              <a:rPr lang="en-US" sz="2200" baseline="-25000" dirty="0">
                <a:solidFill>
                  <a:srgbClr val="0000CC"/>
                </a:solidFill>
                <a:latin typeface="Calibri" panose="020F0502020204030204" pitchFamily="34" charset="0"/>
                <a:cs typeface="Calibri" panose="020F0502020204030204" pitchFamily="34" charset="0"/>
              </a:rPr>
              <a:t> </a:t>
            </a:r>
            <a:r>
              <a:rPr lang="en-US" sz="2200" dirty="0">
                <a:solidFill>
                  <a:srgbClr val="0000CC"/>
                </a:solidFill>
                <a:latin typeface="Calibri" panose="020F0502020204030204" pitchFamily="34" charset="0"/>
                <a:cs typeface="Calibri" panose="020F0502020204030204" pitchFamily="34" charset="0"/>
              </a:rPr>
              <a:t>C</a:t>
            </a:r>
            <a:r>
              <a:rPr lang="en-US" sz="2200" baseline="-25000" dirty="0">
                <a:solidFill>
                  <a:srgbClr val="0000CC"/>
                </a:solidFill>
                <a:latin typeface="Calibri" panose="020F0502020204030204" pitchFamily="34" charset="0"/>
                <a:cs typeface="Calibri" panose="020F0502020204030204" pitchFamily="34" charset="0"/>
              </a:rPr>
              <a:t>1</a:t>
            </a:r>
            <a:r>
              <a:rPr lang="en-US" sz="2200" dirty="0">
                <a:solidFill>
                  <a:srgbClr val="0000CC"/>
                </a:solidFill>
                <a:latin typeface="Calibri" panose="020F0502020204030204" pitchFamily="34" charset="0"/>
                <a:cs typeface="Calibri" panose="020F0502020204030204" pitchFamily="34" charset="0"/>
              </a:rPr>
              <a:t>, C</a:t>
            </a:r>
            <a:r>
              <a:rPr lang="en-US" sz="2200" baseline="-25000" dirty="0">
                <a:solidFill>
                  <a:srgbClr val="0000CC"/>
                </a:solidFill>
                <a:latin typeface="Calibri" panose="020F0502020204030204" pitchFamily="34" charset="0"/>
                <a:cs typeface="Calibri" panose="020F0502020204030204" pitchFamily="34" charset="0"/>
              </a:rPr>
              <a:t>2</a:t>
            </a:r>
            <a:r>
              <a:rPr lang="en-US" sz="2200" dirty="0">
                <a:solidFill>
                  <a:srgbClr val="0000CC"/>
                </a:solidFill>
                <a:latin typeface="Calibri" panose="020F0502020204030204" pitchFamily="34" charset="0"/>
                <a:cs typeface="Calibri" panose="020F0502020204030204" pitchFamily="34" charset="0"/>
              </a:rPr>
              <a:t>, P</a:t>
            </a:r>
            <a:r>
              <a:rPr lang="en-US" sz="2200" baseline="-25000" dirty="0">
                <a:solidFill>
                  <a:srgbClr val="0000CC"/>
                </a:solidFill>
                <a:latin typeface="Calibri" panose="020F0502020204030204" pitchFamily="34" charset="0"/>
                <a:cs typeface="Calibri" panose="020F0502020204030204" pitchFamily="34" charset="0"/>
              </a:rPr>
              <a:t>3</a:t>
            </a:r>
            <a:r>
              <a:rPr lang="en-US" sz="2200" dirty="0">
                <a:solidFill>
                  <a:srgbClr val="0000CC"/>
                </a:solidFill>
                <a:latin typeface="Calibri" panose="020F0502020204030204" pitchFamily="34" charset="0"/>
                <a:cs typeface="Calibri" panose="020F0502020204030204" pitchFamily="34" charset="0"/>
              </a:rPr>
              <a:t> , C</a:t>
            </a:r>
            <a:r>
              <a:rPr lang="en-US" sz="2200" baseline="-25000" dirty="0">
                <a:solidFill>
                  <a:srgbClr val="0000CC"/>
                </a:solidFill>
                <a:latin typeface="Calibri" panose="020F0502020204030204" pitchFamily="34" charset="0"/>
                <a:cs typeface="Calibri" panose="020F0502020204030204" pitchFamily="34" charset="0"/>
              </a:rPr>
              <a:t>3</a:t>
            </a:r>
            <a:br>
              <a:rPr lang="en-US" sz="2200" dirty="0">
                <a:latin typeface="Calibri" panose="020F0502020204030204" pitchFamily="34" charset="0"/>
                <a:cs typeface="Calibri" panose="020F0502020204030204" pitchFamily="34" charset="0"/>
              </a:rPr>
            </a:br>
            <a:r>
              <a:rPr lang="en-US" sz="2200" dirty="0">
                <a:latin typeface="Calibri" panose="020F0502020204030204" pitchFamily="34" charset="0"/>
                <a:cs typeface="Calibri" panose="020F0502020204030204" pitchFamily="34" charset="0"/>
              </a:rPr>
              <a:t>final value of ctr is 3, whereas actual result should be 4</a:t>
            </a:r>
          </a:p>
          <a:p>
            <a:pPr marL="741363" lvl="1" indent="-284163">
              <a:spcBef>
                <a:spcPts val="1200"/>
              </a:spcBef>
              <a:buFont typeface="Arial" pitchFamily="34" charset="0"/>
              <a:buChar char="•"/>
              <a:defRPr/>
            </a:pPr>
            <a:r>
              <a:rPr lang="en-US" sz="2200" dirty="0">
                <a:latin typeface="Calibri" panose="020F0502020204030204" pitchFamily="34" charset="0"/>
                <a:cs typeface="Calibri" panose="020F0502020204030204" pitchFamily="34" charset="0"/>
              </a:rPr>
              <a:t>2nd interleave sequence:    </a:t>
            </a:r>
            <a:r>
              <a:rPr lang="en-US" sz="2200" dirty="0">
                <a:solidFill>
                  <a:srgbClr val="0000CC"/>
                </a:solidFill>
                <a:latin typeface="Calibri" panose="020F0502020204030204" pitchFamily="34" charset="0"/>
                <a:cs typeface="Calibri" panose="020F0502020204030204" pitchFamily="34" charset="0"/>
              </a:rPr>
              <a:t>P</a:t>
            </a:r>
            <a:r>
              <a:rPr lang="en-US" sz="2200" baseline="-25000" dirty="0">
                <a:solidFill>
                  <a:srgbClr val="0000CC"/>
                </a:solidFill>
                <a:latin typeface="Calibri" panose="020F0502020204030204" pitchFamily="34" charset="0"/>
                <a:cs typeface="Calibri" panose="020F0502020204030204" pitchFamily="34" charset="0"/>
              </a:rPr>
              <a:t>1</a:t>
            </a:r>
            <a:r>
              <a:rPr lang="en-US" sz="2200" dirty="0">
                <a:solidFill>
                  <a:srgbClr val="0000CC"/>
                </a:solidFill>
                <a:latin typeface="Calibri" panose="020F0502020204030204" pitchFamily="34" charset="0"/>
                <a:cs typeface="Calibri" panose="020F0502020204030204" pitchFamily="34" charset="0"/>
              </a:rPr>
              <a:t>, P</a:t>
            </a:r>
            <a:r>
              <a:rPr lang="en-US" sz="2200" baseline="-25000" dirty="0">
                <a:solidFill>
                  <a:srgbClr val="0000CC"/>
                </a:solidFill>
                <a:latin typeface="Calibri" panose="020F0502020204030204" pitchFamily="34" charset="0"/>
                <a:cs typeface="Calibri" panose="020F0502020204030204" pitchFamily="34" charset="0"/>
              </a:rPr>
              <a:t>2</a:t>
            </a:r>
            <a:r>
              <a:rPr lang="en-US" sz="2200" dirty="0">
                <a:solidFill>
                  <a:srgbClr val="0000CC"/>
                </a:solidFill>
                <a:latin typeface="Calibri" panose="020F0502020204030204" pitchFamily="34" charset="0"/>
                <a:cs typeface="Calibri" panose="020F0502020204030204" pitchFamily="34" charset="0"/>
              </a:rPr>
              <a:t> ,</a:t>
            </a:r>
            <a:r>
              <a:rPr lang="en-US" sz="2200" baseline="-25000" dirty="0">
                <a:solidFill>
                  <a:srgbClr val="0000CC"/>
                </a:solidFill>
                <a:latin typeface="Calibri" panose="020F0502020204030204" pitchFamily="34" charset="0"/>
                <a:cs typeface="Calibri" panose="020F0502020204030204" pitchFamily="34" charset="0"/>
              </a:rPr>
              <a:t> </a:t>
            </a:r>
            <a:r>
              <a:rPr lang="en-US" sz="2200" dirty="0">
                <a:solidFill>
                  <a:srgbClr val="0000CC"/>
                </a:solidFill>
                <a:latin typeface="Calibri" panose="020F0502020204030204" pitchFamily="34" charset="0"/>
                <a:cs typeface="Calibri" panose="020F0502020204030204" pitchFamily="34" charset="0"/>
              </a:rPr>
              <a:t>C</a:t>
            </a:r>
            <a:r>
              <a:rPr lang="en-US" sz="2200" baseline="-25000" dirty="0">
                <a:solidFill>
                  <a:srgbClr val="0000CC"/>
                </a:solidFill>
                <a:latin typeface="Calibri" panose="020F0502020204030204" pitchFamily="34" charset="0"/>
                <a:cs typeface="Calibri" panose="020F0502020204030204" pitchFamily="34" charset="0"/>
              </a:rPr>
              <a:t>1</a:t>
            </a:r>
            <a:r>
              <a:rPr lang="en-US" sz="2200" dirty="0">
                <a:solidFill>
                  <a:srgbClr val="0000CC"/>
                </a:solidFill>
                <a:latin typeface="Calibri" panose="020F0502020204030204" pitchFamily="34" charset="0"/>
                <a:cs typeface="Calibri" panose="020F0502020204030204" pitchFamily="34" charset="0"/>
              </a:rPr>
              <a:t>, C</a:t>
            </a:r>
            <a:r>
              <a:rPr lang="en-US" sz="2200" baseline="-25000" dirty="0">
                <a:solidFill>
                  <a:srgbClr val="0000CC"/>
                </a:solidFill>
                <a:latin typeface="Calibri" panose="020F0502020204030204" pitchFamily="34" charset="0"/>
                <a:cs typeface="Calibri" panose="020F0502020204030204" pitchFamily="34" charset="0"/>
              </a:rPr>
              <a:t>2</a:t>
            </a:r>
            <a:r>
              <a:rPr lang="en-US" sz="2200" dirty="0">
                <a:solidFill>
                  <a:srgbClr val="0000CC"/>
                </a:solidFill>
                <a:latin typeface="Calibri" panose="020F0502020204030204" pitchFamily="34" charset="0"/>
                <a:cs typeface="Calibri" panose="020F0502020204030204" pitchFamily="34" charset="0"/>
              </a:rPr>
              <a:t>, C</a:t>
            </a:r>
            <a:r>
              <a:rPr lang="en-US" sz="2200" baseline="-25000" dirty="0">
                <a:solidFill>
                  <a:srgbClr val="0000CC"/>
                </a:solidFill>
                <a:latin typeface="Calibri" panose="020F0502020204030204" pitchFamily="34" charset="0"/>
                <a:cs typeface="Calibri" panose="020F0502020204030204" pitchFamily="34" charset="0"/>
              </a:rPr>
              <a:t>3 </a:t>
            </a:r>
            <a:r>
              <a:rPr lang="en-US" sz="2200" dirty="0">
                <a:solidFill>
                  <a:srgbClr val="0000CC"/>
                </a:solidFill>
                <a:latin typeface="Calibri" panose="020F0502020204030204" pitchFamily="34" charset="0"/>
                <a:cs typeface="Calibri" panose="020F0502020204030204" pitchFamily="34" charset="0"/>
              </a:rPr>
              <a:t>, P</a:t>
            </a:r>
            <a:r>
              <a:rPr lang="en-US" sz="2200" baseline="-25000" dirty="0">
                <a:solidFill>
                  <a:srgbClr val="0000CC"/>
                </a:solidFill>
                <a:latin typeface="Calibri" panose="020F0502020204030204" pitchFamily="34" charset="0"/>
                <a:cs typeface="Calibri" panose="020F0502020204030204" pitchFamily="34" charset="0"/>
              </a:rPr>
              <a:t>3</a:t>
            </a:r>
            <a:r>
              <a:rPr lang="en-US" sz="2200" dirty="0">
                <a:solidFill>
                  <a:srgbClr val="0000CC"/>
                </a:solidFill>
                <a:latin typeface="Calibri" panose="020F0502020204030204" pitchFamily="34" charset="0"/>
                <a:cs typeface="Calibri" panose="020F0502020204030204" pitchFamily="34" charset="0"/>
              </a:rPr>
              <a:t>    </a:t>
            </a:r>
            <a:br>
              <a:rPr lang="en-US" sz="2200" dirty="0">
                <a:latin typeface="Calibri" panose="020F0502020204030204" pitchFamily="34" charset="0"/>
                <a:cs typeface="Calibri" panose="020F0502020204030204" pitchFamily="34" charset="0"/>
              </a:rPr>
            </a:br>
            <a:r>
              <a:rPr lang="en-US" sz="2200" dirty="0">
                <a:latin typeface="Calibri" panose="020F0502020204030204" pitchFamily="34" charset="0"/>
                <a:cs typeface="Calibri" panose="020F0502020204030204" pitchFamily="34" charset="0"/>
              </a:rPr>
              <a:t>what is final result? </a:t>
            </a:r>
          </a:p>
          <a:p>
            <a:pPr>
              <a:spcBef>
                <a:spcPts val="1200"/>
              </a:spcBef>
              <a:defRPr/>
            </a:pPr>
            <a:r>
              <a:rPr lang="en-US" sz="2400" dirty="0">
                <a:latin typeface="Calibri" panose="020F0502020204030204" pitchFamily="34" charset="0"/>
                <a:cs typeface="Calibri" panose="020F0502020204030204" pitchFamily="34" charset="0"/>
              </a:rPr>
              <a:t>		</a:t>
            </a:r>
            <a:r>
              <a:rPr lang="en-US" sz="2200" dirty="0">
                <a:latin typeface="Calibri" panose="020F0502020204030204" pitchFamily="34" charset="0"/>
                <a:cs typeface="Calibri" panose="020F0502020204030204" pitchFamily="34" charset="0"/>
              </a:rPr>
              <a:t>if </a:t>
            </a:r>
            <a:r>
              <a:rPr lang="en-US" sz="2200" dirty="0">
                <a:solidFill>
                  <a:srgbClr val="0000CC"/>
                </a:solidFill>
                <a:latin typeface="Calibri" panose="020F0502020204030204" pitchFamily="34" charset="0"/>
                <a:cs typeface="Calibri" panose="020F0502020204030204" pitchFamily="34" charset="0"/>
              </a:rPr>
              <a:t>Consumer</a:t>
            </a:r>
            <a:r>
              <a:rPr lang="en-US" sz="2200" dirty="0">
                <a:latin typeface="Calibri" panose="020F0502020204030204" pitchFamily="34" charset="0"/>
                <a:cs typeface="Calibri" panose="020F0502020204030204" pitchFamily="34" charset="0"/>
              </a:rPr>
              <a:t> runs last 	-&gt;  </a:t>
            </a:r>
            <a:r>
              <a:rPr lang="en-US" sz="2200" dirty="0">
                <a:solidFill>
                  <a:srgbClr val="0000CC"/>
                </a:solidFill>
                <a:latin typeface="Calibri" panose="020F0502020204030204" pitchFamily="34" charset="0"/>
                <a:cs typeface="Calibri" panose="020F0502020204030204" pitchFamily="34" charset="0"/>
              </a:rPr>
              <a:t>ctr = 3 </a:t>
            </a:r>
          </a:p>
          <a:p>
            <a:pPr>
              <a:spcBef>
                <a:spcPct val="20000"/>
              </a:spcBef>
              <a:defRPr/>
            </a:pPr>
            <a:r>
              <a:rPr lang="en-US" sz="2200" dirty="0">
                <a:latin typeface="Calibri" panose="020F0502020204030204" pitchFamily="34" charset="0"/>
                <a:cs typeface="Calibri" panose="020F0502020204030204" pitchFamily="34" charset="0"/>
              </a:rPr>
              <a:t>		if </a:t>
            </a:r>
            <a:r>
              <a:rPr lang="en-US" sz="2200" dirty="0">
                <a:solidFill>
                  <a:srgbClr val="0000CC"/>
                </a:solidFill>
                <a:latin typeface="Calibri" panose="020F0502020204030204" pitchFamily="34" charset="0"/>
                <a:cs typeface="Calibri" panose="020F0502020204030204" pitchFamily="34" charset="0"/>
              </a:rPr>
              <a:t>Producer</a:t>
            </a:r>
            <a:r>
              <a:rPr lang="en-US" sz="2200" dirty="0">
                <a:latin typeface="Calibri" panose="020F0502020204030204" pitchFamily="34" charset="0"/>
                <a:cs typeface="Calibri" panose="020F0502020204030204" pitchFamily="34" charset="0"/>
              </a:rPr>
              <a:t> runs last 	-&gt;  </a:t>
            </a:r>
            <a:r>
              <a:rPr lang="en-US" sz="2200" dirty="0">
                <a:solidFill>
                  <a:srgbClr val="0000CC"/>
                </a:solidFill>
                <a:latin typeface="Calibri" panose="020F0502020204030204" pitchFamily="34" charset="0"/>
                <a:cs typeface="Calibri" panose="020F0502020204030204" pitchFamily="34" charset="0"/>
              </a:rPr>
              <a:t>ctr = 5</a:t>
            </a:r>
          </a:p>
        </p:txBody>
      </p:sp>
      <p:sp>
        <p:nvSpPr>
          <p:cNvPr id="2" name="Slide Number Placeholder 3">
            <a:extLst>
              <a:ext uri="{FF2B5EF4-FFF2-40B4-BE49-F238E27FC236}">
                <a16:creationId xmlns:a16="http://schemas.microsoft.com/office/drawing/2014/main" id="{1A85452F-30B0-2565-7077-B18A7F191666}"/>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7</a:t>
            </a:fld>
            <a:endParaRPr lang="en-US" altLang="en-US" sz="1400" dirty="0">
              <a:solidFill>
                <a:schemeClr val="tx1"/>
              </a:solidFill>
              <a:latin typeface="Tahoma" panose="020B0604030504040204" pitchFamily="34" charset="0"/>
              <a:ea typeface="MS PGothic" panose="020B0600070205080204" pitchFamily="34" charset="-128"/>
            </a:endParaRPr>
          </a:p>
        </p:txBody>
      </p:sp>
      <p:sp>
        <p:nvSpPr>
          <p:cNvPr id="6" name="Rectangle 2">
            <a:extLst>
              <a:ext uri="{FF2B5EF4-FFF2-40B4-BE49-F238E27FC236}">
                <a16:creationId xmlns:a16="http://schemas.microsoft.com/office/drawing/2014/main" id="{2475995E-0BA9-5B7C-C5F0-4CCA2EA52B34}"/>
              </a:ext>
            </a:extLst>
          </p:cNvPr>
          <p:cNvSpPr>
            <a:spLocks noGrp="1" noChangeArrowheads="1"/>
          </p:cNvSpPr>
          <p:nvPr>
            <p:ph type="title"/>
          </p:nvPr>
        </p:nvSpPr>
        <p:spPr>
          <a:xfrm>
            <a:off x="1310640" y="210502"/>
            <a:ext cx="7172960" cy="533400"/>
          </a:xfrm>
        </p:spPr>
        <p:txBody>
          <a:bodyPr>
            <a:noAutofit/>
          </a:bodyPr>
          <a:lstStyle/>
          <a:p>
            <a:r>
              <a:rPr lang="en-US" sz="3000" dirty="0"/>
              <a:t>Example 1 - Producer Consumer</a:t>
            </a:r>
          </a:p>
        </p:txBody>
      </p:sp>
    </p:spTree>
    <p:extLst>
      <p:ext uri="{BB962C8B-B14F-4D97-AF65-F5344CB8AC3E}">
        <p14:creationId xmlns:p14="http://schemas.microsoft.com/office/powerpoint/2010/main" val="1306080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a:xfrm>
            <a:off x="934720" y="213360"/>
            <a:ext cx="8168640" cy="533400"/>
          </a:xfrm>
        </p:spPr>
        <p:txBody>
          <a:bodyPr>
            <a:noAutofit/>
          </a:bodyPr>
          <a:lstStyle/>
          <a:p>
            <a:r>
              <a:rPr lang="en-US" sz="3000" dirty="0"/>
              <a:t>Example 2 - Deposit &amp; Withdrawal</a:t>
            </a:r>
          </a:p>
        </p:txBody>
      </p:sp>
      <p:pic>
        <p:nvPicPr>
          <p:cNvPr id="156676" name="Picture 4"/>
          <p:cNvPicPr>
            <a:picLocks noChangeAspect="1" noChangeArrowheads="1"/>
          </p:cNvPicPr>
          <p:nvPr/>
        </p:nvPicPr>
        <p:blipFill>
          <a:blip r:embed="rId3"/>
          <a:srcRect/>
          <a:stretch>
            <a:fillRect/>
          </a:stretch>
        </p:blipFill>
        <p:spPr bwMode="auto">
          <a:xfrm>
            <a:off x="4567238" y="3424238"/>
            <a:ext cx="9525" cy="9525"/>
          </a:xfrm>
          <a:prstGeom prst="rect">
            <a:avLst/>
          </a:prstGeom>
          <a:noFill/>
          <a:ln w="9525">
            <a:noFill/>
            <a:miter lim="800000"/>
            <a:headEnd/>
            <a:tailEnd/>
          </a:ln>
          <a:effectLst/>
        </p:spPr>
      </p:pic>
      <p:pic>
        <p:nvPicPr>
          <p:cNvPr id="156677" name="Picture 5"/>
          <p:cNvPicPr>
            <a:picLocks noChangeAspect="1" noChangeArrowheads="1"/>
          </p:cNvPicPr>
          <p:nvPr/>
        </p:nvPicPr>
        <p:blipFill>
          <a:blip r:embed="rId3"/>
          <a:srcRect/>
          <a:stretch>
            <a:fillRect/>
          </a:stretch>
        </p:blipFill>
        <p:spPr bwMode="auto">
          <a:xfrm>
            <a:off x="4567238" y="3424238"/>
            <a:ext cx="9525" cy="9525"/>
          </a:xfrm>
          <a:prstGeom prst="rect">
            <a:avLst/>
          </a:prstGeom>
          <a:noFill/>
          <a:ln w="9525">
            <a:noFill/>
            <a:miter lim="800000"/>
            <a:headEnd/>
            <a:tailEnd/>
          </a:ln>
          <a:effectLst/>
        </p:spPr>
      </p:pic>
      <p:pic>
        <p:nvPicPr>
          <p:cNvPr id="156678" name="Picture 6"/>
          <p:cNvPicPr>
            <a:picLocks noChangeAspect="1" noChangeArrowheads="1"/>
          </p:cNvPicPr>
          <p:nvPr/>
        </p:nvPicPr>
        <p:blipFill>
          <a:blip r:embed="rId3"/>
          <a:srcRect/>
          <a:stretch>
            <a:fillRect/>
          </a:stretch>
        </p:blipFill>
        <p:spPr bwMode="auto">
          <a:xfrm>
            <a:off x="4567238" y="3424238"/>
            <a:ext cx="9525" cy="9525"/>
          </a:xfrm>
          <a:prstGeom prst="rect">
            <a:avLst/>
          </a:prstGeom>
          <a:noFill/>
          <a:ln w="9525">
            <a:noFill/>
            <a:miter lim="800000"/>
            <a:headEnd/>
            <a:tailEnd/>
          </a:ln>
          <a:effectLst/>
        </p:spPr>
      </p:pic>
      <p:sp>
        <p:nvSpPr>
          <p:cNvPr id="14" name="Rectangle 3"/>
          <p:cNvSpPr txBox="1">
            <a:spLocks noChangeArrowheads="1"/>
          </p:cNvSpPr>
          <p:nvPr/>
        </p:nvSpPr>
        <p:spPr>
          <a:xfrm>
            <a:off x="896350" y="3291432"/>
            <a:ext cx="3843608" cy="1626545"/>
          </a:xfrm>
          <a:prstGeom prst="rect">
            <a:avLst/>
          </a:prstGeom>
        </p:spPr>
        <p:txBody>
          <a:bodyPr vert="horz" lIns="91440" tIns="45720" rIns="91440" bIns="45720" rtlCol="0">
            <a:noAutofit/>
          </a:bodyPr>
          <a:lstStyle/>
          <a:p>
            <a:pPr marL="342900" marR="0" lvl="0" indent="-342900" defTabSz="914400" rtl="0" eaLnBrk="1" fontAlgn="auto" latinLnBrk="0" hangingPunct="1">
              <a:spcBef>
                <a:spcPct val="20000"/>
              </a:spcBef>
              <a:spcAft>
                <a:spcPts val="0"/>
              </a:spcAft>
              <a:buClrTx/>
              <a:buSzTx/>
              <a:tabLst/>
              <a:defRPr/>
            </a:pPr>
            <a:r>
              <a:rPr lang="en-US" sz="2400" dirty="0">
                <a:latin typeface="Comic Sans MS" pitchFamily="66" charset="0"/>
              </a:rPr>
              <a:t>Deposit </a:t>
            </a:r>
          </a:p>
          <a:p>
            <a:pPr marL="342900" marR="0" lvl="0" indent="-342900" algn="l" defTabSz="914400" rtl="0" eaLnBrk="1" fontAlgn="auto" latinLnBrk="0" hangingPunct="1">
              <a:spcBef>
                <a:spcPct val="20000"/>
              </a:spcBef>
              <a:spcAft>
                <a:spcPts val="0"/>
              </a:spcAft>
              <a:buClrTx/>
              <a:buSzTx/>
              <a:tabLst/>
              <a:defRPr/>
            </a:pPr>
            <a:r>
              <a:rPr lang="en-US" sz="2000" dirty="0">
                <a:latin typeface="Comic Sans MS" pitchFamily="66" charset="0"/>
              </a:rPr>
              <a:t>D</a:t>
            </a:r>
            <a:r>
              <a:rPr lang="en-US" sz="2000" baseline="-25000" dirty="0">
                <a:latin typeface="Comic Sans MS" pitchFamily="66" charset="0"/>
              </a:rPr>
              <a:t>1</a:t>
            </a:r>
            <a:r>
              <a:rPr lang="en-US" sz="2000" dirty="0">
                <a:latin typeface="Comic Sans MS" pitchFamily="66" charset="0"/>
              </a:rPr>
              <a:t>:   MOV  R1, balance</a:t>
            </a:r>
          </a:p>
          <a:p>
            <a:pPr marL="342900" marR="0" lvl="0" indent="-342900" algn="l" defTabSz="914400" rtl="0" eaLnBrk="1" fontAlgn="auto" latinLnBrk="0" hangingPunct="1">
              <a:spcBef>
                <a:spcPct val="20000"/>
              </a:spcBef>
              <a:spcAft>
                <a:spcPts val="0"/>
              </a:spcAft>
              <a:buClrTx/>
              <a:buSzTx/>
              <a:tabLst/>
              <a:defRPr/>
            </a:pPr>
            <a:r>
              <a:rPr lang="en-US" sz="2000" dirty="0">
                <a:latin typeface="Comic Sans MS" pitchFamily="66" charset="0"/>
              </a:rPr>
              <a:t>D</a:t>
            </a:r>
            <a:r>
              <a:rPr lang="en-US" sz="2000" baseline="-25000" dirty="0">
                <a:latin typeface="Comic Sans MS" pitchFamily="66" charset="0"/>
              </a:rPr>
              <a:t>2</a:t>
            </a:r>
            <a:r>
              <a:rPr lang="en-US" sz="2000" dirty="0">
                <a:latin typeface="Comic Sans MS" pitchFamily="66" charset="0"/>
              </a:rPr>
              <a:t>:   ADD   R1, </a:t>
            </a:r>
            <a:r>
              <a:rPr lang="en-US" sz="2000" dirty="0" err="1">
                <a:latin typeface="Comic Sans MS" pitchFamily="66" charset="0"/>
              </a:rPr>
              <a:t>depositAmount</a:t>
            </a:r>
            <a:endParaRPr lang="en-US" sz="2000" dirty="0">
              <a:latin typeface="Comic Sans MS" pitchFamily="66" charset="0"/>
            </a:endParaRPr>
          </a:p>
          <a:p>
            <a:pPr marL="342900" marR="0" lvl="0" indent="-342900" algn="l" defTabSz="914400" rtl="0" eaLnBrk="1" fontAlgn="auto" latinLnBrk="0" hangingPunct="1">
              <a:spcBef>
                <a:spcPct val="20000"/>
              </a:spcBef>
              <a:spcAft>
                <a:spcPts val="0"/>
              </a:spcAft>
              <a:buClrTx/>
              <a:buSzTx/>
              <a:tabLst/>
              <a:defRPr/>
            </a:pPr>
            <a:r>
              <a:rPr lang="en-US" sz="2000" dirty="0">
                <a:latin typeface="Comic Sans MS" pitchFamily="66" charset="0"/>
              </a:rPr>
              <a:t>D</a:t>
            </a:r>
            <a:r>
              <a:rPr lang="en-US" sz="2000" baseline="-25000" dirty="0">
                <a:latin typeface="Comic Sans MS" pitchFamily="66" charset="0"/>
              </a:rPr>
              <a:t>3</a:t>
            </a:r>
            <a:r>
              <a:rPr lang="en-US" sz="2000" dirty="0">
                <a:latin typeface="Comic Sans MS" pitchFamily="66" charset="0"/>
              </a:rPr>
              <a:t>:   MOV  balance, R1</a:t>
            </a:r>
          </a:p>
        </p:txBody>
      </p:sp>
      <p:sp>
        <p:nvSpPr>
          <p:cNvPr id="18" name="Rectangle 3"/>
          <p:cNvSpPr txBox="1">
            <a:spLocks noChangeArrowheads="1"/>
          </p:cNvSpPr>
          <p:nvPr/>
        </p:nvSpPr>
        <p:spPr>
          <a:xfrm>
            <a:off x="321425" y="1029746"/>
            <a:ext cx="8593975" cy="2095398"/>
          </a:xfrm>
          <a:prstGeom prst="rect">
            <a:avLst/>
          </a:prstGeom>
        </p:spPr>
        <p:txBody>
          <a:bodyPr vert="horz" lIns="91440" tIns="45720" rIns="91440" bIns="45720" rtlCol="0">
            <a:noAutofit/>
          </a:bodyPr>
          <a:lstStyle/>
          <a:p>
            <a:pPr marL="342900" marR="0" lvl="0" indent="-342900" algn="l" defTabSz="914400" rtl="0" eaLnBrk="1" fontAlgn="auto" latinLnBrk="0" hangingPunct="1">
              <a:spcBef>
                <a:spcPts val="600"/>
              </a:spcBef>
              <a:spcAft>
                <a:spcPts val="0"/>
              </a:spcAft>
              <a:buClrTx/>
              <a:buSzTx/>
              <a:buFont typeface="Wingdings" panose="05000000000000000000" pitchFamily="2" charset="2"/>
              <a:buChar char="§"/>
              <a:tabLst/>
              <a:defRPr/>
            </a:pPr>
            <a:r>
              <a:rPr lang="en-US" sz="2400" dirty="0">
                <a:latin typeface="Calibri" panose="020F0502020204030204" pitchFamily="34" charset="0"/>
                <a:cs typeface="Calibri" panose="020F0502020204030204" pitchFamily="34" charset="0"/>
              </a:rPr>
              <a:t>Consider a Bank Transaction…</a:t>
            </a:r>
          </a:p>
          <a:p>
            <a:pPr marL="741363" lvl="1" indent="-284163" eaLnBrk="1" fontAlgn="auto" hangingPunct="1">
              <a:spcBef>
                <a:spcPts val="600"/>
              </a:spcBef>
              <a:spcAft>
                <a:spcPts val="0"/>
              </a:spcAft>
              <a:buFont typeface="Arial" panose="020B0604020202020204" pitchFamily="34" charset="0"/>
              <a:buChar char="•"/>
              <a:defRPr/>
            </a:pPr>
            <a:r>
              <a:rPr lang="en-US" sz="2200" dirty="0">
                <a:latin typeface="Calibri" panose="020F0502020204030204" pitchFamily="34" charset="0"/>
                <a:cs typeface="Calibri" panose="020F0502020204030204" pitchFamily="34" charset="0"/>
              </a:rPr>
              <a:t>deposit process deposits an amount in bank, via cheque</a:t>
            </a:r>
          </a:p>
          <a:p>
            <a:pPr marL="741363" lvl="1" indent="-284163" eaLnBrk="1" fontAlgn="auto" hangingPunct="1">
              <a:spcBef>
                <a:spcPts val="600"/>
              </a:spcBef>
              <a:spcAft>
                <a:spcPts val="0"/>
              </a:spcAft>
              <a:buFont typeface="Arial" panose="020B0604020202020204" pitchFamily="34" charset="0"/>
              <a:buChar char="•"/>
              <a:defRPr/>
            </a:pPr>
            <a:r>
              <a:rPr lang="en-US" sz="2200" dirty="0" err="1">
                <a:latin typeface="Calibri" panose="020F0502020204030204" pitchFamily="34" charset="0"/>
                <a:cs typeface="Calibri" panose="020F0502020204030204" pitchFamily="34" charset="0"/>
              </a:rPr>
              <a:t>withdrawl</a:t>
            </a:r>
            <a:r>
              <a:rPr lang="en-US" sz="2200" dirty="0">
                <a:latin typeface="Calibri" panose="020F0502020204030204" pitchFamily="34" charset="0"/>
                <a:cs typeface="Calibri" panose="020F0502020204030204" pitchFamily="34" charset="0"/>
              </a:rPr>
              <a:t> process withdraws an amount, via ATM</a:t>
            </a:r>
          </a:p>
          <a:p>
            <a:pPr marL="342900" indent="-342900" eaLnBrk="1" fontAlgn="auto" hangingPunct="1">
              <a:spcBef>
                <a:spcPts val="1200"/>
              </a:spcBef>
              <a:spcAft>
                <a:spcPts val="0"/>
              </a:spcAft>
              <a:buFont typeface="Wingdings" panose="05000000000000000000" pitchFamily="2" charset="2"/>
              <a:buChar char="§"/>
              <a:defRPr/>
            </a:pPr>
            <a:r>
              <a:rPr lang="en-US" sz="2400" baseline="0" dirty="0">
                <a:latin typeface="Calibri" panose="020F0502020204030204" pitchFamily="34" charset="0"/>
                <a:cs typeface="Calibri" panose="020F0502020204030204" pitchFamily="34" charset="0"/>
              </a:rPr>
              <a:t>In </a:t>
            </a:r>
            <a:r>
              <a:rPr lang="en-US" sz="2400" dirty="0">
                <a:latin typeface="Calibri" panose="020F0502020204030204" pitchFamily="34" charset="0"/>
                <a:cs typeface="Calibri" panose="020F0502020204030204" pitchFamily="34" charset="0"/>
              </a:rPr>
              <a:t>these processes, instructions to update “balance” variable can be written in assembly as… </a:t>
            </a:r>
            <a:endParaRPr lang="en-US" sz="2400" baseline="0" dirty="0">
              <a:latin typeface="Calibri" panose="020F0502020204030204" pitchFamily="34" charset="0"/>
              <a:cs typeface="Calibri" panose="020F0502020204030204" pitchFamily="34" charset="0"/>
            </a:endParaRPr>
          </a:p>
        </p:txBody>
      </p:sp>
      <p:sp>
        <p:nvSpPr>
          <p:cNvPr id="21" name="Rectangle 3"/>
          <p:cNvSpPr txBox="1">
            <a:spLocks noChangeArrowheads="1"/>
          </p:cNvSpPr>
          <p:nvPr/>
        </p:nvSpPr>
        <p:spPr>
          <a:xfrm>
            <a:off x="5192962" y="3336831"/>
            <a:ext cx="3945957" cy="1581147"/>
          </a:xfrm>
          <a:prstGeom prst="rect">
            <a:avLst/>
          </a:prstGeom>
        </p:spPr>
        <p:txBody>
          <a:bodyPr vert="horz" lIns="91440" tIns="45720" rIns="91440" bIns="45720" rtlCol="0">
            <a:noAutofit/>
          </a:bodyPr>
          <a:lstStyle/>
          <a:p>
            <a:pPr marL="342900" marR="0" lvl="0" indent="-342900" defTabSz="914400" rtl="0" eaLnBrk="1" fontAlgn="auto" latinLnBrk="0" hangingPunct="1">
              <a:spcBef>
                <a:spcPct val="20000"/>
              </a:spcBef>
              <a:spcAft>
                <a:spcPts val="0"/>
              </a:spcAft>
              <a:buClrTx/>
              <a:buSzTx/>
              <a:tabLst/>
              <a:defRPr/>
            </a:pPr>
            <a:r>
              <a:rPr lang="en-US" sz="2400" dirty="0">
                <a:latin typeface="Comic Sans MS" pitchFamily="66" charset="0"/>
              </a:rPr>
              <a:t>Withdrawal </a:t>
            </a:r>
          </a:p>
          <a:p>
            <a:pPr marL="342900" marR="0" lvl="0" indent="-342900" algn="l" defTabSz="914400" rtl="0" eaLnBrk="1" fontAlgn="auto" latinLnBrk="0" hangingPunct="1">
              <a:spcBef>
                <a:spcPct val="20000"/>
              </a:spcBef>
              <a:spcAft>
                <a:spcPts val="0"/>
              </a:spcAft>
              <a:buClrTx/>
              <a:buSzTx/>
              <a:tabLst/>
              <a:defRPr/>
            </a:pPr>
            <a:r>
              <a:rPr lang="en-US" sz="2000" dirty="0">
                <a:latin typeface="Comic Sans MS" pitchFamily="66" charset="0"/>
              </a:rPr>
              <a:t>W</a:t>
            </a:r>
            <a:r>
              <a:rPr lang="en-US" sz="2000" baseline="-25000" dirty="0">
                <a:latin typeface="Comic Sans MS" pitchFamily="66" charset="0"/>
              </a:rPr>
              <a:t>1</a:t>
            </a:r>
            <a:r>
              <a:rPr lang="en-US" sz="2000" dirty="0">
                <a:latin typeface="Comic Sans MS" pitchFamily="66" charset="0"/>
              </a:rPr>
              <a:t>:   MOV  R2, balance</a:t>
            </a:r>
          </a:p>
          <a:p>
            <a:pPr marL="342900" marR="0" lvl="0" indent="-342900" algn="l" defTabSz="914400" rtl="0" eaLnBrk="1" fontAlgn="auto" latinLnBrk="0" hangingPunct="1">
              <a:spcBef>
                <a:spcPct val="20000"/>
              </a:spcBef>
              <a:spcAft>
                <a:spcPts val="0"/>
              </a:spcAft>
              <a:buClrTx/>
              <a:buSzTx/>
              <a:tabLst/>
              <a:defRPr/>
            </a:pPr>
            <a:r>
              <a:rPr lang="en-US" sz="2000" dirty="0">
                <a:latin typeface="Comic Sans MS" pitchFamily="66" charset="0"/>
              </a:rPr>
              <a:t>W</a:t>
            </a:r>
            <a:r>
              <a:rPr lang="en-US" sz="2000" baseline="-25000" dirty="0">
                <a:latin typeface="Comic Sans MS" pitchFamily="66" charset="0"/>
              </a:rPr>
              <a:t>2</a:t>
            </a:r>
            <a:r>
              <a:rPr lang="en-US" sz="2000" dirty="0">
                <a:latin typeface="Comic Sans MS" pitchFamily="66" charset="0"/>
              </a:rPr>
              <a:t>:   SUB   R2, </a:t>
            </a:r>
            <a:r>
              <a:rPr lang="en-US" sz="2000" dirty="0" err="1">
                <a:latin typeface="Comic Sans MS" pitchFamily="66" charset="0"/>
              </a:rPr>
              <a:t>wdrAmount</a:t>
            </a:r>
            <a:endParaRPr lang="en-US" sz="2000" dirty="0">
              <a:latin typeface="Comic Sans MS" pitchFamily="66" charset="0"/>
            </a:endParaRPr>
          </a:p>
          <a:p>
            <a:pPr marL="342900" marR="0" lvl="0" indent="-342900" algn="l" defTabSz="914400" rtl="0" eaLnBrk="1" fontAlgn="auto" latinLnBrk="0" hangingPunct="1">
              <a:spcBef>
                <a:spcPct val="20000"/>
              </a:spcBef>
              <a:spcAft>
                <a:spcPts val="0"/>
              </a:spcAft>
              <a:buClrTx/>
              <a:buSzTx/>
              <a:tabLst/>
              <a:defRPr/>
            </a:pPr>
            <a:r>
              <a:rPr lang="en-US" sz="2000" dirty="0">
                <a:latin typeface="Comic Sans MS" pitchFamily="66" charset="0"/>
              </a:rPr>
              <a:t>W</a:t>
            </a:r>
            <a:r>
              <a:rPr lang="en-US" sz="2000" baseline="-25000" dirty="0">
                <a:latin typeface="Comic Sans MS" pitchFamily="66" charset="0"/>
              </a:rPr>
              <a:t>3</a:t>
            </a:r>
            <a:r>
              <a:rPr lang="en-US" sz="2000" dirty="0">
                <a:latin typeface="Comic Sans MS" pitchFamily="66" charset="0"/>
              </a:rPr>
              <a:t>:   MOV  balance, R2</a:t>
            </a:r>
          </a:p>
        </p:txBody>
      </p:sp>
      <p:sp>
        <p:nvSpPr>
          <p:cNvPr id="22" name="Rectangle 3"/>
          <p:cNvSpPr txBox="1">
            <a:spLocks noChangeArrowheads="1"/>
          </p:cNvSpPr>
          <p:nvPr/>
        </p:nvSpPr>
        <p:spPr>
          <a:xfrm>
            <a:off x="1948410" y="5038225"/>
            <a:ext cx="4767350" cy="1600200"/>
          </a:xfrm>
          <a:prstGeom prst="rect">
            <a:avLst/>
          </a:prstGeom>
        </p:spPr>
        <p:txBody>
          <a:bodyPr vert="horz" lIns="91440" tIns="45720" rIns="91440" bIns="45720" rtlCol="0">
            <a:noAutofit/>
          </a:bodyPr>
          <a:lstStyle/>
          <a:p>
            <a:pPr marL="342900" marR="0" lvl="0" indent="-342900" algn="ctr" defTabSz="914400" rtl="0" eaLnBrk="1" fontAlgn="auto" latinLnBrk="0" hangingPunct="1">
              <a:spcBef>
                <a:spcPct val="20000"/>
              </a:spcBef>
              <a:spcAft>
                <a:spcPts val="0"/>
              </a:spcAft>
              <a:buClrTx/>
              <a:buSzTx/>
              <a:tabLst/>
              <a:defRPr/>
            </a:pPr>
            <a:r>
              <a:rPr lang="en-US" sz="2000" b="1" u="sng" dirty="0">
                <a:latin typeface="Comic Sans MS" pitchFamily="66" charset="0"/>
              </a:rPr>
              <a:t>Sample Transaction</a:t>
            </a:r>
          </a:p>
          <a:p>
            <a:pPr marL="342900" marR="0" lvl="0" indent="-342900" algn="ctr" defTabSz="914400" rtl="0" eaLnBrk="1" fontAlgn="auto" latinLnBrk="0" hangingPunct="1">
              <a:spcBef>
                <a:spcPct val="20000"/>
              </a:spcBef>
              <a:spcAft>
                <a:spcPts val="0"/>
              </a:spcAft>
              <a:buClrTx/>
              <a:buSzTx/>
              <a:tabLst/>
              <a:defRPr/>
            </a:pPr>
            <a:r>
              <a:rPr lang="en-US" sz="2000" dirty="0">
                <a:latin typeface="Comic Sans MS" pitchFamily="66" charset="0"/>
              </a:rPr>
              <a:t>Current Balance: 100/-</a:t>
            </a:r>
          </a:p>
          <a:p>
            <a:pPr marL="342900" marR="0" lvl="0" indent="-342900" algn="ctr" defTabSz="914400" rtl="0" eaLnBrk="1" fontAlgn="auto" latinLnBrk="0" hangingPunct="1">
              <a:spcBef>
                <a:spcPct val="20000"/>
              </a:spcBef>
              <a:spcAft>
                <a:spcPts val="0"/>
              </a:spcAft>
              <a:buClrTx/>
              <a:buSzTx/>
              <a:tabLst/>
              <a:defRPr/>
            </a:pPr>
            <a:r>
              <a:rPr lang="en-US" sz="2000" dirty="0" err="1">
                <a:latin typeface="Comic Sans MS" pitchFamily="66" charset="0"/>
              </a:rPr>
              <a:t>Cheque</a:t>
            </a:r>
            <a:r>
              <a:rPr lang="en-US" sz="2000" dirty="0">
                <a:latin typeface="Comic Sans MS" pitchFamily="66" charset="0"/>
              </a:rPr>
              <a:t> deposited: 25/-</a:t>
            </a:r>
          </a:p>
          <a:p>
            <a:pPr marL="342900" marR="0" lvl="0" indent="-342900" algn="ctr" defTabSz="914400" rtl="0" eaLnBrk="1" fontAlgn="auto" latinLnBrk="0" hangingPunct="1">
              <a:spcBef>
                <a:spcPct val="20000"/>
              </a:spcBef>
              <a:spcAft>
                <a:spcPts val="0"/>
              </a:spcAft>
              <a:buClrTx/>
              <a:buSzTx/>
              <a:tabLst/>
              <a:defRPr/>
            </a:pPr>
            <a:r>
              <a:rPr lang="en-US" sz="2000" dirty="0">
                <a:latin typeface="Comic Sans MS" pitchFamily="66" charset="0"/>
              </a:rPr>
              <a:t>ATM </a:t>
            </a:r>
            <a:r>
              <a:rPr lang="en-US" sz="2000" dirty="0" err="1">
                <a:latin typeface="Comic Sans MS" pitchFamily="66" charset="0"/>
              </a:rPr>
              <a:t>withdrawl</a:t>
            </a:r>
            <a:r>
              <a:rPr lang="en-US" sz="2000" dirty="0">
                <a:latin typeface="Comic Sans MS" pitchFamily="66" charset="0"/>
              </a:rPr>
              <a:t>: 10/-</a:t>
            </a:r>
          </a:p>
        </p:txBody>
      </p:sp>
      <p:sp>
        <p:nvSpPr>
          <p:cNvPr id="2" name="Slide Number Placeholder 3">
            <a:extLst>
              <a:ext uri="{FF2B5EF4-FFF2-40B4-BE49-F238E27FC236}">
                <a16:creationId xmlns:a16="http://schemas.microsoft.com/office/drawing/2014/main" id="{D58B2CDB-56C7-44A4-20BB-E4CD4A851B58}"/>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8</a:t>
            </a:fld>
            <a:endParaRPr lang="en-US" altLang="en-US" sz="1400" dirty="0">
              <a:solidFill>
                <a:schemeClr val="tx1"/>
              </a:solidFill>
              <a:latin typeface="Tahoma" panose="020B0604030504040204" pitchFamily="34" charset="0"/>
              <a:ea typeface="MS PGothic" panose="020B0600070205080204" pitchFamily="34" charset="-128"/>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6676" name="Picture 4"/>
          <p:cNvPicPr>
            <a:picLocks noChangeAspect="1" noChangeArrowheads="1"/>
          </p:cNvPicPr>
          <p:nvPr/>
        </p:nvPicPr>
        <p:blipFill>
          <a:blip r:embed="rId3"/>
          <a:srcRect/>
          <a:stretch>
            <a:fillRect/>
          </a:stretch>
        </p:blipFill>
        <p:spPr bwMode="auto">
          <a:xfrm>
            <a:off x="4567238" y="3424238"/>
            <a:ext cx="9525" cy="9525"/>
          </a:xfrm>
          <a:prstGeom prst="rect">
            <a:avLst/>
          </a:prstGeom>
          <a:noFill/>
          <a:ln w="9525">
            <a:noFill/>
            <a:miter lim="800000"/>
            <a:headEnd/>
            <a:tailEnd/>
          </a:ln>
          <a:effectLst/>
        </p:spPr>
      </p:pic>
      <p:pic>
        <p:nvPicPr>
          <p:cNvPr id="156677" name="Picture 5"/>
          <p:cNvPicPr>
            <a:picLocks noChangeAspect="1" noChangeArrowheads="1"/>
          </p:cNvPicPr>
          <p:nvPr/>
        </p:nvPicPr>
        <p:blipFill>
          <a:blip r:embed="rId3"/>
          <a:srcRect/>
          <a:stretch>
            <a:fillRect/>
          </a:stretch>
        </p:blipFill>
        <p:spPr bwMode="auto">
          <a:xfrm>
            <a:off x="4567238" y="3424238"/>
            <a:ext cx="9525" cy="9525"/>
          </a:xfrm>
          <a:prstGeom prst="rect">
            <a:avLst/>
          </a:prstGeom>
          <a:noFill/>
          <a:ln w="9525">
            <a:noFill/>
            <a:miter lim="800000"/>
            <a:headEnd/>
            <a:tailEnd/>
          </a:ln>
          <a:effectLst/>
        </p:spPr>
      </p:pic>
      <p:pic>
        <p:nvPicPr>
          <p:cNvPr id="156678" name="Picture 6"/>
          <p:cNvPicPr>
            <a:picLocks noChangeAspect="1" noChangeArrowheads="1"/>
          </p:cNvPicPr>
          <p:nvPr/>
        </p:nvPicPr>
        <p:blipFill>
          <a:blip r:embed="rId3"/>
          <a:srcRect/>
          <a:stretch>
            <a:fillRect/>
          </a:stretch>
        </p:blipFill>
        <p:spPr bwMode="auto">
          <a:xfrm>
            <a:off x="4567238" y="3424238"/>
            <a:ext cx="9525" cy="9525"/>
          </a:xfrm>
          <a:prstGeom prst="rect">
            <a:avLst/>
          </a:prstGeom>
          <a:noFill/>
          <a:ln w="9525">
            <a:noFill/>
            <a:miter lim="800000"/>
            <a:headEnd/>
            <a:tailEnd/>
          </a:ln>
          <a:effectLst/>
        </p:spPr>
      </p:pic>
      <p:sp>
        <p:nvSpPr>
          <p:cNvPr id="14" name="Rectangle 3"/>
          <p:cNvSpPr txBox="1">
            <a:spLocks noChangeArrowheads="1"/>
          </p:cNvSpPr>
          <p:nvPr/>
        </p:nvSpPr>
        <p:spPr>
          <a:xfrm>
            <a:off x="745769" y="1066800"/>
            <a:ext cx="3395750" cy="1371600"/>
          </a:xfrm>
          <a:prstGeom prst="rect">
            <a:avLst/>
          </a:prstGeom>
        </p:spPr>
        <p:txBody>
          <a:bodyPr vert="horz" lIns="91440" tIns="45720" rIns="91440" bIns="45720" rtlCol="0">
            <a:noAutofit/>
          </a:bodyPr>
          <a:lstStyle/>
          <a:p>
            <a:pPr marL="342900" marR="0" lvl="0" indent="-342900" defTabSz="914400" rtl="0" eaLnBrk="1" fontAlgn="auto" latinLnBrk="0" hangingPunct="1">
              <a:spcBef>
                <a:spcPct val="20000"/>
              </a:spcBef>
              <a:spcAft>
                <a:spcPts val="0"/>
              </a:spcAft>
              <a:buClrTx/>
              <a:buSzTx/>
              <a:tabLst/>
              <a:defRPr/>
            </a:pPr>
            <a:r>
              <a:rPr lang="en-US" sz="2400" dirty="0">
                <a:latin typeface="Comic Sans MS" pitchFamily="66" charset="0"/>
              </a:rPr>
              <a:t>Deposit </a:t>
            </a:r>
          </a:p>
          <a:p>
            <a:pPr marL="342900" marR="0" lvl="0" indent="-342900" algn="l" defTabSz="914400" rtl="0" eaLnBrk="1" fontAlgn="auto" latinLnBrk="0" hangingPunct="1">
              <a:spcBef>
                <a:spcPct val="20000"/>
              </a:spcBef>
              <a:spcAft>
                <a:spcPts val="0"/>
              </a:spcAft>
              <a:buClrTx/>
              <a:buSzTx/>
              <a:tabLst/>
              <a:defRPr/>
            </a:pPr>
            <a:r>
              <a:rPr lang="en-US" sz="1600" dirty="0">
                <a:latin typeface="Comic Sans MS" pitchFamily="66" charset="0"/>
              </a:rPr>
              <a:t>D</a:t>
            </a:r>
            <a:r>
              <a:rPr lang="en-US" sz="1600" baseline="-25000" dirty="0">
                <a:latin typeface="Comic Sans MS" pitchFamily="66" charset="0"/>
              </a:rPr>
              <a:t>1</a:t>
            </a:r>
            <a:r>
              <a:rPr lang="en-US" sz="1600" dirty="0">
                <a:latin typeface="Comic Sans MS" pitchFamily="66" charset="0"/>
              </a:rPr>
              <a:t>:   MOV  R1, balance</a:t>
            </a:r>
          </a:p>
          <a:p>
            <a:pPr marL="342900" marR="0" lvl="0" indent="-342900" algn="l" defTabSz="914400" rtl="0" eaLnBrk="1" fontAlgn="auto" latinLnBrk="0" hangingPunct="1">
              <a:spcBef>
                <a:spcPct val="20000"/>
              </a:spcBef>
              <a:spcAft>
                <a:spcPts val="0"/>
              </a:spcAft>
              <a:buClrTx/>
              <a:buSzTx/>
              <a:tabLst/>
              <a:defRPr/>
            </a:pPr>
            <a:r>
              <a:rPr lang="en-US" sz="1600" dirty="0">
                <a:latin typeface="Comic Sans MS" pitchFamily="66" charset="0"/>
              </a:rPr>
              <a:t>D</a:t>
            </a:r>
            <a:r>
              <a:rPr lang="en-US" sz="1600" baseline="-25000" dirty="0">
                <a:latin typeface="Comic Sans MS" pitchFamily="66" charset="0"/>
              </a:rPr>
              <a:t>2</a:t>
            </a:r>
            <a:r>
              <a:rPr lang="en-US" sz="1600" dirty="0">
                <a:latin typeface="Comic Sans MS" pitchFamily="66" charset="0"/>
              </a:rPr>
              <a:t>:   ADD   R1, </a:t>
            </a:r>
            <a:r>
              <a:rPr lang="en-US" sz="1600" dirty="0" err="1">
                <a:latin typeface="Comic Sans MS" pitchFamily="66" charset="0"/>
              </a:rPr>
              <a:t>depositAmount</a:t>
            </a:r>
            <a:endParaRPr lang="en-US" sz="1600" dirty="0">
              <a:latin typeface="Comic Sans MS" pitchFamily="66" charset="0"/>
            </a:endParaRPr>
          </a:p>
          <a:p>
            <a:pPr marL="342900" marR="0" lvl="0" indent="-342900" algn="l" defTabSz="914400" rtl="0" eaLnBrk="1" fontAlgn="auto" latinLnBrk="0" hangingPunct="1">
              <a:spcBef>
                <a:spcPct val="20000"/>
              </a:spcBef>
              <a:spcAft>
                <a:spcPts val="0"/>
              </a:spcAft>
              <a:buClrTx/>
              <a:buSzTx/>
              <a:tabLst/>
              <a:defRPr/>
            </a:pPr>
            <a:r>
              <a:rPr lang="en-US" sz="1600" dirty="0">
                <a:latin typeface="Comic Sans MS" pitchFamily="66" charset="0"/>
              </a:rPr>
              <a:t>D</a:t>
            </a:r>
            <a:r>
              <a:rPr lang="en-US" sz="1600" baseline="-25000" dirty="0">
                <a:latin typeface="Comic Sans MS" pitchFamily="66" charset="0"/>
              </a:rPr>
              <a:t>3</a:t>
            </a:r>
            <a:r>
              <a:rPr lang="en-US" sz="1600" dirty="0">
                <a:latin typeface="Comic Sans MS" pitchFamily="66" charset="0"/>
              </a:rPr>
              <a:t>:   MOV  balance, R1</a:t>
            </a:r>
          </a:p>
        </p:txBody>
      </p:sp>
      <p:sp>
        <p:nvSpPr>
          <p:cNvPr id="21" name="Rectangle 3"/>
          <p:cNvSpPr txBox="1">
            <a:spLocks noChangeArrowheads="1"/>
          </p:cNvSpPr>
          <p:nvPr/>
        </p:nvSpPr>
        <p:spPr>
          <a:xfrm>
            <a:off x="5574079" y="1066800"/>
            <a:ext cx="3014750" cy="1371600"/>
          </a:xfrm>
          <a:prstGeom prst="rect">
            <a:avLst/>
          </a:prstGeom>
        </p:spPr>
        <p:txBody>
          <a:bodyPr vert="horz" lIns="91440" tIns="45720" rIns="91440" bIns="45720" rtlCol="0">
            <a:noAutofit/>
          </a:bodyPr>
          <a:lstStyle/>
          <a:p>
            <a:pPr marL="342900" marR="0" lvl="0" indent="-342900" defTabSz="914400" rtl="0" eaLnBrk="1" fontAlgn="auto" latinLnBrk="0" hangingPunct="1">
              <a:spcBef>
                <a:spcPct val="20000"/>
              </a:spcBef>
              <a:spcAft>
                <a:spcPts val="0"/>
              </a:spcAft>
              <a:buClrTx/>
              <a:buSzTx/>
              <a:tabLst/>
              <a:defRPr/>
            </a:pPr>
            <a:r>
              <a:rPr lang="en-US" sz="2400" dirty="0">
                <a:latin typeface="Comic Sans MS" pitchFamily="66" charset="0"/>
              </a:rPr>
              <a:t>Withdrawal </a:t>
            </a:r>
          </a:p>
          <a:p>
            <a:pPr marL="342900" marR="0" lvl="0" indent="-342900" algn="l" defTabSz="914400" rtl="0" eaLnBrk="1" fontAlgn="auto" latinLnBrk="0" hangingPunct="1">
              <a:spcBef>
                <a:spcPct val="20000"/>
              </a:spcBef>
              <a:spcAft>
                <a:spcPts val="0"/>
              </a:spcAft>
              <a:buClrTx/>
              <a:buSzTx/>
              <a:tabLst/>
              <a:defRPr/>
            </a:pPr>
            <a:r>
              <a:rPr lang="en-US" sz="1600" dirty="0">
                <a:latin typeface="Comic Sans MS" pitchFamily="66" charset="0"/>
              </a:rPr>
              <a:t>W</a:t>
            </a:r>
            <a:r>
              <a:rPr lang="en-US" sz="1600" baseline="-25000" dirty="0">
                <a:latin typeface="Comic Sans MS" pitchFamily="66" charset="0"/>
              </a:rPr>
              <a:t>1</a:t>
            </a:r>
            <a:r>
              <a:rPr lang="en-US" sz="1600" dirty="0">
                <a:latin typeface="Comic Sans MS" pitchFamily="66" charset="0"/>
              </a:rPr>
              <a:t>:   MOV  R2, balance</a:t>
            </a:r>
          </a:p>
          <a:p>
            <a:pPr marL="342900" marR="0" lvl="0" indent="-342900" algn="l" defTabSz="914400" rtl="0" eaLnBrk="1" fontAlgn="auto" latinLnBrk="0" hangingPunct="1">
              <a:spcBef>
                <a:spcPct val="20000"/>
              </a:spcBef>
              <a:spcAft>
                <a:spcPts val="0"/>
              </a:spcAft>
              <a:buClrTx/>
              <a:buSzTx/>
              <a:tabLst/>
              <a:defRPr/>
            </a:pPr>
            <a:r>
              <a:rPr lang="en-US" sz="1600" dirty="0">
                <a:latin typeface="Comic Sans MS" pitchFamily="66" charset="0"/>
              </a:rPr>
              <a:t>W</a:t>
            </a:r>
            <a:r>
              <a:rPr lang="en-US" sz="1600" baseline="-25000" dirty="0">
                <a:latin typeface="Comic Sans MS" pitchFamily="66" charset="0"/>
              </a:rPr>
              <a:t>2</a:t>
            </a:r>
            <a:r>
              <a:rPr lang="en-US" sz="1600" dirty="0">
                <a:latin typeface="Comic Sans MS" pitchFamily="66" charset="0"/>
              </a:rPr>
              <a:t>:   SUB   R2, </a:t>
            </a:r>
            <a:r>
              <a:rPr lang="en-US" sz="1600" dirty="0" err="1">
                <a:latin typeface="Comic Sans MS" pitchFamily="66" charset="0"/>
              </a:rPr>
              <a:t>wdrAmount</a:t>
            </a:r>
            <a:endParaRPr lang="en-US" sz="1600" dirty="0">
              <a:latin typeface="Comic Sans MS" pitchFamily="66" charset="0"/>
            </a:endParaRPr>
          </a:p>
          <a:p>
            <a:pPr marL="342900" marR="0" lvl="0" indent="-342900" algn="l" defTabSz="914400" rtl="0" eaLnBrk="1" fontAlgn="auto" latinLnBrk="0" hangingPunct="1">
              <a:spcBef>
                <a:spcPct val="20000"/>
              </a:spcBef>
              <a:spcAft>
                <a:spcPts val="0"/>
              </a:spcAft>
              <a:buClrTx/>
              <a:buSzTx/>
              <a:tabLst/>
              <a:defRPr/>
            </a:pPr>
            <a:r>
              <a:rPr lang="en-US" sz="1600" dirty="0">
                <a:latin typeface="Comic Sans MS" pitchFamily="66" charset="0"/>
              </a:rPr>
              <a:t>W</a:t>
            </a:r>
            <a:r>
              <a:rPr lang="en-US" sz="1600" baseline="-25000" dirty="0">
                <a:latin typeface="Comic Sans MS" pitchFamily="66" charset="0"/>
              </a:rPr>
              <a:t>3</a:t>
            </a:r>
            <a:r>
              <a:rPr lang="en-US" sz="1600" dirty="0">
                <a:latin typeface="Comic Sans MS" pitchFamily="66" charset="0"/>
              </a:rPr>
              <a:t>:   MOV  balance, R2</a:t>
            </a:r>
          </a:p>
        </p:txBody>
      </p:sp>
      <p:sp>
        <p:nvSpPr>
          <p:cNvPr id="22" name="Rectangle 3"/>
          <p:cNvSpPr txBox="1">
            <a:spLocks noChangeArrowheads="1"/>
          </p:cNvSpPr>
          <p:nvPr/>
        </p:nvSpPr>
        <p:spPr>
          <a:xfrm>
            <a:off x="2099359" y="2438400"/>
            <a:ext cx="4767350" cy="1600200"/>
          </a:xfrm>
          <a:prstGeom prst="rect">
            <a:avLst/>
          </a:prstGeom>
        </p:spPr>
        <p:txBody>
          <a:bodyPr vert="horz" lIns="91440" tIns="45720" rIns="91440" bIns="45720" rtlCol="0">
            <a:noAutofit/>
          </a:bodyPr>
          <a:lstStyle/>
          <a:p>
            <a:pPr marL="342900" marR="0" lvl="0" indent="-342900" algn="ctr" defTabSz="914400" rtl="0" eaLnBrk="1" fontAlgn="auto" latinLnBrk="0" hangingPunct="1">
              <a:spcBef>
                <a:spcPct val="20000"/>
              </a:spcBef>
              <a:spcAft>
                <a:spcPts val="0"/>
              </a:spcAft>
              <a:buClrTx/>
              <a:buSzTx/>
              <a:tabLst/>
              <a:defRPr/>
            </a:pPr>
            <a:r>
              <a:rPr lang="en-US" sz="2000" b="1" u="sng" dirty="0">
                <a:latin typeface="Comic Sans MS" pitchFamily="66" charset="0"/>
              </a:rPr>
              <a:t>Sample Transaction</a:t>
            </a:r>
          </a:p>
          <a:p>
            <a:pPr marL="342900" marR="0" lvl="0" indent="-342900" algn="ctr" defTabSz="914400" rtl="0" eaLnBrk="1" fontAlgn="auto" latinLnBrk="0" hangingPunct="1">
              <a:spcBef>
                <a:spcPct val="20000"/>
              </a:spcBef>
              <a:spcAft>
                <a:spcPts val="0"/>
              </a:spcAft>
              <a:buClrTx/>
              <a:buSzTx/>
              <a:tabLst/>
              <a:defRPr/>
            </a:pPr>
            <a:r>
              <a:rPr lang="en-US" sz="2000" dirty="0">
                <a:latin typeface="Comic Sans MS" pitchFamily="66" charset="0"/>
              </a:rPr>
              <a:t>Current Balance: 100/-</a:t>
            </a:r>
          </a:p>
          <a:p>
            <a:pPr marL="342900" marR="0" lvl="0" indent="-342900" algn="ctr" defTabSz="914400" rtl="0" eaLnBrk="1" fontAlgn="auto" latinLnBrk="0" hangingPunct="1">
              <a:spcBef>
                <a:spcPct val="20000"/>
              </a:spcBef>
              <a:spcAft>
                <a:spcPts val="0"/>
              </a:spcAft>
              <a:buClrTx/>
              <a:buSzTx/>
              <a:tabLst/>
              <a:defRPr/>
            </a:pPr>
            <a:r>
              <a:rPr lang="en-US" sz="2000" dirty="0" err="1">
                <a:latin typeface="Comic Sans MS" pitchFamily="66" charset="0"/>
              </a:rPr>
              <a:t>Cheque</a:t>
            </a:r>
            <a:r>
              <a:rPr lang="en-US" sz="2000" dirty="0">
                <a:latin typeface="Comic Sans MS" pitchFamily="66" charset="0"/>
              </a:rPr>
              <a:t> deposited: 25/-</a:t>
            </a:r>
          </a:p>
          <a:p>
            <a:pPr marL="342900" marR="0" lvl="0" indent="-342900" algn="ctr" defTabSz="914400" rtl="0" eaLnBrk="1" fontAlgn="auto" latinLnBrk="0" hangingPunct="1">
              <a:spcBef>
                <a:spcPct val="20000"/>
              </a:spcBef>
              <a:spcAft>
                <a:spcPts val="0"/>
              </a:spcAft>
              <a:buClrTx/>
              <a:buSzTx/>
              <a:tabLst/>
              <a:defRPr/>
            </a:pPr>
            <a:r>
              <a:rPr lang="en-US" sz="2000" dirty="0">
                <a:latin typeface="Comic Sans MS" pitchFamily="66" charset="0"/>
              </a:rPr>
              <a:t>ATM with drawl: 10/-</a:t>
            </a:r>
          </a:p>
        </p:txBody>
      </p:sp>
      <p:sp>
        <p:nvSpPr>
          <p:cNvPr id="11" name="Rectangle 3"/>
          <p:cNvSpPr txBox="1">
            <a:spLocks noChangeArrowheads="1"/>
          </p:cNvSpPr>
          <p:nvPr/>
        </p:nvSpPr>
        <p:spPr>
          <a:xfrm>
            <a:off x="324485" y="4190364"/>
            <a:ext cx="8708482" cy="1956436"/>
          </a:xfrm>
          <a:prstGeom prst="rect">
            <a:avLst/>
          </a:prstGeom>
        </p:spPr>
        <p:txBody>
          <a:bodyPr vert="horz" lIns="91440" tIns="45720" rIns="91440" bIns="45720" rtlCol="0">
            <a:noAutofit/>
          </a:bodyPr>
          <a:lstStyle/>
          <a:p>
            <a:pPr marL="342900" marR="0" lvl="0" indent="-342900" algn="l" defTabSz="914400" rtl="0" eaLnBrk="1" fontAlgn="auto" latinLnBrk="0" hangingPunct="1">
              <a:spcBef>
                <a:spcPct val="20000"/>
              </a:spcBef>
              <a:spcAft>
                <a:spcPts val="0"/>
              </a:spcAft>
              <a:buClrTx/>
              <a:buSzTx/>
              <a:buFont typeface="Wingdings" panose="05000000000000000000" pitchFamily="2" charset="2"/>
              <a:buChar char="§"/>
              <a:tabLst/>
              <a:defRPr/>
            </a:pPr>
            <a:r>
              <a:rPr lang="en-US" sz="2400" b="1" dirty="0">
                <a:latin typeface="Calibri" panose="020F0502020204030204" pitchFamily="34" charset="0"/>
                <a:cs typeface="Calibri" panose="020F0502020204030204" pitchFamily="34" charset="0"/>
              </a:rPr>
              <a:t>Interleaving</a:t>
            </a:r>
            <a:r>
              <a:rPr lang="en-US" sz="2400" dirty="0">
                <a:latin typeface="Calibri" panose="020F0502020204030204" pitchFamily="34" charset="0"/>
                <a:cs typeface="Calibri" panose="020F0502020204030204" pitchFamily="34" charset="0"/>
              </a:rPr>
              <a:t>:  One possible interleaving of above statements:</a:t>
            </a:r>
          </a:p>
          <a:p>
            <a:pPr marL="741363" lvl="1" indent="-284163">
              <a:spcBef>
                <a:spcPts val="900"/>
              </a:spcBef>
              <a:buFont typeface="Arial" panose="020B0604020202020204" pitchFamily="34" charset="0"/>
              <a:buChar char="•"/>
              <a:defRPr/>
            </a:pPr>
            <a:r>
              <a:rPr lang="en-US" sz="2200" dirty="0">
                <a:latin typeface="Calibri" panose="020F0502020204030204" pitchFamily="34" charset="0"/>
                <a:cs typeface="Calibri" panose="020F0502020204030204" pitchFamily="34" charset="0"/>
              </a:rPr>
              <a:t>D</a:t>
            </a:r>
            <a:r>
              <a:rPr lang="en-US" sz="2200" baseline="-25000" dirty="0">
                <a:latin typeface="Calibri" panose="020F0502020204030204" pitchFamily="34" charset="0"/>
                <a:cs typeface="Calibri" panose="020F0502020204030204" pitchFamily="34" charset="0"/>
              </a:rPr>
              <a:t>1</a:t>
            </a:r>
            <a:r>
              <a:rPr lang="en-US" sz="2200" dirty="0">
                <a:latin typeface="Calibri" panose="020F0502020204030204" pitchFamily="34" charset="0"/>
                <a:cs typeface="Calibri" panose="020F0502020204030204" pitchFamily="34" charset="0"/>
              </a:rPr>
              <a:t>, D</a:t>
            </a:r>
            <a:r>
              <a:rPr lang="en-US" sz="2200" baseline="-25000" dirty="0">
                <a:latin typeface="Calibri" panose="020F0502020204030204" pitchFamily="34" charset="0"/>
                <a:cs typeface="Calibri" panose="020F0502020204030204" pitchFamily="34" charset="0"/>
              </a:rPr>
              <a:t>2</a:t>
            </a:r>
            <a:r>
              <a:rPr lang="en-US" sz="2200" dirty="0">
                <a:latin typeface="Calibri" panose="020F0502020204030204" pitchFamily="34" charset="0"/>
                <a:cs typeface="Calibri" panose="020F0502020204030204" pitchFamily="34" charset="0"/>
              </a:rPr>
              <a:t> ,</a:t>
            </a:r>
            <a:r>
              <a:rPr lang="en-US" sz="2200" baseline="-25000" dirty="0">
                <a:latin typeface="Calibri" panose="020F0502020204030204" pitchFamily="34" charset="0"/>
                <a:cs typeface="Calibri" panose="020F0502020204030204" pitchFamily="34" charset="0"/>
              </a:rPr>
              <a:t> </a:t>
            </a:r>
            <a:r>
              <a:rPr lang="en-US" sz="2200" dirty="0">
                <a:latin typeface="Calibri" panose="020F0502020204030204" pitchFamily="34" charset="0"/>
                <a:cs typeface="Calibri" panose="020F0502020204030204" pitchFamily="34" charset="0"/>
              </a:rPr>
              <a:t>W</a:t>
            </a:r>
            <a:r>
              <a:rPr lang="en-US" sz="2200" baseline="-25000" dirty="0">
                <a:latin typeface="Calibri" panose="020F0502020204030204" pitchFamily="34" charset="0"/>
                <a:cs typeface="Calibri" panose="020F0502020204030204" pitchFamily="34" charset="0"/>
              </a:rPr>
              <a:t>1</a:t>
            </a:r>
            <a:r>
              <a:rPr lang="en-US" sz="2200" dirty="0">
                <a:latin typeface="Calibri" panose="020F0502020204030204" pitchFamily="34" charset="0"/>
                <a:cs typeface="Calibri" panose="020F0502020204030204" pitchFamily="34" charset="0"/>
              </a:rPr>
              <a:t>, W</a:t>
            </a:r>
            <a:r>
              <a:rPr lang="en-US" sz="2200" baseline="-25000" dirty="0">
                <a:latin typeface="Calibri" panose="020F0502020204030204" pitchFamily="34" charset="0"/>
                <a:cs typeface="Calibri" panose="020F0502020204030204" pitchFamily="34" charset="0"/>
              </a:rPr>
              <a:t>2</a:t>
            </a:r>
            <a:r>
              <a:rPr lang="en-US" sz="2200" dirty="0">
                <a:latin typeface="Calibri" panose="020F0502020204030204" pitchFamily="34" charset="0"/>
                <a:cs typeface="Calibri" panose="020F0502020204030204" pitchFamily="34" charset="0"/>
              </a:rPr>
              <a:t>, D</a:t>
            </a:r>
            <a:r>
              <a:rPr lang="en-US" sz="2200" baseline="-25000" dirty="0">
                <a:latin typeface="Calibri" panose="020F0502020204030204" pitchFamily="34" charset="0"/>
                <a:cs typeface="Calibri" panose="020F0502020204030204" pitchFamily="34" charset="0"/>
              </a:rPr>
              <a:t>3</a:t>
            </a:r>
            <a:r>
              <a:rPr lang="en-US" sz="2200" dirty="0">
                <a:latin typeface="Calibri" panose="020F0502020204030204" pitchFamily="34" charset="0"/>
                <a:cs typeface="Calibri" panose="020F0502020204030204" pitchFamily="34" charset="0"/>
              </a:rPr>
              <a:t> , W</a:t>
            </a:r>
            <a:r>
              <a:rPr lang="en-US" sz="2200" baseline="-25000" dirty="0">
                <a:latin typeface="Calibri" panose="020F0502020204030204" pitchFamily="34" charset="0"/>
                <a:cs typeface="Calibri" panose="020F0502020204030204" pitchFamily="34" charset="0"/>
              </a:rPr>
              <a:t>3</a:t>
            </a:r>
            <a:r>
              <a:rPr lang="en-US" sz="2200" dirty="0">
                <a:latin typeface="Calibri" panose="020F0502020204030204" pitchFamily="34" charset="0"/>
                <a:cs typeface="Calibri" panose="020F0502020204030204" pitchFamily="34" charset="0"/>
              </a:rPr>
              <a:t>. </a:t>
            </a:r>
          </a:p>
          <a:p>
            <a:pPr lvl="1">
              <a:spcBef>
                <a:spcPct val="20000"/>
              </a:spcBef>
              <a:defRPr/>
            </a:pPr>
            <a:r>
              <a:rPr lang="en-US" sz="2200" dirty="0">
                <a:latin typeface="Calibri" panose="020F0502020204030204" pitchFamily="34" charset="0"/>
                <a:cs typeface="Calibri" panose="020F0502020204030204" pitchFamily="34" charset="0"/>
              </a:rPr>
              <a:t>	 (with this sequence, final value of balance will be 90/-)</a:t>
            </a:r>
          </a:p>
          <a:p>
            <a:pPr marL="741363" lvl="1" indent="-284163">
              <a:spcBef>
                <a:spcPts val="1200"/>
              </a:spcBef>
              <a:buFont typeface="Arial" panose="020B0604020202020204" pitchFamily="34" charset="0"/>
              <a:buChar char="•"/>
              <a:defRPr/>
            </a:pPr>
            <a:r>
              <a:rPr lang="en-US" sz="2200" dirty="0">
                <a:latin typeface="Calibri" panose="020F0502020204030204" pitchFamily="34" charset="0"/>
                <a:cs typeface="Calibri" panose="020F0502020204030204" pitchFamily="34" charset="0"/>
              </a:rPr>
              <a:t>What is final result if interleaving is:   D</a:t>
            </a:r>
            <a:r>
              <a:rPr lang="en-US" sz="2200" baseline="-25000" dirty="0">
                <a:latin typeface="Calibri" panose="020F0502020204030204" pitchFamily="34" charset="0"/>
                <a:cs typeface="Calibri" panose="020F0502020204030204" pitchFamily="34" charset="0"/>
              </a:rPr>
              <a:t>1</a:t>
            </a:r>
            <a:r>
              <a:rPr lang="en-US" sz="2200" dirty="0">
                <a:latin typeface="Calibri" panose="020F0502020204030204" pitchFamily="34" charset="0"/>
                <a:cs typeface="Calibri" panose="020F0502020204030204" pitchFamily="34" charset="0"/>
              </a:rPr>
              <a:t>, D</a:t>
            </a:r>
            <a:r>
              <a:rPr lang="en-US" sz="2200" baseline="-25000" dirty="0">
                <a:latin typeface="Calibri" panose="020F0502020204030204" pitchFamily="34" charset="0"/>
                <a:cs typeface="Calibri" panose="020F0502020204030204" pitchFamily="34" charset="0"/>
              </a:rPr>
              <a:t>2</a:t>
            </a:r>
            <a:r>
              <a:rPr lang="en-US" sz="2200" dirty="0">
                <a:latin typeface="Calibri" panose="020F0502020204030204" pitchFamily="34" charset="0"/>
                <a:cs typeface="Calibri" panose="020F0502020204030204" pitchFamily="34" charset="0"/>
              </a:rPr>
              <a:t> ,</a:t>
            </a:r>
            <a:r>
              <a:rPr lang="en-US" sz="2200" baseline="-25000" dirty="0">
                <a:latin typeface="Calibri" panose="020F0502020204030204" pitchFamily="34" charset="0"/>
                <a:cs typeface="Calibri" panose="020F0502020204030204" pitchFamily="34" charset="0"/>
              </a:rPr>
              <a:t> </a:t>
            </a:r>
            <a:r>
              <a:rPr lang="en-US" sz="2200" dirty="0">
                <a:latin typeface="Calibri" panose="020F0502020204030204" pitchFamily="34" charset="0"/>
                <a:cs typeface="Calibri" panose="020F0502020204030204" pitchFamily="34" charset="0"/>
              </a:rPr>
              <a:t>W</a:t>
            </a:r>
            <a:r>
              <a:rPr lang="en-US" sz="2200" baseline="-25000" dirty="0">
                <a:latin typeface="Calibri" panose="020F0502020204030204" pitchFamily="34" charset="0"/>
                <a:cs typeface="Calibri" panose="020F0502020204030204" pitchFamily="34" charset="0"/>
              </a:rPr>
              <a:t>1</a:t>
            </a:r>
            <a:r>
              <a:rPr lang="en-US" sz="2200" dirty="0">
                <a:latin typeface="Calibri" panose="020F0502020204030204" pitchFamily="34" charset="0"/>
                <a:cs typeface="Calibri" panose="020F0502020204030204" pitchFamily="34" charset="0"/>
              </a:rPr>
              <a:t>, W</a:t>
            </a:r>
            <a:r>
              <a:rPr lang="en-US" sz="2200" baseline="-25000" dirty="0">
                <a:latin typeface="Calibri" panose="020F0502020204030204" pitchFamily="34" charset="0"/>
                <a:cs typeface="Calibri" panose="020F0502020204030204" pitchFamily="34" charset="0"/>
              </a:rPr>
              <a:t>2</a:t>
            </a:r>
            <a:r>
              <a:rPr lang="en-US" sz="2200" dirty="0">
                <a:latin typeface="Calibri" panose="020F0502020204030204" pitchFamily="34" charset="0"/>
                <a:cs typeface="Calibri" panose="020F0502020204030204" pitchFamily="34" charset="0"/>
              </a:rPr>
              <a:t>, W</a:t>
            </a:r>
            <a:r>
              <a:rPr lang="en-US" sz="2200" baseline="-25000" dirty="0">
                <a:latin typeface="Calibri" panose="020F0502020204030204" pitchFamily="34" charset="0"/>
                <a:cs typeface="Calibri" panose="020F0502020204030204" pitchFamily="34" charset="0"/>
              </a:rPr>
              <a:t>3 </a:t>
            </a:r>
            <a:r>
              <a:rPr lang="en-US" sz="2200" dirty="0">
                <a:latin typeface="Calibri" panose="020F0502020204030204" pitchFamily="34" charset="0"/>
                <a:cs typeface="Calibri" panose="020F0502020204030204" pitchFamily="34" charset="0"/>
              </a:rPr>
              <a:t>, D</a:t>
            </a:r>
            <a:r>
              <a:rPr lang="en-US" sz="2200" baseline="-25000" dirty="0">
                <a:latin typeface="Calibri" panose="020F0502020204030204" pitchFamily="34" charset="0"/>
                <a:cs typeface="Calibri" panose="020F0502020204030204" pitchFamily="34" charset="0"/>
              </a:rPr>
              <a:t>3</a:t>
            </a:r>
            <a:endParaRPr lang="en-US" sz="2200" dirty="0">
              <a:latin typeface="Calibri" panose="020F0502020204030204" pitchFamily="34" charset="0"/>
              <a:cs typeface="Calibri" panose="020F0502020204030204" pitchFamily="34" charset="0"/>
            </a:endParaRPr>
          </a:p>
        </p:txBody>
      </p:sp>
      <p:sp>
        <p:nvSpPr>
          <p:cNvPr id="2" name="Slide Number Placeholder 3">
            <a:extLst>
              <a:ext uri="{FF2B5EF4-FFF2-40B4-BE49-F238E27FC236}">
                <a16:creationId xmlns:a16="http://schemas.microsoft.com/office/drawing/2014/main" id="{D58B2CDB-56C7-44A4-20BB-E4CD4A851B58}"/>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9</a:t>
            </a:fld>
            <a:endParaRPr lang="en-US" altLang="en-US" sz="1400" dirty="0">
              <a:solidFill>
                <a:schemeClr val="tx1"/>
              </a:solidFill>
              <a:latin typeface="Tahoma" panose="020B0604030504040204" pitchFamily="34" charset="0"/>
              <a:ea typeface="MS PGothic" panose="020B0600070205080204" pitchFamily="34" charset="-128"/>
            </a:endParaRPr>
          </a:p>
        </p:txBody>
      </p:sp>
      <p:sp>
        <p:nvSpPr>
          <p:cNvPr id="5" name="Rectangle 2">
            <a:extLst>
              <a:ext uri="{FF2B5EF4-FFF2-40B4-BE49-F238E27FC236}">
                <a16:creationId xmlns:a16="http://schemas.microsoft.com/office/drawing/2014/main" id="{B1C245EB-73AD-86C5-DD48-FF3AB9F22486}"/>
              </a:ext>
            </a:extLst>
          </p:cNvPr>
          <p:cNvSpPr>
            <a:spLocks noGrp="1" noChangeArrowheads="1"/>
          </p:cNvSpPr>
          <p:nvPr>
            <p:ph type="title"/>
          </p:nvPr>
        </p:nvSpPr>
        <p:spPr>
          <a:xfrm>
            <a:off x="934720" y="213360"/>
            <a:ext cx="8168640" cy="533400"/>
          </a:xfrm>
        </p:spPr>
        <p:txBody>
          <a:bodyPr>
            <a:noAutofit/>
          </a:bodyPr>
          <a:lstStyle/>
          <a:p>
            <a:r>
              <a:rPr lang="en-US" sz="3000" dirty="0"/>
              <a:t>Example 2 - Deposit &amp; Withdrawal</a:t>
            </a:r>
          </a:p>
        </p:txBody>
      </p:sp>
    </p:spTree>
    <p:extLst>
      <p:ext uri="{BB962C8B-B14F-4D97-AF65-F5344CB8AC3E}">
        <p14:creationId xmlns:p14="http://schemas.microsoft.com/office/powerpoint/2010/main" val="2001499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2"/>
          <p:cNvSpPr>
            <a:spLocks noGrp="1" noChangeArrowheads="1"/>
          </p:cNvSpPr>
          <p:nvPr>
            <p:ph type="title"/>
          </p:nvPr>
        </p:nvSpPr>
        <p:spPr>
          <a:xfrm>
            <a:off x="985520" y="0"/>
            <a:ext cx="8158480" cy="708584"/>
          </a:xfrm>
        </p:spPr>
        <p:txBody>
          <a:bodyPr>
            <a:normAutofit/>
          </a:bodyPr>
          <a:lstStyle/>
          <a:p>
            <a:pPr algn="ctr" eaLnBrk="0" hangingPunct="0">
              <a:spcBef>
                <a:spcPct val="50000"/>
              </a:spcBef>
            </a:pPr>
            <a:r>
              <a:rPr lang="en-US" sz="3000" b="1" dirty="0">
                <a:ea typeface="+mj-ea"/>
                <a:cs typeface="+mj-cs"/>
              </a:rPr>
              <a:t>Example </a:t>
            </a:r>
            <a:r>
              <a:rPr lang="en-US" sz="3000" dirty="0">
                <a:ea typeface="+mj-ea"/>
                <a:cs typeface="+mj-cs"/>
              </a:rPr>
              <a:t>-</a:t>
            </a:r>
            <a:r>
              <a:rPr lang="en-US" sz="3000" b="1" dirty="0">
                <a:ea typeface="+mj-ea"/>
                <a:cs typeface="+mj-cs"/>
              </a:rPr>
              <a:t> Race Condition</a:t>
            </a:r>
          </a:p>
        </p:txBody>
      </p:sp>
      <p:sp>
        <p:nvSpPr>
          <p:cNvPr id="2" name="Slide Number Placeholder 3">
            <a:extLst>
              <a:ext uri="{FF2B5EF4-FFF2-40B4-BE49-F238E27FC236}">
                <a16:creationId xmlns:a16="http://schemas.microsoft.com/office/drawing/2014/main" id="{1DD38CE7-44E1-4AFB-70C2-C0809384E2ED}"/>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10</a:t>
            </a:fld>
            <a:endParaRPr lang="en-US" altLang="en-US" sz="1400" dirty="0">
              <a:solidFill>
                <a:schemeClr val="tx1"/>
              </a:solidFill>
              <a:latin typeface="Tahoma" panose="020B0604030504040204" pitchFamily="34" charset="0"/>
              <a:ea typeface="MS PGothic" panose="020B0600070205080204" pitchFamily="34" charset="-128"/>
            </a:endParaRPr>
          </a:p>
        </p:txBody>
      </p:sp>
      <p:sp>
        <p:nvSpPr>
          <p:cNvPr id="6" name="Rectangle 5">
            <a:extLst>
              <a:ext uri="{FF2B5EF4-FFF2-40B4-BE49-F238E27FC236}">
                <a16:creationId xmlns:a16="http://schemas.microsoft.com/office/drawing/2014/main" id="{C0F9FE7E-E648-F163-6967-11A271A1BD35}"/>
              </a:ext>
            </a:extLst>
          </p:cNvPr>
          <p:cNvSpPr/>
          <p:nvPr/>
        </p:nvSpPr>
        <p:spPr>
          <a:xfrm>
            <a:off x="549366" y="4785360"/>
            <a:ext cx="3992154" cy="1975926"/>
          </a:xfrm>
          <a:prstGeom prst="rect">
            <a:avLst/>
          </a:prstGeom>
          <a:solidFill>
            <a:schemeClr val="bg1">
              <a:lumMod val="95000"/>
            </a:schemeClr>
          </a:solidFill>
          <a:ln w="12700">
            <a:noFill/>
          </a:ln>
        </p:spPr>
        <p:txBody>
          <a:bodyPr wrap="square">
            <a:spAutoFit/>
          </a:bodyPr>
          <a:lstStyle/>
          <a:p>
            <a:pPr marL="342900" lvl="0" indent="-342900">
              <a:spcBef>
                <a:spcPct val="20000"/>
              </a:spcBef>
              <a:defRPr/>
            </a:pPr>
            <a:r>
              <a:rPr lang="en-US" dirty="0">
                <a:latin typeface="Courier New" pitchFamily="49" charset="0"/>
                <a:cs typeface="Courier New" pitchFamily="49" charset="0"/>
              </a:rPr>
              <a:t>void * </a:t>
            </a:r>
            <a:r>
              <a:rPr lang="en-US" dirty="0" err="1">
                <a:latin typeface="Courier New" pitchFamily="49" charset="0"/>
                <a:cs typeface="Courier New" pitchFamily="49" charset="0"/>
              </a:rPr>
              <a:t>inc</a:t>
            </a:r>
            <a:r>
              <a:rPr lang="en-US" dirty="0">
                <a:latin typeface="Courier New" pitchFamily="49" charset="0"/>
                <a:cs typeface="Courier New" pitchFamily="49" charset="0"/>
              </a:rPr>
              <a:t>(void * </a:t>
            </a:r>
            <a:r>
              <a:rPr lang="en-US" dirty="0" err="1">
                <a:latin typeface="Courier New" pitchFamily="49" charset="0"/>
                <a:cs typeface="Courier New" pitchFamily="49" charset="0"/>
              </a:rPr>
              <a:t>arg</a:t>
            </a:r>
            <a:r>
              <a:rPr lang="en-US" dirty="0">
                <a:latin typeface="Courier New" pitchFamily="49" charset="0"/>
                <a:cs typeface="Courier New" pitchFamily="49" charset="0"/>
              </a:rPr>
              <a:t>){   </a:t>
            </a:r>
          </a:p>
          <a:p>
            <a:pPr marL="342900" lvl="0" indent="-342900">
              <a:spcBef>
                <a:spcPct val="20000"/>
              </a:spcBef>
              <a:defRPr/>
            </a:pPr>
            <a:r>
              <a:rPr lang="en-US" dirty="0">
                <a:latin typeface="Courier New" pitchFamily="49" charset="0"/>
                <a:cs typeface="Courier New" pitchFamily="49" charset="0"/>
              </a:rPr>
              <a:t>	for(long </a:t>
            </a:r>
            <a:r>
              <a:rPr lang="en-US" dirty="0" err="1">
                <a:latin typeface="Courier New" pitchFamily="49" charset="0"/>
                <a:cs typeface="Courier New" pitchFamily="49" charset="0"/>
              </a:rPr>
              <a:t>i</a:t>
            </a:r>
            <a:r>
              <a:rPr lang="en-US" dirty="0">
                <a:latin typeface="Courier New" pitchFamily="49" charset="0"/>
                <a:cs typeface="Courier New" pitchFamily="49" charset="0"/>
              </a:rPr>
              <a:t>=0;</a:t>
            </a:r>
            <a:br>
              <a:rPr lang="en-US" dirty="0">
                <a:latin typeface="Courier New" pitchFamily="49" charset="0"/>
                <a:cs typeface="Courier New" pitchFamily="49" charset="0"/>
              </a:rPr>
            </a:br>
            <a:r>
              <a:rPr lang="en-US" dirty="0">
                <a:latin typeface="Courier New" pitchFamily="49" charset="0"/>
                <a:cs typeface="Courier New" pitchFamily="49" charset="0"/>
              </a:rPr>
              <a:t>     </a:t>
            </a:r>
            <a:r>
              <a:rPr lang="en-US" dirty="0" err="1">
                <a:latin typeface="Courier New" pitchFamily="49" charset="0"/>
                <a:cs typeface="Courier New" pitchFamily="49" charset="0"/>
              </a:rPr>
              <a:t>i</a:t>
            </a:r>
            <a:r>
              <a:rPr lang="en-US" dirty="0">
                <a:latin typeface="Courier New" pitchFamily="49" charset="0"/>
                <a:cs typeface="Courier New" pitchFamily="49" charset="0"/>
              </a:rPr>
              <a:t>&lt;100000000; </a:t>
            </a:r>
            <a:r>
              <a:rPr lang="en-US" dirty="0" err="1">
                <a:latin typeface="Courier New" pitchFamily="49" charset="0"/>
                <a:cs typeface="Courier New" pitchFamily="49" charset="0"/>
              </a:rPr>
              <a:t>i</a:t>
            </a:r>
            <a:r>
              <a:rPr lang="en-US" dirty="0">
                <a:latin typeface="Courier New" pitchFamily="49" charset="0"/>
                <a:cs typeface="Courier New" pitchFamily="49" charset="0"/>
              </a:rPr>
              <a:t>++)</a:t>
            </a:r>
          </a:p>
          <a:p>
            <a:pPr marL="342900" lvl="0" indent="-342900">
              <a:spcBef>
                <a:spcPct val="20000"/>
              </a:spcBef>
              <a:defRPr/>
            </a:pPr>
            <a:r>
              <a:rPr lang="en-US" dirty="0">
                <a:latin typeface="Courier New" pitchFamily="49" charset="0"/>
                <a:cs typeface="Courier New" pitchFamily="49" charset="0"/>
              </a:rPr>
              <a:t>		</a:t>
            </a:r>
            <a:r>
              <a:rPr lang="en-US" b="1" dirty="0">
                <a:latin typeface="Courier New" pitchFamily="49" charset="0"/>
                <a:cs typeface="Courier New" pitchFamily="49" charset="0"/>
              </a:rPr>
              <a:t>balance++</a:t>
            </a:r>
            <a:r>
              <a:rPr lang="en-US" dirty="0">
                <a:latin typeface="Courier New" pitchFamily="49" charset="0"/>
                <a:cs typeface="Courier New" pitchFamily="49" charset="0"/>
              </a:rPr>
              <a:t>;   </a:t>
            </a:r>
          </a:p>
          <a:p>
            <a:pPr marL="342900" lvl="0" indent="-342900">
              <a:spcBef>
                <a:spcPct val="20000"/>
              </a:spcBef>
              <a:defRPr/>
            </a:pPr>
            <a:r>
              <a:rPr lang="en-US" dirty="0">
                <a:latin typeface="Courier New" pitchFamily="49" charset="0"/>
                <a:cs typeface="Courier New" pitchFamily="49" charset="0"/>
              </a:rPr>
              <a:t>	</a:t>
            </a:r>
            <a:r>
              <a:rPr lang="en-US" dirty="0" err="1">
                <a:latin typeface="Courier New" pitchFamily="49" charset="0"/>
                <a:cs typeface="Courier New" pitchFamily="49" charset="0"/>
              </a:rPr>
              <a:t>pthread_exit</a:t>
            </a:r>
            <a:r>
              <a:rPr lang="en-US" dirty="0">
                <a:latin typeface="Courier New" pitchFamily="49" charset="0"/>
                <a:cs typeface="Courier New" pitchFamily="49" charset="0"/>
              </a:rPr>
              <a:t>(NULL);</a:t>
            </a:r>
          </a:p>
          <a:p>
            <a:pPr marL="342900" lvl="0" indent="-342900">
              <a:spcBef>
                <a:spcPct val="20000"/>
              </a:spcBef>
              <a:defRPr/>
            </a:pPr>
            <a:r>
              <a:rPr lang="en-US" dirty="0">
                <a:latin typeface="Courier New" pitchFamily="49" charset="0"/>
                <a:cs typeface="Courier New" pitchFamily="49" charset="0"/>
              </a:rPr>
              <a:t>}</a:t>
            </a:r>
            <a:endParaRPr lang="en-US" i="1" dirty="0">
              <a:latin typeface="Courier New" pitchFamily="49" charset="0"/>
              <a:cs typeface="Courier New" pitchFamily="49" charset="0"/>
            </a:endParaRPr>
          </a:p>
        </p:txBody>
      </p:sp>
      <p:sp>
        <p:nvSpPr>
          <p:cNvPr id="7" name="Rectangle 6">
            <a:extLst>
              <a:ext uri="{FF2B5EF4-FFF2-40B4-BE49-F238E27FC236}">
                <a16:creationId xmlns:a16="http://schemas.microsoft.com/office/drawing/2014/main" id="{31878365-A954-991F-DBC2-247A08FF75C4}"/>
              </a:ext>
            </a:extLst>
          </p:cNvPr>
          <p:cNvSpPr txBox="1">
            <a:spLocks noChangeArrowheads="1"/>
          </p:cNvSpPr>
          <p:nvPr/>
        </p:nvSpPr>
        <p:spPr>
          <a:xfrm>
            <a:off x="538480" y="1041399"/>
            <a:ext cx="8182429" cy="3601721"/>
          </a:xfrm>
          <a:prstGeom prst="rect">
            <a:avLst/>
          </a:prstGeom>
          <a:solidFill>
            <a:schemeClr val="bg1">
              <a:lumMod val="95000"/>
            </a:schemeClr>
          </a:solidFill>
          <a:ln>
            <a:noFill/>
          </a:ln>
        </p:spPr>
        <p:txBody>
          <a:bodyPr>
            <a:noAutofit/>
          </a:bodyPr>
          <a:lstStyle/>
          <a:p>
            <a:pPr marL="342900" lvl="0" indent="-342900">
              <a:lnSpc>
                <a:spcPct val="80000"/>
              </a:lnSpc>
              <a:spcBef>
                <a:spcPct val="20000"/>
              </a:spcBef>
              <a:defRPr/>
            </a:pPr>
            <a:r>
              <a:rPr lang="en-US" sz="2000" dirty="0">
                <a:latin typeface="Courier New" pitchFamily="49" charset="0"/>
                <a:cs typeface="Courier New" pitchFamily="49" charset="0"/>
              </a:rPr>
              <a:t>long </a:t>
            </a:r>
            <a:r>
              <a:rPr lang="en-US" sz="2000" b="1" dirty="0">
                <a:latin typeface="Courier New" pitchFamily="49" charset="0"/>
                <a:cs typeface="Courier New" pitchFamily="49" charset="0"/>
              </a:rPr>
              <a:t>balance = 0</a:t>
            </a:r>
            <a:r>
              <a:rPr lang="en-US" sz="2000" dirty="0">
                <a:latin typeface="Courier New" pitchFamily="49" charset="0"/>
                <a:cs typeface="Courier New" pitchFamily="49" charset="0"/>
              </a:rPr>
              <a:t>;</a:t>
            </a:r>
          </a:p>
          <a:p>
            <a:pPr marL="342900" lvl="0" indent="-342900">
              <a:lnSpc>
                <a:spcPct val="80000"/>
              </a:lnSpc>
              <a:spcBef>
                <a:spcPct val="20000"/>
              </a:spcBef>
              <a:defRPr/>
            </a:pPr>
            <a:r>
              <a:rPr lang="en-US" sz="2000" dirty="0">
                <a:latin typeface="Courier New" pitchFamily="49" charset="0"/>
                <a:cs typeface="Courier New" pitchFamily="49" charset="0"/>
              </a:rPr>
              <a:t>void * </a:t>
            </a:r>
            <a:r>
              <a:rPr lang="en-US" sz="2000" dirty="0" err="1">
                <a:latin typeface="Courier New" pitchFamily="49" charset="0"/>
                <a:cs typeface="Courier New" pitchFamily="49" charset="0"/>
              </a:rPr>
              <a:t>inc</a:t>
            </a:r>
            <a:r>
              <a:rPr lang="en-US" sz="2000" dirty="0">
                <a:latin typeface="Courier New" pitchFamily="49" charset="0"/>
                <a:cs typeface="Courier New" pitchFamily="49" charset="0"/>
              </a:rPr>
              <a:t>(void * </a:t>
            </a:r>
            <a:r>
              <a:rPr lang="en-US" sz="2000" dirty="0" err="1">
                <a:latin typeface="Courier New" pitchFamily="49" charset="0"/>
                <a:cs typeface="Courier New" pitchFamily="49" charset="0"/>
              </a:rPr>
              <a:t>arg</a:t>
            </a:r>
            <a:r>
              <a:rPr lang="en-US" sz="2000" dirty="0">
                <a:latin typeface="Courier New" pitchFamily="49" charset="0"/>
                <a:cs typeface="Courier New" pitchFamily="49" charset="0"/>
              </a:rPr>
              <a:t>);</a:t>
            </a:r>
          </a:p>
          <a:p>
            <a:pPr marL="342900" lvl="0" indent="-342900">
              <a:lnSpc>
                <a:spcPct val="80000"/>
              </a:lnSpc>
              <a:spcBef>
                <a:spcPct val="20000"/>
              </a:spcBef>
              <a:defRPr/>
            </a:pPr>
            <a:r>
              <a:rPr lang="en-US" sz="2000" dirty="0">
                <a:latin typeface="Courier New" pitchFamily="49" charset="0"/>
                <a:cs typeface="Courier New" pitchFamily="49" charset="0"/>
              </a:rPr>
              <a:t>void * </a:t>
            </a:r>
            <a:r>
              <a:rPr lang="en-US" sz="2000" dirty="0" err="1">
                <a:latin typeface="Courier New" pitchFamily="49" charset="0"/>
                <a:cs typeface="Courier New" pitchFamily="49" charset="0"/>
              </a:rPr>
              <a:t>dec</a:t>
            </a:r>
            <a:r>
              <a:rPr lang="en-US" sz="2000" dirty="0">
                <a:latin typeface="Courier New" pitchFamily="49" charset="0"/>
                <a:cs typeface="Courier New" pitchFamily="49" charset="0"/>
              </a:rPr>
              <a:t>(void * </a:t>
            </a:r>
            <a:r>
              <a:rPr lang="en-US" sz="2000" dirty="0" err="1">
                <a:latin typeface="Courier New" pitchFamily="49" charset="0"/>
                <a:cs typeface="Courier New" pitchFamily="49" charset="0"/>
              </a:rPr>
              <a:t>arg</a:t>
            </a:r>
            <a:r>
              <a:rPr lang="en-US" sz="2000" dirty="0">
                <a:latin typeface="Courier New" pitchFamily="49" charset="0"/>
                <a:cs typeface="Courier New" pitchFamily="49" charset="0"/>
              </a:rPr>
              <a:t>);</a:t>
            </a:r>
          </a:p>
          <a:p>
            <a:pPr marL="342900" lvl="0" indent="-342900">
              <a:lnSpc>
                <a:spcPct val="80000"/>
              </a:lnSpc>
              <a:spcBef>
                <a:spcPct val="20000"/>
              </a:spcBef>
              <a:defRPr/>
            </a:pPr>
            <a:r>
              <a:rPr lang="en-US" sz="2000" dirty="0" err="1">
                <a:latin typeface="Courier New" pitchFamily="49" charset="0"/>
                <a:cs typeface="Courier New" pitchFamily="49" charset="0"/>
              </a:rPr>
              <a:t>int</a:t>
            </a:r>
            <a:r>
              <a:rPr lang="en-US" sz="2000" dirty="0">
                <a:latin typeface="Courier New" pitchFamily="49" charset="0"/>
                <a:cs typeface="Courier New" pitchFamily="49" charset="0"/>
              </a:rPr>
              <a:t> main(){   </a:t>
            </a:r>
          </a:p>
          <a:p>
            <a:pPr marL="342900" lvl="0" indent="-342900">
              <a:lnSpc>
                <a:spcPct val="80000"/>
              </a:lnSpc>
              <a:spcBef>
                <a:spcPct val="20000"/>
              </a:spcBef>
              <a:defRPr/>
            </a:pPr>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pthread_t</a:t>
            </a:r>
            <a:r>
              <a:rPr lang="en-US" sz="2000" dirty="0">
                <a:latin typeface="Courier New" pitchFamily="49" charset="0"/>
                <a:cs typeface="Courier New" pitchFamily="49" charset="0"/>
              </a:rPr>
              <a:t> t1, t2;   </a:t>
            </a:r>
          </a:p>
          <a:p>
            <a:pPr marL="342900" lvl="0" indent="-342900">
              <a:spcBef>
                <a:spcPct val="20000"/>
              </a:spcBef>
              <a:defRPr/>
            </a:pPr>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pthread_create</a:t>
            </a:r>
            <a:r>
              <a:rPr lang="en-US" sz="2000" dirty="0">
                <a:latin typeface="Courier New" pitchFamily="49" charset="0"/>
                <a:cs typeface="Courier New" pitchFamily="49" charset="0"/>
              </a:rPr>
              <a:t>(&amp;t1, NULL, </a:t>
            </a:r>
            <a:r>
              <a:rPr lang="en-US" sz="2000" dirty="0" err="1">
                <a:latin typeface="Courier New" pitchFamily="49" charset="0"/>
                <a:cs typeface="Courier New" pitchFamily="49" charset="0"/>
              </a:rPr>
              <a:t>inc</a:t>
            </a:r>
            <a:r>
              <a:rPr lang="en-US" sz="2000" dirty="0">
                <a:latin typeface="Courier New" pitchFamily="49" charset="0"/>
                <a:cs typeface="Courier New" pitchFamily="49" charset="0"/>
              </a:rPr>
              <a:t>, NULL);   </a:t>
            </a:r>
          </a:p>
          <a:p>
            <a:pPr marL="342900" lvl="0" indent="-342900">
              <a:spcBef>
                <a:spcPct val="20000"/>
              </a:spcBef>
              <a:defRPr/>
            </a:pPr>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pthread_create</a:t>
            </a:r>
            <a:r>
              <a:rPr lang="en-US" sz="2000" dirty="0">
                <a:latin typeface="Courier New" pitchFamily="49" charset="0"/>
                <a:cs typeface="Courier New" pitchFamily="49" charset="0"/>
              </a:rPr>
              <a:t>(&amp;t2, NULL, dec, NULL);   </a:t>
            </a:r>
          </a:p>
          <a:p>
            <a:pPr marL="342900" lvl="0" indent="-342900">
              <a:spcBef>
                <a:spcPct val="20000"/>
              </a:spcBef>
              <a:defRPr/>
            </a:pPr>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pthread_join</a:t>
            </a:r>
            <a:r>
              <a:rPr lang="en-US" sz="2000" dirty="0">
                <a:latin typeface="Courier New" pitchFamily="49" charset="0"/>
                <a:cs typeface="Courier New" pitchFamily="49" charset="0"/>
              </a:rPr>
              <a:t>(t1,NULL);   </a:t>
            </a:r>
            <a:r>
              <a:rPr lang="en-US" sz="2000" dirty="0" err="1">
                <a:latin typeface="Courier New" pitchFamily="49" charset="0"/>
                <a:cs typeface="Courier New" pitchFamily="49" charset="0"/>
              </a:rPr>
              <a:t>pthread_join</a:t>
            </a:r>
            <a:r>
              <a:rPr lang="en-US" sz="2000" dirty="0">
                <a:latin typeface="Courier New" pitchFamily="49" charset="0"/>
                <a:cs typeface="Courier New" pitchFamily="49" charset="0"/>
              </a:rPr>
              <a:t>(t2,NULL);   </a:t>
            </a:r>
          </a:p>
          <a:p>
            <a:pPr marL="342900" lvl="0" indent="-342900">
              <a:spcBef>
                <a:spcPct val="20000"/>
              </a:spcBef>
              <a:defRPr/>
            </a:pPr>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printf</a:t>
            </a:r>
            <a:r>
              <a:rPr lang="en-US" sz="2000" dirty="0">
                <a:latin typeface="Courier New" pitchFamily="49" charset="0"/>
                <a:cs typeface="Courier New" pitchFamily="49" charset="0"/>
              </a:rPr>
              <a:t>("Value of balance is :%</a:t>
            </a:r>
            <a:r>
              <a:rPr lang="en-US" sz="2000" dirty="0" err="1">
                <a:latin typeface="Courier New" pitchFamily="49" charset="0"/>
                <a:cs typeface="Courier New" pitchFamily="49" charset="0"/>
              </a:rPr>
              <a:t>ld</a:t>
            </a:r>
            <a:r>
              <a:rPr lang="en-US" sz="2000" dirty="0">
                <a:latin typeface="Courier New" pitchFamily="49" charset="0"/>
                <a:cs typeface="Courier New" pitchFamily="49" charset="0"/>
              </a:rPr>
              <a:t>\n", balance);   </a:t>
            </a:r>
          </a:p>
          <a:p>
            <a:pPr marL="342900" lvl="0" indent="-342900">
              <a:lnSpc>
                <a:spcPct val="80000"/>
              </a:lnSpc>
              <a:spcBef>
                <a:spcPct val="20000"/>
              </a:spcBef>
              <a:defRPr/>
            </a:pPr>
            <a:r>
              <a:rPr lang="en-US" sz="2000" dirty="0">
                <a:latin typeface="Courier New" pitchFamily="49" charset="0"/>
                <a:cs typeface="Courier New" pitchFamily="49" charset="0"/>
              </a:rPr>
              <a:t>	return 0;</a:t>
            </a:r>
          </a:p>
          <a:p>
            <a:pPr marL="342900" lvl="0" indent="-342900">
              <a:lnSpc>
                <a:spcPct val="80000"/>
              </a:lnSpc>
              <a:spcBef>
                <a:spcPct val="20000"/>
              </a:spcBef>
              <a:defRPr/>
            </a:pPr>
            <a:r>
              <a:rPr lang="en-US" sz="2000" dirty="0">
                <a:latin typeface="Courier New" pitchFamily="49" charset="0"/>
                <a:cs typeface="Courier New" pitchFamily="49" charset="0"/>
              </a:rPr>
              <a:t>}</a:t>
            </a:r>
          </a:p>
        </p:txBody>
      </p:sp>
      <p:sp>
        <p:nvSpPr>
          <p:cNvPr id="8" name="Rectangle 7">
            <a:extLst>
              <a:ext uri="{FF2B5EF4-FFF2-40B4-BE49-F238E27FC236}">
                <a16:creationId xmlns:a16="http://schemas.microsoft.com/office/drawing/2014/main" id="{3B3D8EB8-3AC0-3AC5-3B6C-C6759FA35D49}"/>
              </a:ext>
            </a:extLst>
          </p:cNvPr>
          <p:cNvSpPr/>
          <p:nvPr/>
        </p:nvSpPr>
        <p:spPr>
          <a:xfrm>
            <a:off x="4846320" y="4785360"/>
            <a:ext cx="3870234" cy="1975926"/>
          </a:xfrm>
          <a:prstGeom prst="rect">
            <a:avLst/>
          </a:prstGeom>
          <a:solidFill>
            <a:schemeClr val="bg1">
              <a:lumMod val="95000"/>
            </a:schemeClr>
          </a:solidFill>
          <a:ln w="12700">
            <a:noFill/>
          </a:ln>
        </p:spPr>
        <p:txBody>
          <a:bodyPr wrap="square">
            <a:spAutoFit/>
          </a:bodyPr>
          <a:lstStyle/>
          <a:p>
            <a:pPr marL="342900" lvl="0" indent="-342900">
              <a:spcBef>
                <a:spcPct val="20000"/>
              </a:spcBef>
              <a:defRPr/>
            </a:pPr>
            <a:r>
              <a:rPr lang="en-US" dirty="0">
                <a:latin typeface="Courier New" pitchFamily="49" charset="0"/>
                <a:cs typeface="Courier New" pitchFamily="49" charset="0"/>
              </a:rPr>
              <a:t>void * </a:t>
            </a:r>
            <a:r>
              <a:rPr lang="en-US" dirty="0" err="1">
                <a:latin typeface="Courier New" pitchFamily="49" charset="0"/>
                <a:cs typeface="Courier New" pitchFamily="49" charset="0"/>
              </a:rPr>
              <a:t>dec</a:t>
            </a:r>
            <a:r>
              <a:rPr lang="en-US" dirty="0">
                <a:latin typeface="Courier New" pitchFamily="49" charset="0"/>
                <a:cs typeface="Courier New" pitchFamily="49" charset="0"/>
              </a:rPr>
              <a:t>(void * </a:t>
            </a:r>
            <a:r>
              <a:rPr lang="en-US" dirty="0" err="1">
                <a:latin typeface="Courier New" pitchFamily="49" charset="0"/>
                <a:cs typeface="Courier New" pitchFamily="49" charset="0"/>
              </a:rPr>
              <a:t>arg</a:t>
            </a:r>
            <a:r>
              <a:rPr lang="en-US" dirty="0">
                <a:latin typeface="Courier New" pitchFamily="49" charset="0"/>
                <a:cs typeface="Courier New" pitchFamily="49" charset="0"/>
              </a:rPr>
              <a:t>){   </a:t>
            </a:r>
          </a:p>
          <a:p>
            <a:pPr marL="342900" lvl="0" indent="-342900">
              <a:spcBef>
                <a:spcPct val="20000"/>
              </a:spcBef>
              <a:defRPr/>
            </a:pPr>
            <a:r>
              <a:rPr lang="en-US" dirty="0">
                <a:latin typeface="Courier New" pitchFamily="49" charset="0"/>
                <a:cs typeface="Courier New" pitchFamily="49" charset="0"/>
              </a:rPr>
              <a:t>	for(long </a:t>
            </a:r>
            <a:r>
              <a:rPr lang="en-US" dirty="0" err="1">
                <a:latin typeface="Courier New" pitchFamily="49" charset="0"/>
                <a:cs typeface="Courier New" pitchFamily="49" charset="0"/>
              </a:rPr>
              <a:t>i</a:t>
            </a:r>
            <a:r>
              <a:rPr lang="en-US" dirty="0">
                <a:latin typeface="Courier New" pitchFamily="49" charset="0"/>
                <a:cs typeface="Courier New" pitchFamily="49" charset="0"/>
              </a:rPr>
              <a:t>=0;</a:t>
            </a:r>
            <a:br>
              <a:rPr lang="en-US" dirty="0">
                <a:latin typeface="Courier New" pitchFamily="49" charset="0"/>
                <a:cs typeface="Courier New" pitchFamily="49" charset="0"/>
              </a:rPr>
            </a:br>
            <a:r>
              <a:rPr lang="en-US" dirty="0">
                <a:latin typeface="Courier New" pitchFamily="49" charset="0"/>
                <a:cs typeface="Courier New" pitchFamily="49" charset="0"/>
              </a:rPr>
              <a:t>	 </a:t>
            </a:r>
            <a:r>
              <a:rPr lang="en-US" dirty="0" err="1">
                <a:latin typeface="Courier New" pitchFamily="49" charset="0"/>
                <a:cs typeface="Courier New" pitchFamily="49" charset="0"/>
              </a:rPr>
              <a:t>i</a:t>
            </a:r>
            <a:r>
              <a:rPr lang="en-US" dirty="0">
                <a:latin typeface="Courier New" pitchFamily="49" charset="0"/>
                <a:cs typeface="Courier New" pitchFamily="49" charset="0"/>
              </a:rPr>
              <a:t>&lt;100000000; </a:t>
            </a:r>
            <a:r>
              <a:rPr lang="en-US" dirty="0" err="1">
                <a:latin typeface="Courier New" pitchFamily="49" charset="0"/>
                <a:cs typeface="Courier New" pitchFamily="49" charset="0"/>
              </a:rPr>
              <a:t>i</a:t>
            </a:r>
            <a:r>
              <a:rPr lang="en-US" dirty="0">
                <a:latin typeface="Courier New" pitchFamily="49" charset="0"/>
                <a:cs typeface="Courier New" pitchFamily="49" charset="0"/>
              </a:rPr>
              <a:t>++)</a:t>
            </a:r>
          </a:p>
          <a:p>
            <a:pPr marL="342900" lvl="0" indent="-342900">
              <a:spcBef>
                <a:spcPct val="20000"/>
              </a:spcBef>
              <a:defRPr/>
            </a:pPr>
            <a:r>
              <a:rPr lang="en-US" dirty="0">
                <a:latin typeface="Courier New" pitchFamily="49" charset="0"/>
                <a:cs typeface="Courier New" pitchFamily="49" charset="0"/>
              </a:rPr>
              <a:t>		</a:t>
            </a:r>
            <a:r>
              <a:rPr lang="en-US" b="1" dirty="0">
                <a:latin typeface="Courier New" pitchFamily="49" charset="0"/>
                <a:cs typeface="Courier New" pitchFamily="49" charset="0"/>
              </a:rPr>
              <a:t>balance--</a:t>
            </a:r>
            <a:r>
              <a:rPr lang="en-US" dirty="0">
                <a:latin typeface="Courier New" pitchFamily="49" charset="0"/>
                <a:cs typeface="Courier New" pitchFamily="49" charset="0"/>
              </a:rPr>
              <a:t>;   </a:t>
            </a:r>
          </a:p>
          <a:p>
            <a:pPr marL="342900" lvl="0" indent="-342900">
              <a:spcBef>
                <a:spcPct val="20000"/>
              </a:spcBef>
              <a:defRPr/>
            </a:pPr>
            <a:r>
              <a:rPr lang="en-US" dirty="0">
                <a:latin typeface="Courier New" pitchFamily="49" charset="0"/>
                <a:cs typeface="Courier New" pitchFamily="49" charset="0"/>
              </a:rPr>
              <a:t>	</a:t>
            </a:r>
            <a:r>
              <a:rPr lang="en-US" dirty="0" err="1">
                <a:latin typeface="Courier New" pitchFamily="49" charset="0"/>
                <a:cs typeface="Courier New" pitchFamily="49" charset="0"/>
              </a:rPr>
              <a:t>pthread_exit</a:t>
            </a:r>
            <a:r>
              <a:rPr lang="en-US" dirty="0">
                <a:latin typeface="Courier New" pitchFamily="49" charset="0"/>
                <a:cs typeface="Courier New" pitchFamily="49" charset="0"/>
              </a:rPr>
              <a:t>(NULL);</a:t>
            </a:r>
          </a:p>
          <a:p>
            <a:pPr marL="342900" lvl="0" indent="-342900">
              <a:spcBef>
                <a:spcPct val="20000"/>
              </a:spcBef>
              <a:defRPr/>
            </a:pPr>
            <a:r>
              <a:rPr lang="en-US" dirty="0">
                <a:latin typeface="Courier New" pitchFamily="49" charset="0"/>
                <a:cs typeface="Courier New" pitchFamily="49" charset="0"/>
              </a:rPr>
              <a:t>}</a:t>
            </a:r>
            <a:endParaRPr lang="en-US" i="1" dirty="0">
              <a:latin typeface="Courier New" pitchFamily="49" charset="0"/>
              <a:cs typeface="Courier New" pitchFamily="49" charset="0"/>
            </a:endParaRPr>
          </a:p>
        </p:txBody>
      </p:sp>
    </p:spTree>
    <p:extLst>
      <p:ext uri="{BB962C8B-B14F-4D97-AF65-F5344CB8AC3E}">
        <p14:creationId xmlns:p14="http://schemas.microsoft.com/office/powerpoint/2010/main" val="1664451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026"/>
          <p:cNvSpPr>
            <a:spLocks noGrp="1" noChangeArrowheads="1"/>
          </p:cNvSpPr>
          <p:nvPr>
            <p:ph type="title"/>
          </p:nvPr>
        </p:nvSpPr>
        <p:spPr>
          <a:xfrm>
            <a:off x="397625" y="114069"/>
            <a:ext cx="8305800" cy="659631"/>
          </a:xfrm>
        </p:spPr>
        <p:txBody>
          <a:bodyPr>
            <a:noAutofit/>
          </a:bodyPr>
          <a:lstStyle/>
          <a:p>
            <a:r>
              <a:rPr lang="en-US" dirty="0"/>
              <a:t>Important Concepts</a:t>
            </a:r>
          </a:p>
        </p:txBody>
      </p:sp>
      <p:sp>
        <p:nvSpPr>
          <p:cNvPr id="16" name="Rectangle 3"/>
          <p:cNvSpPr txBox="1">
            <a:spLocks noChangeArrowheads="1"/>
          </p:cNvSpPr>
          <p:nvPr/>
        </p:nvSpPr>
        <p:spPr>
          <a:xfrm>
            <a:off x="397625" y="1066800"/>
            <a:ext cx="8512695" cy="5334000"/>
          </a:xfrm>
          <a:prstGeom prst="rect">
            <a:avLst/>
          </a:prstGeom>
        </p:spPr>
        <p:txBody>
          <a:bodyPr vert="horz" lIns="91440" tIns="45720" rIns="91440" bIns="45720" rtlCol="0">
            <a:noAutofit/>
          </a:bodyPr>
          <a:lstStyle/>
          <a:p>
            <a:pPr marL="342900" marR="0" lvl="0" indent="-342900" defTabSz="914400" rtl="0" eaLnBrk="1" fontAlgn="auto" latinLnBrk="0" hangingPunct="1">
              <a:spcBef>
                <a:spcPts val="600"/>
              </a:spcBef>
              <a:spcAft>
                <a:spcPts val="0"/>
              </a:spcAft>
              <a:buClrTx/>
              <a:buSzTx/>
              <a:buFont typeface="Wingdings" panose="05000000000000000000" pitchFamily="2" charset="2"/>
              <a:buChar char="§"/>
              <a:tabLst/>
              <a:defRPr/>
            </a:pPr>
            <a:r>
              <a:rPr lang="en-US" sz="2400" b="1" dirty="0">
                <a:solidFill>
                  <a:srgbClr val="0000CC"/>
                </a:solidFill>
                <a:latin typeface="Calibri" panose="020F0502020204030204" pitchFamily="34" charset="0"/>
                <a:cs typeface="Calibri" panose="020F0502020204030204" pitchFamily="34" charset="0"/>
              </a:rPr>
              <a:t>Race Condition</a:t>
            </a:r>
          </a:p>
          <a:p>
            <a:pPr marL="741363" lvl="1" indent="-284163" eaLnBrk="1" fontAlgn="auto" hangingPunct="1">
              <a:spcBef>
                <a:spcPts val="600"/>
              </a:spcBef>
              <a:spcAft>
                <a:spcPts val="0"/>
              </a:spcAft>
              <a:buFont typeface="Arial" panose="020B0604020202020204" pitchFamily="34" charset="0"/>
              <a:buChar char="•"/>
              <a:defRPr/>
            </a:pPr>
            <a:r>
              <a:rPr lang="en-US" sz="2300" dirty="0">
                <a:latin typeface="Calibri" panose="020F0502020204030204" pitchFamily="34" charset="0"/>
                <a:cs typeface="Calibri" panose="020F0502020204030204" pitchFamily="34" charset="0"/>
              </a:rPr>
              <a:t>situation where several cooperating processes/threads try to update the same shared data concurrently </a:t>
            </a:r>
          </a:p>
          <a:p>
            <a:pPr marL="741363" lvl="1" indent="-284163" eaLnBrk="1" fontAlgn="auto" hangingPunct="1">
              <a:spcBef>
                <a:spcPts val="600"/>
              </a:spcBef>
              <a:spcAft>
                <a:spcPts val="0"/>
              </a:spcAft>
              <a:buFont typeface="Arial" panose="020B0604020202020204" pitchFamily="34" charset="0"/>
              <a:buChar char="•"/>
              <a:defRPr/>
            </a:pPr>
            <a:r>
              <a:rPr lang="en-US" sz="2300" dirty="0">
                <a:latin typeface="Calibri" panose="020F0502020204030204" pitchFamily="34" charset="0"/>
                <a:cs typeface="Calibri" panose="020F0502020204030204" pitchFamily="34" charset="0"/>
              </a:rPr>
              <a:t>final value of data depends on which thread finishes last</a:t>
            </a:r>
          </a:p>
          <a:p>
            <a:pPr marL="342900" indent="-342900" eaLnBrk="1" fontAlgn="auto" hangingPunct="1">
              <a:spcBef>
                <a:spcPts val="1800"/>
              </a:spcBef>
              <a:spcAft>
                <a:spcPts val="0"/>
              </a:spcAft>
              <a:buFont typeface="Wingdings" panose="05000000000000000000" pitchFamily="2" charset="2"/>
              <a:buChar char="§"/>
              <a:defRPr/>
            </a:pPr>
            <a:r>
              <a:rPr lang="en-US" sz="2400" b="1" dirty="0">
                <a:solidFill>
                  <a:srgbClr val="0000CC"/>
                </a:solidFill>
                <a:latin typeface="Calibri" panose="020F0502020204030204" pitchFamily="34" charset="0"/>
                <a:cs typeface="Calibri" panose="020F0502020204030204" pitchFamily="34" charset="0"/>
              </a:rPr>
              <a:t>Critical Section </a:t>
            </a:r>
          </a:p>
          <a:p>
            <a:pPr marL="741363" lvl="1" indent="-284163" eaLnBrk="1" fontAlgn="auto" hangingPunct="1">
              <a:spcBef>
                <a:spcPts val="600"/>
              </a:spcBef>
              <a:spcAft>
                <a:spcPts val="0"/>
              </a:spcAft>
              <a:buFont typeface="Arial" panose="020B0604020202020204" pitchFamily="34" charset="0"/>
              <a:buChar char="•"/>
              <a:defRPr/>
            </a:pPr>
            <a:r>
              <a:rPr lang="en-US" sz="2300" dirty="0">
                <a:latin typeface="Calibri" panose="020F0502020204030204" pitchFamily="34" charset="0"/>
                <a:cs typeface="Calibri" panose="020F0502020204030204" pitchFamily="34" charset="0"/>
              </a:rPr>
              <a:t>piece of code in cooperating processes/threads in which they </a:t>
            </a:r>
            <a:br>
              <a:rPr lang="en-US" sz="2300" dirty="0">
                <a:latin typeface="Calibri" panose="020F0502020204030204" pitchFamily="34" charset="0"/>
                <a:cs typeface="Calibri" panose="020F0502020204030204" pitchFamily="34" charset="0"/>
              </a:rPr>
            </a:br>
            <a:r>
              <a:rPr lang="en-US" sz="2300" dirty="0">
                <a:latin typeface="Calibri" panose="020F0502020204030204" pitchFamily="34" charset="0"/>
                <a:cs typeface="Calibri" panose="020F0502020204030204" pitchFamily="34" charset="0"/>
              </a:rPr>
              <a:t>may access &amp; update some shared data </a:t>
            </a:r>
            <a:r>
              <a:rPr lang="en-US" sz="2300" i="1" dirty="0">
                <a:latin typeface="Calibri" panose="020F0502020204030204" pitchFamily="34" charset="0"/>
                <a:cs typeface="Calibri" panose="020F0502020204030204" pitchFamily="34" charset="0"/>
              </a:rPr>
              <a:t>– variable, file, DB</a:t>
            </a:r>
            <a:endParaRPr lang="en-US" sz="2300" dirty="0">
              <a:latin typeface="Calibri" panose="020F0502020204030204" pitchFamily="34" charset="0"/>
              <a:cs typeface="Calibri" panose="020F0502020204030204" pitchFamily="34" charset="0"/>
            </a:endParaRPr>
          </a:p>
          <a:p>
            <a:pPr marL="342900" indent="-342900" eaLnBrk="1" fontAlgn="auto" hangingPunct="1">
              <a:spcBef>
                <a:spcPts val="1800"/>
              </a:spcBef>
              <a:spcAft>
                <a:spcPts val="0"/>
              </a:spcAft>
              <a:buFont typeface="Wingdings" panose="05000000000000000000" pitchFamily="2" charset="2"/>
              <a:buChar char="§"/>
              <a:defRPr/>
            </a:pPr>
            <a:r>
              <a:rPr lang="en-US" sz="2400" b="1" dirty="0">
                <a:solidFill>
                  <a:srgbClr val="0000CC"/>
                </a:solidFill>
                <a:latin typeface="Calibri" panose="020F0502020204030204" pitchFamily="34" charset="0"/>
                <a:cs typeface="Calibri" panose="020F0502020204030204" pitchFamily="34" charset="0"/>
              </a:rPr>
              <a:t>Critical Section Problem</a:t>
            </a:r>
          </a:p>
          <a:p>
            <a:pPr marL="741363" lvl="1" indent="-284163" eaLnBrk="1" fontAlgn="auto" hangingPunct="1">
              <a:spcBef>
                <a:spcPts val="600"/>
              </a:spcBef>
              <a:spcAft>
                <a:spcPts val="0"/>
              </a:spcAft>
              <a:buFont typeface="Arial" panose="020B0604020202020204" pitchFamily="34" charset="0"/>
              <a:buChar char="•"/>
              <a:defRPr/>
            </a:pPr>
            <a:r>
              <a:rPr lang="en-US" sz="2300" dirty="0">
                <a:latin typeface="Calibri" panose="020F0502020204030204" pitchFamily="34" charset="0"/>
                <a:cs typeface="Calibri" panose="020F0502020204030204" pitchFamily="34" charset="0"/>
              </a:rPr>
              <a:t>multiple cooperating processes/threads may try to execute their </a:t>
            </a:r>
            <a:r>
              <a:rPr lang="en-US" sz="2300" b="1" dirty="0">
                <a:solidFill>
                  <a:srgbClr val="FF0000"/>
                </a:solidFill>
                <a:latin typeface="Calibri" panose="020F0502020204030204" pitchFamily="34" charset="0"/>
                <a:cs typeface="Calibri" panose="020F0502020204030204" pitchFamily="34" charset="0"/>
              </a:rPr>
              <a:t>CS</a:t>
            </a:r>
            <a:r>
              <a:rPr lang="en-US" sz="2300" dirty="0">
                <a:latin typeface="Calibri" panose="020F0502020204030204" pitchFamily="34" charset="0"/>
                <a:cs typeface="Calibri" panose="020F0502020204030204" pitchFamily="34" charset="0"/>
              </a:rPr>
              <a:t> simultaneously</a:t>
            </a:r>
          </a:p>
          <a:p>
            <a:pPr marL="741363" lvl="1" indent="-284163" eaLnBrk="1" fontAlgn="auto" hangingPunct="1">
              <a:spcBef>
                <a:spcPts val="600"/>
              </a:spcBef>
              <a:spcAft>
                <a:spcPts val="0"/>
              </a:spcAft>
              <a:buFont typeface="Arial" panose="020B0604020202020204" pitchFamily="34" charset="0"/>
              <a:buChar char="•"/>
              <a:defRPr/>
            </a:pPr>
            <a:r>
              <a:rPr lang="en-US" sz="2300" dirty="0">
                <a:latin typeface="Calibri" panose="020F0502020204030204" pitchFamily="34" charset="0"/>
                <a:cs typeface="Calibri" panose="020F0502020204030204" pitchFamily="34" charset="0"/>
              </a:rPr>
              <a:t>need a mechanism to allow them to execute their </a:t>
            </a:r>
            <a:r>
              <a:rPr lang="en-US" sz="2300" b="1" dirty="0">
                <a:solidFill>
                  <a:srgbClr val="FF0000"/>
                </a:solidFill>
                <a:latin typeface="Calibri" panose="020F0502020204030204" pitchFamily="34" charset="0"/>
                <a:cs typeface="Calibri" panose="020F0502020204030204" pitchFamily="34" charset="0"/>
              </a:rPr>
              <a:t>CS</a:t>
            </a:r>
            <a:r>
              <a:rPr lang="en-US" sz="2300" dirty="0">
                <a:latin typeface="Calibri" panose="020F0502020204030204" pitchFamily="34" charset="0"/>
                <a:cs typeface="Calibri" panose="020F0502020204030204" pitchFamily="34" charset="0"/>
              </a:rPr>
              <a:t>, </a:t>
            </a:r>
            <a:br>
              <a:rPr lang="en-US" sz="2300" dirty="0">
                <a:latin typeface="Calibri" panose="020F0502020204030204" pitchFamily="34" charset="0"/>
                <a:cs typeface="Calibri" panose="020F0502020204030204" pitchFamily="34" charset="0"/>
              </a:rPr>
            </a:br>
            <a:r>
              <a:rPr lang="en-US" sz="2300" i="1" dirty="0">
                <a:solidFill>
                  <a:srgbClr val="FF0000"/>
                </a:solidFill>
                <a:latin typeface="Calibri" panose="020F0502020204030204" pitchFamily="34" charset="0"/>
                <a:cs typeface="Calibri" panose="020F0502020204030204" pitchFamily="34" charset="0"/>
              </a:rPr>
              <a:t>one by one,  completely,  without interruption</a:t>
            </a:r>
            <a:endParaRPr kumimoji="0" lang="en-US" sz="2300" b="0" i="1" u="none" strike="noStrike" kern="1200" cap="none" spc="0" normalizeH="0" noProof="0" dirty="0">
              <a:ln>
                <a:noFill/>
              </a:ln>
              <a:solidFill>
                <a:srgbClr val="FF0000"/>
              </a:solidFill>
              <a:effectLst/>
              <a:uLnTx/>
              <a:uFillTx/>
              <a:latin typeface="Calibri" panose="020F0502020204030204" pitchFamily="34" charset="0"/>
              <a:ea typeface="+mn-ea"/>
              <a:cs typeface="Calibri" panose="020F0502020204030204" pitchFamily="34" charset="0"/>
            </a:endParaRPr>
          </a:p>
        </p:txBody>
      </p:sp>
      <p:sp>
        <p:nvSpPr>
          <p:cNvPr id="2" name="Slide Number Placeholder 3">
            <a:extLst>
              <a:ext uri="{FF2B5EF4-FFF2-40B4-BE49-F238E27FC236}">
                <a16:creationId xmlns:a16="http://schemas.microsoft.com/office/drawing/2014/main" id="{31E44D78-8F9F-6C30-2463-D5C19AD17BCC}"/>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11</a:t>
            </a:fld>
            <a:endParaRPr lang="en-US" altLang="en-US" sz="1400" dirty="0">
              <a:solidFill>
                <a:schemeClr val="tx1"/>
              </a:solidFill>
              <a:latin typeface="Tahoma" panose="020B0604030504040204" pitchFamily="34" charset="0"/>
              <a:ea typeface="MS PGothic" panose="020B0600070205080204" pitchFamily="34" charset="-128"/>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026"/>
          <p:cNvSpPr>
            <a:spLocks noGrp="1" noChangeArrowheads="1"/>
          </p:cNvSpPr>
          <p:nvPr>
            <p:ph type="title"/>
          </p:nvPr>
        </p:nvSpPr>
        <p:spPr>
          <a:xfrm>
            <a:off x="397625" y="42950"/>
            <a:ext cx="8305800" cy="719050"/>
          </a:xfrm>
        </p:spPr>
        <p:txBody>
          <a:bodyPr>
            <a:noAutofit/>
          </a:bodyPr>
          <a:lstStyle/>
          <a:p>
            <a:r>
              <a:rPr lang="en-US" dirty="0"/>
              <a:t>Important Concepts</a:t>
            </a:r>
          </a:p>
        </p:txBody>
      </p:sp>
      <p:sp>
        <p:nvSpPr>
          <p:cNvPr id="9" name="Rectangle 3"/>
          <p:cNvSpPr txBox="1">
            <a:spLocks noChangeArrowheads="1"/>
          </p:cNvSpPr>
          <p:nvPr/>
        </p:nvSpPr>
        <p:spPr>
          <a:xfrm>
            <a:off x="377305" y="1097281"/>
            <a:ext cx="8604862" cy="5557520"/>
          </a:xfrm>
          <a:prstGeom prst="rect">
            <a:avLst/>
          </a:prstGeom>
        </p:spPr>
        <p:txBody>
          <a:bodyPr vert="horz" lIns="91440" tIns="45720" rIns="91440" bIns="45720" rtlCol="0">
            <a:noAutofit/>
          </a:bodyPr>
          <a:lstStyle/>
          <a:p>
            <a:pPr marR="0" lvl="0" algn="l" defTabSz="914400" rtl="0" eaLnBrk="1" fontAlgn="auto" latinLnBrk="0" hangingPunct="1">
              <a:spcBef>
                <a:spcPts val="600"/>
              </a:spcBef>
              <a:spcAft>
                <a:spcPts val="0"/>
              </a:spcAft>
              <a:buClrTx/>
              <a:buSzTx/>
              <a:tabLst/>
              <a:defRPr/>
            </a:pPr>
            <a:r>
              <a:rPr kumimoji="0" lang="en-US" sz="2300" b="0" i="0" u="none" strike="noStrike" kern="1200" cap="none" spc="0" normalizeH="0" baseline="0" noProof="0" dirty="0">
                <a:ln>
                  <a:noFill/>
                </a:ln>
                <a:effectLst/>
                <a:uLnTx/>
                <a:uFillTx/>
                <a:latin typeface="Calibri" panose="020F0502020204030204" pitchFamily="34" charset="0"/>
                <a:cs typeface="Calibri" panose="020F0502020204030204" pitchFamily="34" charset="0"/>
              </a:rPr>
              <a:t>For </a:t>
            </a:r>
            <a:r>
              <a:rPr kumimoji="0" lang="en-US" sz="2300" b="1" i="0" u="none" strike="noStrike" kern="1200" cap="none" spc="0" normalizeH="0" baseline="0" noProof="0" dirty="0">
                <a:ln>
                  <a:noFill/>
                </a:ln>
                <a:solidFill>
                  <a:srgbClr val="FF0000"/>
                </a:solidFill>
                <a:effectLst/>
                <a:uLnTx/>
                <a:uFillTx/>
                <a:latin typeface="Calibri" panose="020F0502020204030204" pitchFamily="34" charset="0"/>
                <a:cs typeface="Calibri" panose="020F0502020204030204" pitchFamily="34" charset="0"/>
              </a:rPr>
              <a:t>CS</a:t>
            </a:r>
            <a:r>
              <a:rPr kumimoji="0" lang="en-US" sz="2300" b="0" i="0" u="none" strike="noStrike" kern="1200" cap="none" spc="0" normalizeH="0" baseline="0" noProof="0" dirty="0">
                <a:ln>
                  <a:noFill/>
                </a:ln>
                <a:effectLst/>
                <a:uLnTx/>
                <a:uFillTx/>
                <a:latin typeface="Calibri" panose="020F0502020204030204" pitchFamily="34" charset="0"/>
                <a:cs typeface="Calibri" panose="020F0502020204030204" pitchFamily="34" charset="0"/>
              </a:rPr>
              <a:t> to run un-interrupted, we need atomic operations:</a:t>
            </a:r>
          </a:p>
          <a:p>
            <a:pPr marL="342900" marR="0" lvl="0" indent="-342900" algn="l" defTabSz="914400" rtl="0" eaLnBrk="1" fontAlgn="auto" latinLnBrk="0" hangingPunct="1">
              <a:spcBef>
                <a:spcPts val="1800"/>
              </a:spcBef>
              <a:spcAft>
                <a:spcPts val="0"/>
              </a:spcAft>
              <a:buClrTx/>
              <a:buSzTx/>
              <a:buFont typeface="Wingdings" panose="05000000000000000000" pitchFamily="2" charset="2"/>
              <a:buChar char="§"/>
              <a:tabLst/>
              <a:defRPr/>
            </a:pPr>
            <a:r>
              <a:rPr kumimoji="0" lang="en-US" sz="2400" b="1" i="0" u="none" strike="noStrike" kern="1200" cap="none" spc="0" normalizeH="0" baseline="0" noProof="0" dirty="0">
                <a:ln>
                  <a:noFill/>
                </a:ln>
                <a:solidFill>
                  <a:srgbClr val="0000CC"/>
                </a:solidFill>
                <a:effectLst/>
                <a:uLnTx/>
                <a:uFillTx/>
                <a:latin typeface="Calibri" panose="020F0502020204030204" pitchFamily="34" charset="0"/>
                <a:cs typeface="Calibri" panose="020F0502020204030204" pitchFamily="34" charset="0"/>
              </a:rPr>
              <a:t>Atomic Operation</a:t>
            </a:r>
            <a:r>
              <a:rPr kumimoji="0" lang="en-US" sz="2400" b="0" i="0" u="none" strike="noStrike" kern="1200" cap="none" spc="0" normalizeH="0" baseline="0" noProof="0" dirty="0">
                <a:ln>
                  <a:noFill/>
                </a:ln>
                <a:solidFill>
                  <a:srgbClr val="0000CC"/>
                </a:solidFill>
                <a:effectLst/>
                <a:uLnTx/>
                <a:uFillTx/>
                <a:latin typeface="Calibri" panose="020F0502020204030204" pitchFamily="34" charset="0"/>
                <a:cs typeface="Calibri" panose="020F0502020204030204" pitchFamily="34" charset="0"/>
              </a:rPr>
              <a:t> </a:t>
            </a:r>
          </a:p>
          <a:p>
            <a:pPr marL="0" lvl="1" algn="ctr" eaLnBrk="1" fontAlgn="auto" hangingPunct="1">
              <a:lnSpc>
                <a:spcPct val="110000"/>
              </a:lnSpc>
              <a:spcBef>
                <a:spcPts val="1200"/>
              </a:spcBef>
              <a:spcAft>
                <a:spcPts val="0"/>
              </a:spcAft>
              <a:defRPr/>
            </a:pPr>
            <a:r>
              <a:rPr lang="en-US" sz="2400" i="1" dirty="0">
                <a:solidFill>
                  <a:srgbClr val="C00000"/>
                </a:solidFill>
                <a:latin typeface="Calibri" panose="020F0502020204030204" pitchFamily="34" charset="0"/>
                <a:cs typeface="Calibri" panose="020F0502020204030204" pitchFamily="34" charset="0"/>
              </a:rPr>
              <a:t>“operation that always runs to completion, or not at all”</a:t>
            </a:r>
          </a:p>
          <a:p>
            <a:pPr marL="800100" lvl="1" indent="-342900" eaLnBrk="1" fontAlgn="auto" hangingPunct="1">
              <a:lnSpc>
                <a:spcPct val="110000"/>
              </a:lnSpc>
              <a:spcBef>
                <a:spcPts val="1200"/>
              </a:spcBef>
              <a:spcAft>
                <a:spcPts val="0"/>
              </a:spcAft>
              <a:buFont typeface="Arial" pitchFamily="34" charset="0"/>
              <a:buChar char="•"/>
              <a:defRPr/>
            </a:pPr>
            <a:r>
              <a:rPr lang="en-US" sz="2200" b="1" dirty="0">
                <a:latin typeface="Calibri" panose="020F0502020204030204" pitchFamily="34" charset="0"/>
                <a:cs typeface="Calibri" panose="020F0502020204030204" pitchFamily="34" charset="0"/>
              </a:rPr>
              <a:t>Indivisible –</a:t>
            </a:r>
            <a:r>
              <a:rPr lang="en-US" sz="2200" dirty="0">
                <a:latin typeface="Calibri" panose="020F0502020204030204" pitchFamily="34" charset="0"/>
                <a:cs typeface="Calibri" panose="020F0502020204030204" pitchFamily="34" charset="0"/>
              </a:rPr>
              <a:t> </a:t>
            </a:r>
            <a:r>
              <a:rPr kumimoji="0" lang="en-US" sz="2200" b="0" i="0" u="none" strike="noStrike" kern="1200" cap="none" spc="0" normalizeH="0" baseline="0" noProof="0" dirty="0">
                <a:ln>
                  <a:noFill/>
                </a:ln>
                <a:effectLst/>
                <a:uLnTx/>
                <a:uFillTx/>
                <a:latin typeface="Calibri" panose="020F0502020204030204" pitchFamily="34" charset="0"/>
                <a:cs typeface="Calibri" panose="020F0502020204030204" pitchFamily="34" charset="0"/>
              </a:rPr>
              <a:t>cannot be interrupted </a:t>
            </a:r>
            <a:endParaRPr lang="en-US" sz="2200" dirty="0">
              <a:latin typeface="Calibri" panose="020F0502020204030204" pitchFamily="34" charset="0"/>
              <a:cs typeface="Calibri" panose="020F0502020204030204" pitchFamily="34" charset="0"/>
            </a:endParaRPr>
          </a:p>
          <a:p>
            <a:pPr marL="800100" lvl="1" indent="-342900" eaLnBrk="1" fontAlgn="auto" hangingPunct="1">
              <a:lnSpc>
                <a:spcPct val="110000"/>
              </a:lnSpc>
              <a:spcBef>
                <a:spcPts val="600"/>
              </a:spcBef>
              <a:spcAft>
                <a:spcPts val="0"/>
              </a:spcAft>
              <a:buFont typeface="Arial" pitchFamily="34" charset="0"/>
              <a:buChar char="•"/>
              <a:defRPr/>
            </a:pPr>
            <a:r>
              <a:rPr lang="en-US" sz="2200" dirty="0">
                <a:latin typeface="Calibri" panose="020F0502020204030204" pitchFamily="34" charset="0"/>
                <a:cs typeface="Calibri" panose="020F0502020204030204" pitchFamily="34" charset="0"/>
              </a:rPr>
              <a:t>state not modified by other processes, during the operation</a:t>
            </a:r>
          </a:p>
          <a:p>
            <a:pPr marL="800100" lvl="1" indent="-342900" eaLnBrk="1" fontAlgn="auto" hangingPunct="1">
              <a:lnSpc>
                <a:spcPct val="110000"/>
              </a:lnSpc>
              <a:spcBef>
                <a:spcPts val="600"/>
              </a:spcBef>
              <a:spcAft>
                <a:spcPts val="0"/>
              </a:spcAft>
              <a:buFont typeface="Arial" pitchFamily="34" charset="0"/>
              <a:buChar char="•"/>
              <a:defRPr/>
            </a:pPr>
            <a:r>
              <a:rPr lang="en-US" sz="2200" dirty="0">
                <a:latin typeface="Calibri" panose="020F0502020204030204" pitchFamily="34" charset="0"/>
                <a:cs typeface="Calibri" panose="020F0502020204030204" pitchFamily="34" charset="0"/>
              </a:rPr>
              <a:t>fundamental building block for synchronization</a:t>
            </a:r>
          </a:p>
          <a:p>
            <a:pPr marL="342900" lvl="0" indent="-342900" eaLnBrk="1" fontAlgn="auto" hangingPunct="1">
              <a:spcBef>
                <a:spcPts val="1800"/>
              </a:spcBef>
              <a:spcAft>
                <a:spcPts val="0"/>
              </a:spcAft>
              <a:buFont typeface="Wingdings" panose="05000000000000000000" pitchFamily="2" charset="2"/>
              <a:buChar char="§"/>
              <a:defRPr/>
            </a:pPr>
            <a:r>
              <a:rPr kumimoji="0" lang="en-US" sz="2200" b="0" i="0" u="none" strike="noStrike" kern="1200" cap="none" spc="0" normalizeH="0" baseline="0" noProof="0" dirty="0">
                <a:ln>
                  <a:noFill/>
                </a:ln>
                <a:effectLst/>
                <a:uLnTx/>
                <a:uFillTx/>
                <a:latin typeface="Calibri" panose="020F0502020204030204" pitchFamily="34" charset="0"/>
                <a:cs typeface="Calibri" panose="020F0502020204030204" pitchFamily="34" charset="0"/>
              </a:rPr>
              <a:t>On most machines…</a:t>
            </a:r>
            <a:r>
              <a:rPr lang="en-US" sz="2200" dirty="0">
                <a:latin typeface="Calibri" panose="020F0502020204030204" pitchFamily="34" charset="0"/>
                <a:cs typeface="Calibri" panose="020F0502020204030204" pitchFamily="34" charset="0"/>
              </a:rPr>
              <a:t> </a:t>
            </a:r>
          </a:p>
          <a:p>
            <a:pPr marL="800100" lvl="1" indent="-342900" eaLnBrk="1" fontAlgn="auto" hangingPunct="1">
              <a:spcBef>
                <a:spcPts val="600"/>
              </a:spcBef>
              <a:spcAft>
                <a:spcPts val="0"/>
              </a:spcAft>
              <a:buFont typeface="Arial" pitchFamily="34" charset="0"/>
              <a:buChar char="•"/>
              <a:defRPr/>
            </a:pPr>
            <a:r>
              <a:rPr lang="en-US" sz="2200" dirty="0">
                <a:latin typeface="Calibri" panose="020F0502020204030204" pitchFamily="34" charset="0"/>
                <a:cs typeface="Calibri" panose="020F0502020204030204" pitchFamily="34" charset="0"/>
              </a:rPr>
              <a:t>memory references &amp; assignment of words are atomic </a:t>
            </a:r>
            <a:br>
              <a:rPr lang="en-US" sz="2200" dirty="0">
                <a:latin typeface="Calibri" panose="020F0502020204030204" pitchFamily="34" charset="0"/>
                <a:cs typeface="Calibri" panose="020F0502020204030204" pitchFamily="34" charset="0"/>
              </a:rPr>
            </a:br>
            <a:r>
              <a:rPr lang="en-US" sz="2200" i="1" dirty="0">
                <a:latin typeface="Calibri" panose="020F0502020204030204" pitchFamily="34" charset="0"/>
                <a:cs typeface="Calibri" panose="020F0502020204030204" pitchFamily="34" charset="0"/>
              </a:rPr>
              <a:t>(</a:t>
            </a:r>
            <a:r>
              <a:rPr lang="en-US" sz="2200" i="1" dirty="0" err="1">
                <a:latin typeface="Calibri" panose="020F0502020204030204" pitchFamily="34" charset="0"/>
                <a:cs typeface="Calibri" panose="020F0502020204030204" pitchFamily="34" charset="0"/>
              </a:rPr>
              <a:t>e.g</a:t>
            </a:r>
            <a:r>
              <a:rPr lang="en-US" sz="2200" i="1" dirty="0">
                <a:latin typeface="Calibri" panose="020F0502020204030204" pitchFamily="34" charset="0"/>
                <a:cs typeface="Calibri" panose="020F0502020204030204" pitchFamily="34" charset="0"/>
              </a:rPr>
              <a:t>, loads &amp; stores) </a:t>
            </a:r>
          </a:p>
          <a:p>
            <a:pPr marL="800100" lvl="1" indent="-342900" eaLnBrk="1" fontAlgn="auto" hangingPunct="1">
              <a:spcBef>
                <a:spcPts val="600"/>
              </a:spcBef>
              <a:spcAft>
                <a:spcPts val="0"/>
              </a:spcAft>
              <a:buFont typeface="Arial" pitchFamily="34" charset="0"/>
              <a:buChar char="•"/>
              <a:defRPr/>
            </a:pPr>
            <a:r>
              <a:rPr lang="en-US" sz="2200" dirty="0">
                <a:latin typeface="Calibri" panose="020F0502020204030204" pitchFamily="34" charset="0"/>
                <a:cs typeface="Calibri" panose="020F0502020204030204" pitchFamily="34" charset="0"/>
              </a:rPr>
              <a:t>in other cases, specific </a:t>
            </a:r>
            <a:r>
              <a:rPr lang="en-US" sz="2200" i="1" dirty="0">
                <a:solidFill>
                  <a:srgbClr val="FF0000"/>
                </a:solidFill>
                <a:latin typeface="Calibri" panose="020F0502020204030204" pitchFamily="34" charset="0"/>
                <a:cs typeface="Calibri" panose="020F0502020204030204" pitchFamily="34" charset="0"/>
              </a:rPr>
              <a:t>mechanisms</a:t>
            </a:r>
            <a:r>
              <a:rPr lang="en-US" sz="2200" dirty="0">
                <a:latin typeface="Calibri" panose="020F0502020204030204" pitchFamily="34" charset="0"/>
                <a:cs typeface="Calibri" panose="020F0502020204030204" pitchFamily="34" charset="0"/>
              </a:rPr>
              <a:t> or </a:t>
            </a:r>
            <a:r>
              <a:rPr lang="en-US" sz="2200" i="1" dirty="0">
                <a:solidFill>
                  <a:srgbClr val="FF0000"/>
                </a:solidFill>
                <a:latin typeface="Calibri" panose="020F0502020204030204" pitchFamily="34" charset="0"/>
                <a:cs typeface="Calibri" panose="020F0502020204030204" pitchFamily="34" charset="0"/>
              </a:rPr>
              <a:t>locks</a:t>
            </a:r>
            <a:r>
              <a:rPr lang="en-US" sz="2200" dirty="0">
                <a:latin typeface="Calibri" panose="020F0502020204030204" pitchFamily="34" charset="0"/>
                <a:cs typeface="Calibri" panose="020F0502020204030204" pitchFamily="34" charset="0"/>
              </a:rPr>
              <a:t> are used to ensure </a:t>
            </a:r>
            <a:r>
              <a:rPr lang="en-US" sz="2200" i="1" dirty="0">
                <a:solidFill>
                  <a:srgbClr val="0000CC"/>
                </a:solidFill>
                <a:latin typeface="Calibri" panose="020F0502020204030204" pitchFamily="34" charset="0"/>
                <a:cs typeface="Calibri" panose="020F0502020204030204" pitchFamily="34" charset="0"/>
              </a:rPr>
              <a:t>atomicity</a:t>
            </a:r>
            <a:r>
              <a:rPr lang="en-US" sz="2200" dirty="0">
                <a:latin typeface="Calibri" panose="020F0502020204030204" pitchFamily="34" charset="0"/>
                <a:cs typeface="Calibri" panose="020F0502020204030204" pitchFamily="34" charset="0"/>
              </a:rPr>
              <a:t> of critical sections</a:t>
            </a:r>
          </a:p>
        </p:txBody>
      </p:sp>
      <p:sp>
        <p:nvSpPr>
          <p:cNvPr id="2" name="Slide Number Placeholder 3">
            <a:extLst>
              <a:ext uri="{FF2B5EF4-FFF2-40B4-BE49-F238E27FC236}">
                <a16:creationId xmlns:a16="http://schemas.microsoft.com/office/drawing/2014/main" id="{9BDA9191-8AB8-6EC1-F008-35BDE650AB25}"/>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12</a:t>
            </a:fld>
            <a:endParaRPr lang="en-US" altLang="en-US" sz="1400" dirty="0">
              <a:solidFill>
                <a:schemeClr val="tx1"/>
              </a:solidFill>
              <a:latin typeface="Tahoma" panose="020B0604030504040204" pitchFamily="34" charset="0"/>
              <a:ea typeface="MS PGothic" panose="020B0600070205080204" pitchFamily="34" charset="-128"/>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116418" y="76200"/>
            <a:ext cx="7346862" cy="678712"/>
          </a:xfrm>
          <a:noFill/>
          <a:ln/>
        </p:spPr>
        <p:txBody>
          <a:bodyPr>
            <a:noAutofit/>
          </a:bodyPr>
          <a:lstStyle/>
          <a:p>
            <a:r>
              <a:rPr lang="en-US" sz="2800" dirty="0"/>
              <a:t>Critical Section Problem</a:t>
            </a:r>
          </a:p>
        </p:txBody>
      </p:sp>
      <p:sp>
        <p:nvSpPr>
          <p:cNvPr id="12291" name="Rectangle 3"/>
          <p:cNvSpPr>
            <a:spLocks noGrp="1" noChangeArrowheads="1"/>
          </p:cNvSpPr>
          <p:nvPr>
            <p:ph idx="1"/>
          </p:nvPr>
        </p:nvSpPr>
        <p:spPr>
          <a:xfrm>
            <a:off x="363872" y="1066800"/>
            <a:ext cx="8648774" cy="5486400"/>
          </a:xfrm>
          <a:noFill/>
          <a:ln/>
        </p:spPr>
        <p:txBody>
          <a:bodyPr/>
          <a:lstStyle/>
          <a:p>
            <a:pPr>
              <a:spcBef>
                <a:spcPts val="600"/>
              </a:spcBef>
              <a:defRPr/>
            </a:pPr>
            <a:r>
              <a:rPr lang="en-US" dirty="0"/>
              <a:t>Consider a system consisting of n processes P</a:t>
            </a:r>
            <a:r>
              <a:rPr lang="en-US" baseline="-25000" dirty="0"/>
              <a:t>0</a:t>
            </a:r>
            <a:r>
              <a:rPr lang="en-US" dirty="0"/>
              <a:t>, P</a:t>
            </a:r>
            <a:r>
              <a:rPr lang="en-US" baseline="-25000" dirty="0"/>
              <a:t>1</a:t>
            </a:r>
            <a:r>
              <a:rPr lang="en-US" dirty="0"/>
              <a:t>, ..., P</a:t>
            </a:r>
            <a:r>
              <a:rPr lang="en-US" baseline="-25000" dirty="0"/>
              <a:t>n-1</a:t>
            </a:r>
          </a:p>
          <a:p>
            <a:pPr lvl="1">
              <a:spcBef>
                <a:spcPts val="600"/>
              </a:spcBef>
              <a:defRPr/>
            </a:pPr>
            <a:r>
              <a:rPr lang="en-US" dirty="0"/>
              <a:t>each process may have a </a:t>
            </a:r>
            <a:r>
              <a:rPr lang="en-US" i="1" dirty="0">
                <a:solidFill>
                  <a:srgbClr val="C00000"/>
                </a:solidFill>
              </a:rPr>
              <a:t>Critical Section</a:t>
            </a:r>
            <a:endParaRPr lang="en-US" dirty="0">
              <a:solidFill>
                <a:srgbClr val="C00000"/>
              </a:solidFill>
            </a:endParaRPr>
          </a:p>
          <a:p>
            <a:pPr lvl="1">
              <a:spcBef>
                <a:spcPts val="600"/>
              </a:spcBef>
              <a:defRPr/>
            </a:pPr>
            <a:r>
              <a:rPr lang="en-US" dirty="0"/>
              <a:t>to avoid data inconsistency…</a:t>
            </a:r>
          </a:p>
          <a:p>
            <a:pPr marL="0" lvl="1" indent="0" algn="ctr">
              <a:spcBef>
                <a:spcPts val="1800"/>
              </a:spcBef>
              <a:buNone/>
              <a:defRPr/>
            </a:pPr>
            <a:r>
              <a:rPr lang="en-US" sz="2300" b="1" i="1" dirty="0">
                <a:solidFill>
                  <a:srgbClr val="FF0000"/>
                </a:solidFill>
              </a:rPr>
              <a:t>“No two processes should execute their CS at the same time”</a:t>
            </a:r>
          </a:p>
          <a:p>
            <a:pPr>
              <a:spcBef>
                <a:spcPts val="2400"/>
              </a:spcBef>
              <a:defRPr/>
            </a:pPr>
            <a:r>
              <a:rPr lang="en-US" dirty="0"/>
              <a:t>Need a protocol – </a:t>
            </a:r>
            <a:r>
              <a:rPr lang="en-US" i="1" dirty="0"/>
              <a:t>process must </a:t>
            </a:r>
            <a:r>
              <a:rPr lang="en-US" i="1" dirty="0">
                <a:solidFill>
                  <a:srgbClr val="0000CC"/>
                </a:solidFill>
              </a:rPr>
              <a:t>Request Permission </a:t>
            </a:r>
            <a:r>
              <a:rPr lang="en-US" i="1" dirty="0"/>
              <a:t>to enter </a:t>
            </a:r>
            <a:r>
              <a:rPr lang="en-US" b="1" i="1" dirty="0">
                <a:solidFill>
                  <a:srgbClr val="C00000"/>
                </a:solidFill>
              </a:rPr>
              <a:t>CS</a:t>
            </a:r>
          </a:p>
          <a:p>
            <a:pPr marL="630238" lvl="1" defTabSz="838200">
              <a:spcBef>
                <a:spcPts val="1800"/>
              </a:spcBef>
              <a:defRPr/>
            </a:pPr>
            <a:r>
              <a:rPr lang="en-US" sz="2300" i="1" dirty="0">
                <a:solidFill>
                  <a:srgbClr val="C00000"/>
                </a:solidFill>
              </a:rPr>
              <a:t>Entry</a:t>
            </a:r>
            <a:r>
              <a:rPr lang="en-US" sz="2300" dirty="0">
                <a:solidFill>
                  <a:srgbClr val="C00000"/>
                </a:solidFill>
              </a:rPr>
              <a:t> </a:t>
            </a:r>
            <a:r>
              <a:rPr lang="en-US" sz="2300" i="1" dirty="0">
                <a:solidFill>
                  <a:srgbClr val="C00000"/>
                </a:solidFill>
              </a:rPr>
              <a:t>section</a:t>
            </a:r>
            <a:r>
              <a:rPr lang="en-US" sz="2300" dirty="0">
                <a:solidFill>
                  <a:srgbClr val="C00000"/>
                </a:solidFill>
              </a:rPr>
              <a:t> – </a:t>
            </a:r>
            <a:r>
              <a:rPr lang="en-US" sz="2300" b="1" dirty="0">
                <a:solidFill>
                  <a:srgbClr val="C00000"/>
                </a:solidFill>
              </a:rPr>
              <a:t>	</a:t>
            </a:r>
            <a:r>
              <a:rPr lang="en-US" sz="2100" b="0" i="0" dirty="0">
                <a:solidFill>
                  <a:srgbClr val="0D0D0D"/>
                </a:solidFill>
                <a:effectLst/>
                <a:highlight>
                  <a:srgbClr val="FFFFFF"/>
                </a:highlight>
                <a:latin typeface="Söhne"/>
              </a:rPr>
              <a:t>code where process requests permission</a:t>
            </a:r>
            <a:br>
              <a:rPr lang="en-US" sz="2100" b="0" i="0" dirty="0">
                <a:solidFill>
                  <a:srgbClr val="0D0D0D"/>
                </a:solidFill>
                <a:effectLst/>
                <a:highlight>
                  <a:srgbClr val="FFFFFF"/>
                </a:highlight>
                <a:latin typeface="Söhne"/>
              </a:rPr>
            </a:br>
            <a:r>
              <a:rPr lang="en-US" sz="2100" b="0" i="0" dirty="0">
                <a:solidFill>
                  <a:srgbClr val="0D0D0D"/>
                </a:solidFill>
                <a:effectLst/>
                <a:highlight>
                  <a:srgbClr val="FFFFFF"/>
                </a:highlight>
                <a:latin typeface="Söhne"/>
              </a:rPr>
              <a:t>			</a:t>
            </a:r>
            <a:r>
              <a:rPr lang="en-US" sz="2100" dirty="0">
                <a:solidFill>
                  <a:srgbClr val="0D0D0D"/>
                </a:solidFill>
                <a:highlight>
                  <a:srgbClr val="FFFFFF"/>
                </a:highlight>
                <a:latin typeface="Söhne"/>
                <a:ea typeface="MS PGothic" pitchFamily="34" charset="-128"/>
                <a:cs typeface="Calibri" panose="020F0502020204030204" pitchFamily="34" charset="0"/>
              </a:rPr>
              <a:t>uses </a:t>
            </a:r>
            <a:r>
              <a:rPr lang="en-US" sz="2100" i="1" dirty="0">
                <a:solidFill>
                  <a:srgbClr val="0000CC"/>
                </a:solidFill>
                <a:highlight>
                  <a:srgbClr val="FFFFFF"/>
                </a:highlight>
                <a:latin typeface="Söhne"/>
                <a:ea typeface="MS PGothic" pitchFamily="34" charset="-128"/>
                <a:cs typeface="Calibri" panose="020F0502020204030204" pitchFamily="34" charset="0"/>
              </a:rPr>
              <a:t>synchronization primitive </a:t>
            </a:r>
            <a:r>
              <a:rPr lang="en-US" sz="2100" dirty="0">
                <a:solidFill>
                  <a:srgbClr val="0D0D0D"/>
                </a:solidFill>
                <a:highlight>
                  <a:srgbClr val="FFFFFF"/>
                </a:highlight>
                <a:latin typeface="Söhne"/>
                <a:ea typeface="MS PGothic" pitchFamily="34" charset="-128"/>
                <a:cs typeface="Calibri" panose="020F0502020204030204" pitchFamily="34" charset="0"/>
              </a:rPr>
              <a:t>to manage access  </a:t>
            </a:r>
            <a:r>
              <a:rPr lang="en-US" dirty="0"/>
              <a:t>	</a:t>
            </a:r>
            <a:endParaRPr lang="en-US" b="1" dirty="0">
              <a:solidFill>
                <a:srgbClr val="C00000"/>
              </a:solidFill>
            </a:endParaRPr>
          </a:p>
          <a:p>
            <a:pPr marL="630238" lvl="1" defTabSz="838200">
              <a:spcBef>
                <a:spcPts val="1800"/>
              </a:spcBef>
              <a:defRPr/>
            </a:pPr>
            <a:r>
              <a:rPr lang="en-US" sz="2300" i="1" dirty="0">
                <a:solidFill>
                  <a:srgbClr val="C00000"/>
                </a:solidFill>
              </a:rPr>
              <a:t>Exit section   –  </a:t>
            </a:r>
            <a:r>
              <a:rPr lang="en-US" sz="2300" b="1" i="1" dirty="0">
                <a:solidFill>
                  <a:srgbClr val="C00000"/>
                </a:solidFill>
              </a:rPr>
              <a:t>	</a:t>
            </a:r>
            <a:r>
              <a:rPr lang="en-US" sz="2100" dirty="0">
                <a:solidFill>
                  <a:srgbClr val="0D0D0D"/>
                </a:solidFill>
                <a:highlight>
                  <a:srgbClr val="FFFFFF"/>
                </a:highlight>
                <a:latin typeface="Söhne"/>
              </a:rPr>
              <a:t>code where process releases control of CS</a:t>
            </a:r>
            <a:br>
              <a:rPr lang="en-US" sz="2100" dirty="0">
                <a:solidFill>
                  <a:srgbClr val="0D0D0D"/>
                </a:solidFill>
                <a:highlight>
                  <a:srgbClr val="FFFFFF"/>
                </a:highlight>
                <a:latin typeface="Söhne"/>
              </a:rPr>
            </a:br>
            <a:r>
              <a:rPr lang="en-US" sz="2100" dirty="0">
                <a:solidFill>
                  <a:srgbClr val="0D0D0D"/>
                </a:solidFill>
                <a:highlight>
                  <a:srgbClr val="FFFFFF"/>
                </a:highlight>
                <a:latin typeface="Söhne"/>
              </a:rPr>
              <a:t>			</a:t>
            </a:r>
            <a:r>
              <a:rPr lang="en-US" sz="2100" b="0" i="0" dirty="0">
                <a:solidFill>
                  <a:srgbClr val="0D0D0D"/>
                </a:solidFill>
                <a:effectLst/>
                <a:highlight>
                  <a:srgbClr val="FFFFFF"/>
                </a:highlight>
                <a:latin typeface="Söhne"/>
              </a:rPr>
              <a:t>resets the </a:t>
            </a:r>
            <a:r>
              <a:rPr lang="en-US" sz="2100" i="1" dirty="0">
                <a:solidFill>
                  <a:srgbClr val="0000CC"/>
                </a:solidFill>
                <a:highlight>
                  <a:srgbClr val="FFFFFF"/>
                </a:highlight>
                <a:latin typeface="Söhne"/>
              </a:rPr>
              <a:t>primitive</a:t>
            </a:r>
            <a:r>
              <a:rPr lang="en-US" sz="2100" b="0" i="0" dirty="0">
                <a:solidFill>
                  <a:srgbClr val="0D0D0D"/>
                </a:solidFill>
                <a:effectLst/>
                <a:highlight>
                  <a:srgbClr val="FFFFFF"/>
                </a:highlight>
                <a:latin typeface="Söhne"/>
              </a:rPr>
              <a:t> to allow others to proceed </a:t>
            </a:r>
            <a:r>
              <a:rPr lang="en-US" dirty="0"/>
              <a:t>	</a:t>
            </a:r>
            <a:endParaRPr lang="en-US" b="1" i="1" dirty="0">
              <a:solidFill>
                <a:srgbClr val="C00000"/>
              </a:solidFill>
            </a:endParaRPr>
          </a:p>
          <a:p>
            <a:pPr marL="630238" lvl="1" defTabSz="777875">
              <a:spcBef>
                <a:spcPts val="1800"/>
              </a:spcBef>
              <a:defRPr/>
            </a:pPr>
            <a:r>
              <a:rPr lang="en-US" sz="2300" i="1" dirty="0">
                <a:solidFill>
                  <a:srgbClr val="C00000"/>
                </a:solidFill>
              </a:rPr>
              <a:t>Remainder section (RS)  –  </a:t>
            </a:r>
            <a:r>
              <a:rPr lang="en-US" sz="2300" b="1" i="1" dirty="0">
                <a:solidFill>
                  <a:srgbClr val="C00000"/>
                </a:solidFill>
              </a:rPr>
              <a:t>	</a:t>
            </a:r>
            <a:r>
              <a:rPr lang="en-US" sz="2100" dirty="0">
                <a:solidFill>
                  <a:srgbClr val="0D0D0D"/>
                </a:solidFill>
                <a:highlight>
                  <a:srgbClr val="FFFFFF"/>
                </a:highlight>
                <a:latin typeface="Söhne"/>
              </a:rPr>
              <a:t>remaining code, that does not involve</a:t>
            </a:r>
            <a:br>
              <a:rPr lang="en-US" sz="2100" dirty="0">
                <a:solidFill>
                  <a:srgbClr val="0D0D0D"/>
                </a:solidFill>
                <a:highlight>
                  <a:srgbClr val="FFFFFF"/>
                </a:highlight>
                <a:latin typeface="Söhne"/>
              </a:rPr>
            </a:br>
            <a:r>
              <a:rPr lang="en-US" sz="2100" dirty="0">
                <a:solidFill>
                  <a:srgbClr val="0D0D0D"/>
                </a:solidFill>
                <a:highlight>
                  <a:srgbClr val="FFFFFF"/>
                </a:highlight>
                <a:latin typeface="Söhne"/>
              </a:rPr>
              <a:t>					shared resources </a:t>
            </a:r>
            <a:r>
              <a:rPr lang="en-US" dirty="0">
                <a:solidFill>
                  <a:srgbClr val="0D0D0D"/>
                </a:solidFill>
                <a:highlight>
                  <a:srgbClr val="FFFFFF"/>
                </a:highlight>
                <a:latin typeface="Söhne"/>
              </a:rPr>
              <a:t> 	</a:t>
            </a:r>
          </a:p>
        </p:txBody>
      </p:sp>
      <p:sp>
        <p:nvSpPr>
          <p:cNvPr id="2" name="Slide Number Placeholder 3">
            <a:extLst>
              <a:ext uri="{FF2B5EF4-FFF2-40B4-BE49-F238E27FC236}">
                <a16:creationId xmlns:a16="http://schemas.microsoft.com/office/drawing/2014/main" id="{71EBD5CA-6A3A-0805-A997-0DC209C75BBE}"/>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13</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12904544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p:cNvSpPr>
            <a:spLocks noGrp="1" noChangeArrowheads="1"/>
          </p:cNvSpPr>
          <p:nvPr>
            <p:ph type="title"/>
          </p:nvPr>
        </p:nvSpPr>
        <p:spPr>
          <a:xfrm>
            <a:off x="457200" y="76200"/>
            <a:ext cx="8229600" cy="665480"/>
          </a:xfrm>
        </p:spPr>
        <p:txBody>
          <a:bodyPr>
            <a:noAutofit/>
          </a:bodyPr>
          <a:lstStyle/>
          <a:p>
            <a:r>
              <a:rPr lang="en-US" dirty="0"/>
              <a:t>Structure of CS Solution</a:t>
            </a:r>
          </a:p>
        </p:txBody>
      </p:sp>
      <p:sp>
        <p:nvSpPr>
          <p:cNvPr id="371715" name="Rectangle 3"/>
          <p:cNvSpPr>
            <a:spLocks noGrp="1" noChangeArrowheads="1"/>
          </p:cNvSpPr>
          <p:nvPr>
            <p:ph type="body" idx="1"/>
          </p:nvPr>
        </p:nvSpPr>
        <p:spPr>
          <a:xfrm>
            <a:off x="1401203" y="1629103"/>
            <a:ext cx="6302879" cy="3976049"/>
          </a:xfrm>
          <a:solidFill>
            <a:schemeClr val="bg1">
              <a:lumMod val="95000"/>
            </a:schemeClr>
          </a:solidFill>
        </p:spPr>
        <p:txBody>
          <a:bodyPr>
            <a:normAutofit/>
          </a:bodyPr>
          <a:lstStyle/>
          <a:p>
            <a:pPr>
              <a:lnSpc>
                <a:spcPct val="150000"/>
              </a:lnSpc>
              <a:buFont typeface="Wingdings" pitchFamily="2" charset="2"/>
              <a:buNone/>
            </a:pPr>
            <a:r>
              <a:rPr lang="en-US" sz="2000" dirty="0">
                <a:latin typeface="Comic Sans MS" pitchFamily="66" charset="0"/>
              </a:rPr>
              <a:t>do { </a:t>
            </a:r>
          </a:p>
          <a:p>
            <a:pPr>
              <a:lnSpc>
                <a:spcPct val="150000"/>
              </a:lnSpc>
              <a:buFont typeface="Wingdings" pitchFamily="2" charset="2"/>
              <a:buNone/>
            </a:pPr>
            <a:r>
              <a:rPr lang="en-US" sz="2000" dirty="0">
                <a:latin typeface="Comic Sans MS" pitchFamily="66" charset="0"/>
              </a:rPr>
              <a:t>		</a:t>
            </a:r>
            <a:r>
              <a:rPr lang="en-US" sz="2000" b="1" dirty="0">
                <a:solidFill>
                  <a:srgbClr val="0000CC"/>
                </a:solidFill>
                <a:latin typeface="Comic Sans MS" pitchFamily="66" charset="0"/>
              </a:rPr>
              <a:t>ENTRY SECTION </a:t>
            </a:r>
          </a:p>
          <a:p>
            <a:pPr>
              <a:lnSpc>
                <a:spcPct val="150000"/>
              </a:lnSpc>
              <a:buFont typeface="Wingdings" pitchFamily="2" charset="2"/>
              <a:buNone/>
            </a:pPr>
            <a:r>
              <a:rPr lang="en-US" sz="2000" dirty="0">
                <a:latin typeface="Comic Sans MS" pitchFamily="66" charset="0"/>
              </a:rPr>
              <a:t>		</a:t>
            </a:r>
            <a:r>
              <a:rPr lang="en-US" sz="2000" dirty="0">
                <a:solidFill>
                  <a:srgbClr val="FF0000"/>
                </a:solidFill>
                <a:latin typeface="Comic Sans MS" pitchFamily="66" charset="0"/>
              </a:rPr>
              <a:t>   &lt;CS&gt; </a:t>
            </a:r>
            <a:r>
              <a:rPr lang="en-US" sz="2000" dirty="0">
                <a:latin typeface="Comic Sans MS" pitchFamily="66" charset="0"/>
              </a:rPr>
              <a:t>		// access shared variables</a:t>
            </a:r>
          </a:p>
          <a:p>
            <a:pPr>
              <a:lnSpc>
                <a:spcPct val="150000"/>
              </a:lnSpc>
              <a:buFont typeface="Wingdings" pitchFamily="2" charset="2"/>
              <a:buNone/>
            </a:pPr>
            <a:r>
              <a:rPr lang="en-US" sz="2000" dirty="0">
                <a:latin typeface="Comic Sans MS" pitchFamily="66" charset="0"/>
              </a:rPr>
              <a:t>    		</a:t>
            </a:r>
            <a:r>
              <a:rPr lang="en-US" sz="2000" b="1" dirty="0">
                <a:solidFill>
                  <a:srgbClr val="0000CC"/>
                </a:solidFill>
                <a:latin typeface="Comic Sans MS" pitchFamily="66" charset="0"/>
              </a:rPr>
              <a:t>EXIT SECTION </a:t>
            </a:r>
          </a:p>
          <a:p>
            <a:pPr>
              <a:lnSpc>
                <a:spcPct val="150000"/>
              </a:lnSpc>
              <a:buFont typeface="Wingdings" pitchFamily="2" charset="2"/>
              <a:buNone/>
            </a:pPr>
            <a:r>
              <a:rPr lang="en-US" sz="2000" dirty="0">
                <a:latin typeface="Comic Sans MS" pitchFamily="66" charset="0"/>
              </a:rPr>
              <a:t>               </a:t>
            </a:r>
            <a:r>
              <a:rPr lang="en-US" sz="2000" dirty="0">
                <a:solidFill>
                  <a:srgbClr val="FF0000"/>
                </a:solidFill>
                <a:latin typeface="Comic Sans MS" pitchFamily="66" charset="0"/>
              </a:rPr>
              <a:t>&lt;RS&gt;</a:t>
            </a:r>
            <a:r>
              <a:rPr lang="en-US" sz="2000" dirty="0">
                <a:latin typeface="Comic Sans MS" pitchFamily="66" charset="0"/>
              </a:rPr>
              <a:t>		// do other work </a:t>
            </a:r>
          </a:p>
          <a:p>
            <a:pPr>
              <a:lnSpc>
                <a:spcPct val="150000"/>
              </a:lnSpc>
              <a:buFont typeface="Wingdings" pitchFamily="2" charset="2"/>
              <a:buNone/>
            </a:pPr>
            <a:r>
              <a:rPr lang="en-US" sz="2000" dirty="0">
                <a:latin typeface="Comic Sans MS" pitchFamily="66" charset="0"/>
              </a:rPr>
              <a:t> } while (1); </a:t>
            </a:r>
          </a:p>
        </p:txBody>
      </p:sp>
      <p:sp>
        <p:nvSpPr>
          <p:cNvPr id="2" name="Slide Number Placeholder 3">
            <a:extLst>
              <a:ext uri="{FF2B5EF4-FFF2-40B4-BE49-F238E27FC236}">
                <a16:creationId xmlns:a16="http://schemas.microsoft.com/office/drawing/2014/main" id="{3DDEE8F2-8CE7-64BE-EA2B-EABD2E241114}"/>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14</a:t>
            </a:fld>
            <a:endParaRPr lang="en-US" altLang="en-US" sz="1400" dirty="0">
              <a:solidFill>
                <a:schemeClr val="tx1"/>
              </a:solidFill>
              <a:latin typeface="Tahoma" panose="020B0604030504040204" pitchFamily="34" charset="0"/>
              <a:ea typeface="MS PGothic" panose="020B0600070205080204" pitchFamily="34" charset="-128"/>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C652F2F-3893-C2B4-52E5-E5A2CC8CD3DD}"/>
              </a:ext>
            </a:extLst>
          </p:cNvPr>
          <p:cNvSpPr/>
          <p:nvPr/>
        </p:nvSpPr>
        <p:spPr bwMode="auto">
          <a:xfrm>
            <a:off x="821933" y="4517066"/>
            <a:ext cx="5383658" cy="912826"/>
          </a:xfrm>
          <a:prstGeom prst="rect">
            <a:avLst/>
          </a:prstGeom>
          <a:solidFill>
            <a:schemeClr val="bg1">
              <a:lumMod val="95000"/>
            </a:schemeClr>
          </a:solidFill>
          <a:ln w="9525" cap="flat" cmpd="sng" algn="ctr">
            <a:solidFill>
              <a:srgbClr val="003399"/>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Verdana" charset="0"/>
            </a:endParaRPr>
          </a:p>
        </p:txBody>
      </p:sp>
      <p:sp>
        <p:nvSpPr>
          <p:cNvPr id="3" name="Rectangle 2">
            <a:extLst>
              <a:ext uri="{FF2B5EF4-FFF2-40B4-BE49-F238E27FC236}">
                <a16:creationId xmlns:a16="http://schemas.microsoft.com/office/drawing/2014/main" id="{D8A3A96D-5A43-ED01-DCAD-1F0F7ED11EF3}"/>
              </a:ext>
            </a:extLst>
          </p:cNvPr>
          <p:cNvSpPr/>
          <p:nvPr/>
        </p:nvSpPr>
        <p:spPr bwMode="auto">
          <a:xfrm>
            <a:off x="821933" y="1500027"/>
            <a:ext cx="5383658" cy="1939247"/>
          </a:xfrm>
          <a:prstGeom prst="rect">
            <a:avLst/>
          </a:prstGeom>
          <a:solidFill>
            <a:schemeClr val="bg1">
              <a:lumMod val="95000"/>
            </a:schemeClr>
          </a:solidFill>
          <a:ln w="9525" cap="flat" cmpd="sng" algn="ctr">
            <a:solidFill>
              <a:srgbClr val="003399"/>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Verdana" charset="0"/>
            </a:endParaRPr>
          </a:p>
        </p:txBody>
      </p:sp>
      <p:sp>
        <p:nvSpPr>
          <p:cNvPr id="371714" name="Rectangle 2"/>
          <p:cNvSpPr>
            <a:spLocks noGrp="1" noChangeArrowheads="1"/>
          </p:cNvSpPr>
          <p:nvPr>
            <p:ph type="title"/>
          </p:nvPr>
        </p:nvSpPr>
        <p:spPr>
          <a:xfrm>
            <a:off x="457200" y="76200"/>
            <a:ext cx="8229600" cy="665480"/>
          </a:xfrm>
        </p:spPr>
        <p:txBody>
          <a:bodyPr>
            <a:noAutofit/>
          </a:bodyPr>
          <a:lstStyle/>
          <a:p>
            <a:r>
              <a:rPr lang="en-US" dirty="0"/>
              <a:t>Structure of CS Solution</a:t>
            </a:r>
          </a:p>
        </p:txBody>
      </p:sp>
      <p:sp>
        <p:nvSpPr>
          <p:cNvPr id="371715" name="Rectangle 3"/>
          <p:cNvSpPr>
            <a:spLocks noGrp="1" noChangeArrowheads="1"/>
          </p:cNvSpPr>
          <p:nvPr>
            <p:ph type="body" idx="1"/>
          </p:nvPr>
        </p:nvSpPr>
        <p:spPr>
          <a:xfrm>
            <a:off x="499240" y="1023215"/>
            <a:ext cx="8131629" cy="5420899"/>
          </a:xfrm>
          <a:noFill/>
        </p:spPr>
        <p:txBody>
          <a:bodyPr>
            <a:noAutofit/>
          </a:bodyPr>
          <a:lstStyle/>
          <a:p>
            <a:pPr>
              <a:lnSpc>
                <a:spcPct val="110000"/>
              </a:lnSpc>
              <a:spcBef>
                <a:spcPts val="600"/>
              </a:spcBef>
              <a:buFont typeface="Wingdings" pitchFamily="2" charset="2"/>
              <a:buNone/>
            </a:pPr>
            <a:r>
              <a:rPr lang="en-US" sz="2000" dirty="0">
                <a:latin typeface="Comic Sans MS" pitchFamily="66" charset="0"/>
              </a:rPr>
              <a:t>void process() {</a:t>
            </a:r>
          </a:p>
          <a:p>
            <a:pPr marL="0" indent="3175">
              <a:lnSpc>
                <a:spcPct val="110000"/>
              </a:lnSpc>
              <a:spcBef>
                <a:spcPts val="1800"/>
              </a:spcBef>
              <a:buNone/>
            </a:pPr>
            <a:r>
              <a:rPr lang="en-US" sz="2000" dirty="0">
                <a:solidFill>
                  <a:srgbClr val="FF0000"/>
                </a:solidFill>
                <a:latin typeface="Comic Sans MS" pitchFamily="66" charset="0"/>
              </a:rPr>
              <a:t>      // Entry Section – </a:t>
            </a:r>
            <a:r>
              <a:rPr lang="en-US" sz="2000" dirty="0">
                <a:solidFill>
                  <a:srgbClr val="00B050"/>
                </a:solidFill>
                <a:latin typeface="Comic Sans MS" pitchFamily="66" charset="0"/>
              </a:rPr>
              <a:t>Acquire the lock</a:t>
            </a:r>
            <a:endParaRPr lang="en-US" sz="2000" dirty="0">
              <a:solidFill>
                <a:srgbClr val="FF0000"/>
              </a:solidFill>
              <a:latin typeface="Comic Sans MS" pitchFamily="66" charset="0"/>
            </a:endParaRPr>
          </a:p>
          <a:p>
            <a:pPr marL="0" indent="3175">
              <a:lnSpc>
                <a:spcPct val="110000"/>
              </a:lnSpc>
              <a:spcBef>
                <a:spcPts val="0"/>
              </a:spcBef>
              <a:buFont typeface="Wingdings" pitchFamily="2" charset="2"/>
              <a:buNone/>
            </a:pPr>
            <a:r>
              <a:rPr lang="en-US" sz="2000" dirty="0">
                <a:solidFill>
                  <a:srgbClr val="0000CC"/>
                </a:solidFill>
                <a:latin typeface="Comic Sans MS" pitchFamily="66" charset="0"/>
              </a:rPr>
              <a:t>      while (lock) {</a:t>
            </a:r>
          </a:p>
          <a:p>
            <a:pPr marL="0" indent="3175">
              <a:lnSpc>
                <a:spcPct val="110000"/>
              </a:lnSpc>
              <a:spcBef>
                <a:spcPts val="0"/>
              </a:spcBef>
              <a:buFont typeface="Wingdings" pitchFamily="2" charset="2"/>
              <a:buNone/>
            </a:pPr>
            <a:r>
              <a:rPr lang="en-US" sz="2000" dirty="0">
                <a:solidFill>
                  <a:srgbClr val="0000CC"/>
                </a:solidFill>
                <a:latin typeface="Comic Sans MS" pitchFamily="66" charset="0"/>
              </a:rPr>
              <a:t>            // Busy-wait, or yield the CPU</a:t>
            </a:r>
          </a:p>
          <a:p>
            <a:pPr marL="0" indent="3175">
              <a:lnSpc>
                <a:spcPct val="110000"/>
              </a:lnSpc>
              <a:spcBef>
                <a:spcPts val="0"/>
              </a:spcBef>
              <a:buFont typeface="Wingdings" pitchFamily="2" charset="2"/>
              <a:buNone/>
            </a:pPr>
            <a:r>
              <a:rPr lang="en-US" sz="2000" dirty="0">
                <a:solidFill>
                  <a:srgbClr val="0000CC"/>
                </a:solidFill>
                <a:latin typeface="Comic Sans MS" pitchFamily="66" charset="0"/>
              </a:rPr>
              <a:t>      }</a:t>
            </a:r>
          </a:p>
          <a:p>
            <a:pPr marL="0" indent="3175">
              <a:lnSpc>
                <a:spcPct val="110000"/>
              </a:lnSpc>
              <a:spcBef>
                <a:spcPts val="0"/>
              </a:spcBef>
              <a:buFont typeface="Wingdings" pitchFamily="2" charset="2"/>
              <a:buNone/>
            </a:pPr>
            <a:r>
              <a:rPr lang="en-US" sz="2000" dirty="0">
                <a:solidFill>
                  <a:srgbClr val="0000CC"/>
                </a:solidFill>
                <a:latin typeface="Comic Sans MS" pitchFamily="66" charset="0"/>
              </a:rPr>
              <a:t>      lock = true;  </a:t>
            </a:r>
            <a:endParaRPr lang="en-US" sz="2000" dirty="0">
              <a:solidFill>
                <a:srgbClr val="00B050"/>
              </a:solidFill>
              <a:latin typeface="Comic Sans MS" pitchFamily="66" charset="0"/>
            </a:endParaRPr>
          </a:p>
          <a:p>
            <a:pPr marL="0" indent="3175">
              <a:lnSpc>
                <a:spcPct val="110000"/>
              </a:lnSpc>
              <a:spcBef>
                <a:spcPts val="0"/>
              </a:spcBef>
              <a:buFont typeface="Wingdings" pitchFamily="2" charset="2"/>
              <a:buNone/>
            </a:pPr>
            <a:endParaRPr lang="en-US" sz="2000" dirty="0">
              <a:latin typeface="Comic Sans MS" pitchFamily="66" charset="0"/>
            </a:endParaRPr>
          </a:p>
          <a:p>
            <a:pPr marL="0" indent="3175">
              <a:lnSpc>
                <a:spcPct val="110000"/>
              </a:lnSpc>
              <a:spcBef>
                <a:spcPts val="0"/>
              </a:spcBef>
              <a:buFont typeface="Wingdings" pitchFamily="2" charset="2"/>
              <a:buNone/>
            </a:pPr>
            <a:r>
              <a:rPr lang="en-US" sz="2000" dirty="0">
                <a:latin typeface="Comic Sans MS" pitchFamily="66" charset="0"/>
              </a:rPr>
              <a:t>      </a:t>
            </a:r>
            <a:r>
              <a:rPr lang="en-US" sz="2000" dirty="0">
                <a:solidFill>
                  <a:srgbClr val="FF0000"/>
                </a:solidFill>
                <a:latin typeface="Comic Sans MS" pitchFamily="66" charset="0"/>
              </a:rPr>
              <a:t>// Critical Section;  </a:t>
            </a:r>
            <a:r>
              <a:rPr lang="en-US" sz="2000" dirty="0">
                <a:latin typeface="Comic Sans MS" pitchFamily="66" charset="0"/>
              </a:rPr>
              <a:t>code that accesses shared resources</a:t>
            </a:r>
          </a:p>
          <a:p>
            <a:pPr marL="0" indent="3175">
              <a:lnSpc>
                <a:spcPct val="110000"/>
              </a:lnSpc>
              <a:spcBef>
                <a:spcPts val="0"/>
              </a:spcBef>
              <a:buFont typeface="Wingdings" pitchFamily="2" charset="2"/>
              <a:buNone/>
            </a:pPr>
            <a:r>
              <a:rPr lang="en-US" sz="2000" dirty="0">
                <a:latin typeface="Comic Sans MS" pitchFamily="66" charset="0"/>
              </a:rPr>
              <a:t>      </a:t>
            </a:r>
            <a:r>
              <a:rPr lang="en-US" sz="2000" dirty="0" err="1">
                <a:latin typeface="Comic Sans MS" pitchFamily="66" charset="0"/>
              </a:rPr>
              <a:t>access_shared_resource</a:t>
            </a:r>
            <a:r>
              <a:rPr lang="en-US" sz="2000" dirty="0">
                <a:latin typeface="Comic Sans MS" pitchFamily="66" charset="0"/>
              </a:rPr>
              <a:t>();</a:t>
            </a:r>
          </a:p>
          <a:p>
            <a:pPr marL="0" indent="3175">
              <a:lnSpc>
                <a:spcPct val="110000"/>
              </a:lnSpc>
              <a:spcBef>
                <a:spcPts val="0"/>
              </a:spcBef>
              <a:buFont typeface="Wingdings" pitchFamily="2" charset="2"/>
              <a:buNone/>
            </a:pPr>
            <a:endParaRPr lang="en-US" sz="2000" dirty="0">
              <a:latin typeface="Comic Sans MS" pitchFamily="66" charset="0"/>
            </a:endParaRPr>
          </a:p>
          <a:p>
            <a:pPr marL="0" indent="3175">
              <a:lnSpc>
                <a:spcPct val="110000"/>
              </a:lnSpc>
              <a:spcBef>
                <a:spcPts val="0"/>
              </a:spcBef>
              <a:buNone/>
            </a:pPr>
            <a:r>
              <a:rPr lang="en-US" sz="2000" dirty="0">
                <a:solidFill>
                  <a:srgbClr val="FF0000"/>
                </a:solidFill>
                <a:latin typeface="Comic Sans MS" pitchFamily="66" charset="0"/>
              </a:rPr>
              <a:t>      // Exit Section – </a:t>
            </a:r>
            <a:r>
              <a:rPr lang="en-US" sz="2000" dirty="0">
                <a:solidFill>
                  <a:srgbClr val="00B050"/>
                </a:solidFill>
                <a:latin typeface="Comic Sans MS" pitchFamily="66" charset="0"/>
              </a:rPr>
              <a:t>Release the lock</a:t>
            </a:r>
            <a:endParaRPr lang="en-US" sz="2000" dirty="0">
              <a:solidFill>
                <a:srgbClr val="FF0000"/>
              </a:solidFill>
              <a:latin typeface="Comic Sans MS" pitchFamily="66" charset="0"/>
            </a:endParaRPr>
          </a:p>
          <a:p>
            <a:pPr marL="0" indent="3175">
              <a:lnSpc>
                <a:spcPct val="110000"/>
              </a:lnSpc>
              <a:spcBef>
                <a:spcPts val="0"/>
              </a:spcBef>
              <a:buFont typeface="Wingdings" pitchFamily="2" charset="2"/>
              <a:buNone/>
            </a:pPr>
            <a:r>
              <a:rPr lang="en-US" sz="2000" dirty="0">
                <a:solidFill>
                  <a:srgbClr val="0000CC"/>
                </a:solidFill>
                <a:latin typeface="Comic Sans MS" pitchFamily="66" charset="0"/>
              </a:rPr>
              <a:t>      lock = false; </a:t>
            </a:r>
            <a:endParaRPr lang="en-US" sz="2000" dirty="0">
              <a:solidFill>
                <a:srgbClr val="00B050"/>
              </a:solidFill>
              <a:latin typeface="Comic Sans MS" pitchFamily="66" charset="0"/>
            </a:endParaRPr>
          </a:p>
          <a:p>
            <a:pPr marL="0" indent="3175">
              <a:lnSpc>
                <a:spcPct val="110000"/>
              </a:lnSpc>
              <a:spcBef>
                <a:spcPts val="0"/>
              </a:spcBef>
              <a:buFont typeface="Wingdings" pitchFamily="2" charset="2"/>
              <a:buNone/>
            </a:pPr>
            <a:endParaRPr lang="en-US" sz="2000" dirty="0">
              <a:latin typeface="Comic Sans MS" pitchFamily="66" charset="0"/>
            </a:endParaRPr>
          </a:p>
          <a:p>
            <a:pPr marL="0" indent="3175">
              <a:lnSpc>
                <a:spcPct val="110000"/>
              </a:lnSpc>
              <a:spcBef>
                <a:spcPts val="0"/>
              </a:spcBef>
              <a:buFont typeface="Wingdings" pitchFamily="2" charset="2"/>
              <a:buNone/>
            </a:pPr>
            <a:r>
              <a:rPr lang="en-US" sz="2000" dirty="0">
                <a:solidFill>
                  <a:srgbClr val="FF0000"/>
                </a:solidFill>
                <a:latin typeface="Comic Sans MS" pitchFamily="66" charset="0"/>
              </a:rPr>
              <a:t>      // Remainder Section;  </a:t>
            </a:r>
            <a:r>
              <a:rPr lang="en-US" sz="2000" dirty="0">
                <a:latin typeface="Comic Sans MS" pitchFamily="66" charset="0"/>
              </a:rPr>
              <a:t>no interaction with shared resources</a:t>
            </a:r>
          </a:p>
          <a:p>
            <a:pPr marL="0" indent="3175">
              <a:lnSpc>
                <a:spcPct val="110000"/>
              </a:lnSpc>
              <a:spcBef>
                <a:spcPts val="0"/>
              </a:spcBef>
              <a:buFont typeface="Wingdings" pitchFamily="2" charset="2"/>
              <a:buNone/>
            </a:pPr>
            <a:r>
              <a:rPr lang="en-US" sz="2000" dirty="0">
                <a:latin typeface="Comic Sans MS" pitchFamily="66" charset="0"/>
              </a:rPr>
              <a:t>      </a:t>
            </a:r>
            <a:r>
              <a:rPr lang="en-US" sz="2000" dirty="0" err="1">
                <a:latin typeface="Comic Sans MS" pitchFamily="66" charset="0"/>
              </a:rPr>
              <a:t>do_other_stuff</a:t>
            </a:r>
            <a:r>
              <a:rPr lang="en-US" sz="2000" dirty="0">
                <a:latin typeface="Comic Sans MS" pitchFamily="66" charset="0"/>
              </a:rPr>
              <a:t>();</a:t>
            </a:r>
          </a:p>
          <a:p>
            <a:pPr>
              <a:lnSpc>
                <a:spcPct val="110000"/>
              </a:lnSpc>
              <a:spcBef>
                <a:spcPts val="0"/>
              </a:spcBef>
              <a:buFont typeface="Wingdings" pitchFamily="2" charset="2"/>
              <a:buNone/>
            </a:pPr>
            <a:r>
              <a:rPr lang="en-US" sz="2000" dirty="0">
                <a:latin typeface="Comic Sans MS" pitchFamily="66" charset="0"/>
              </a:rPr>
              <a:t>}</a:t>
            </a:r>
          </a:p>
          <a:p>
            <a:pPr>
              <a:lnSpc>
                <a:spcPct val="110000"/>
              </a:lnSpc>
              <a:spcBef>
                <a:spcPts val="0"/>
              </a:spcBef>
              <a:buFont typeface="Wingdings" pitchFamily="2" charset="2"/>
              <a:buNone/>
            </a:pPr>
            <a:endParaRPr lang="en-US" sz="2000" dirty="0">
              <a:latin typeface="Comic Sans MS" pitchFamily="66" charset="0"/>
            </a:endParaRPr>
          </a:p>
          <a:p>
            <a:pPr>
              <a:lnSpc>
                <a:spcPct val="110000"/>
              </a:lnSpc>
              <a:spcBef>
                <a:spcPts val="0"/>
              </a:spcBef>
              <a:buFont typeface="Wingdings" pitchFamily="2" charset="2"/>
              <a:buNone/>
            </a:pPr>
            <a:r>
              <a:rPr lang="en-US" sz="2000" dirty="0">
                <a:latin typeface="Comic Sans MS" pitchFamily="66" charset="0"/>
              </a:rPr>
              <a:t>		</a:t>
            </a:r>
          </a:p>
        </p:txBody>
      </p:sp>
      <p:sp>
        <p:nvSpPr>
          <p:cNvPr id="2" name="Slide Number Placeholder 3">
            <a:extLst>
              <a:ext uri="{FF2B5EF4-FFF2-40B4-BE49-F238E27FC236}">
                <a16:creationId xmlns:a16="http://schemas.microsoft.com/office/drawing/2014/main" id="{3DDEE8F2-8CE7-64BE-EA2B-EABD2E241114}"/>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15</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37911951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p:cNvSpPr>
            <a:spLocks noGrp="1" noChangeArrowheads="1"/>
          </p:cNvSpPr>
          <p:nvPr>
            <p:ph type="title"/>
          </p:nvPr>
        </p:nvSpPr>
        <p:spPr>
          <a:xfrm>
            <a:off x="833120" y="76200"/>
            <a:ext cx="8234680" cy="665480"/>
          </a:xfrm>
        </p:spPr>
        <p:txBody>
          <a:bodyPr>
            <a:noAutofit/>
          </a:bodyPr>
          <a:lstStyle/>
          <a:p>
            <a:r>
              <a:rPr lang="en-US" dirty="0"/>
              <a:t>Critical Section Timeline - Example</a:t>
            </a:r>
          </a:p>
        </p:txBody>
      </p:sp>
      <p:pic>
        <p:nvPicPr>
          <p:cNvPr id="6" name="Picture 4"/>
          <p:cNvPicPr>
            <a:picLocks noChangeAspect="1" noChangeArrowheads="1"/>
          </p:cNvPicPr>
          <p:nvPr/>
        </p:nvPicPr>
        <p:blipFill>
          <a:blip r:embed="rId3"/>
          <a:srcRect/>
          <a:stretch>
            <a:fillRect/>
          </a:stretch>
        </p:blipFill>
        <p:spPr bwMode="auto">
          <a:xfrm>
            <a:off x="254636" y="1352660"/>
            <a:ext cx="8889364" cy="4662060"/>
          </a:xfrm>
          <a:prstGeom prst="rect">
            <a:avLst/>
          </a:prstGeom>
          <a:noFill/>
          <a:ln w="9525">
            <a:noFill/>
            <a:miter lim="800000"/>
            <a:headEnd/>
            <a:tailEnd/>
          </a:ln>
          <a:effectLst/>
        </p:spPr>
      </p:pic>
      <p:sp>
        <p:nvSpPr>
          <p:cNvPr id="2" name="Slide Number Placeholder 3">
            <a:extLst>
              <a:ext uri="{FF2B5EF4-FFF2-40B4-BE49-F238E27FC236}">
                <a16:creationId xmlns:a16="http://schemas.microsoft.com/office/drawing/2014/main" id="{F84B6634-20DC-235C-1C3B-320F1E8591B9}"/>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16</a:t>
            </a:fld>
            <a:endParaRPr lang="en-US" altLang="en-US" sz="1400" dirty="0">
              <a:solidFill>
                <a:schemeClr val="tx1"/>
              </a:solidFill>
              <a:latin typeface="Tahoma" panose="020B0604030504040204" pitchFamily="34" charset="0"/>
              <a:ea typeface="MS PGothic" panose="020B0600070205080204" pitchFamily="34" charset="-128"/>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075778" y="55880"/>
            <a:ext cx="8027582" cy="678712"/>
          </a:xfrm>
          <a:noFill/>
          <a:ln/>
        </p:spPr>
        <p:txBody>
          <a:bodyPr>
            <a:noAutofit/>
          </a:bodyPr>
          <a:lstStyle/>
          <a:p>
            <a:r>
              <a:rPr lang="en-US" sz="2800" dirty="0"/>
              <a:t>Solution of CS Problem - Properties</a:t>
            </a:r>
          </a:p>
        </p:txBody>
      </p:sp>
      <p:sp>
        <p:nvSpPr>
          <p:cNvPr id="12291" name="Rectangle 3"/>
          <p:cNvSpPr>
            <a:spLocks noGrp="1" noChangeArrowheads="1"/>
          </p:cNvSpPr>
          <p:nvPr>
            <p:ph idx="1"/>
          </p:nvPr>
        </p:nvSpPr>
        <p:spPr>
          <a:xfrm>
            <a:off x="353711" y="1085370"/>
            <a:ext cx="8628455" cy="5486400"/>
          </a:xfrm>
          <a:noFill/>
          <a:ln/>
        </p:spPr>
        <p:txBody>
          <a:bodyPr/>
          <a:lstStyle/>
          <a:p>
            <a:pPr marL="346075" indent="-346075" eaLnBrk="1" fontAlgn="auto" hangingPunct="1">
              <a:spcBef>
                <a:spcPts val="600"/>
              </a:spcBef>
              <a:spcAft>
                <a:spcPts val="0"/>
              </a:spcAft>
              <a:defRPr/>
            </a:pPr>
            <a:r>
              <a:rPr lang="en-US" b="0" i="0" dirty="0">
                <a:solidFill>
                  <a:srgbClr val="0D0D0D"/>
                </a:solidFill>
                <a:effectLst/>
                <a:highlight>
                  <a:srgbClr val="FFFFFF"/>
                </a:highlight>
                <a:latin typeface="Söhne"/>
              </a:rPr>
              <a:t>In the </a:t>
            </a:r>
            <a:r>
              <a:rPr lang="en-US" dirty="0">
                <a:solidFill>
                  <a:srgbClr val="0D0D0D"/>
                </a:solidFill>
                <a:highlight>
                  <a:srgbClr val="FFFFFF"/>
                </a:highlight>
                <a:latin typeface="Söhne"/>
              </a:rPr>
              <a:t>context of solving CS problem, there are three key requirements: </a:t>
            </a:r>
          </a:p>
          <a:p>
            <a:pPr marL="746125" lvl="1" indent="-346075" eaLnBrk="1" fontAlgn="auto" hangingPunct="1">
              <a:spcBef>
                <a:spcPts val="600"/>
              </a:spcBef>
              <a:spcAft>
                <a:spcPts val="0"/>
              </a:spcAft>
              <a:defRPr/>
            </a:pPr>
            <a:r>
              <a:rPr lang="en-US" sz="2400" dirty="0">
                <a:solidFill>
                  <a:srgbClr val="0000CC"/>
                </a:solidFill>
                <a:highlight>
                  <a:srgbClr val="FFFFFF"/>
                </a:highlight>
                <a:latin typeface="Söhne"/>
              </a:rPr>
              <a:t>Mutual exclusion</a:t>
            </a:r>
          </a:p>
          <a:p>
            <a:pPr marL="746125" lvl="1" indent="-346075" eaLnBrk="1" fontAlgn="auto" hangingPunct="1">
              <a:spcBef>
                <a:spcPts val="600"/>
              </a:spcBef>
              <a:spcAft>
                <a:spcPts val="0"/>
              </a:spcAft>
              <a:defRPr/>
            </a:pPr>
            <a:r>
              <a:rPr lang="en-US" sz="2400" dirty="0">
                <a:solidFill>
                  <a:srgbClr val="0000CC"/>
                </a:solidFill>
                <a:highlight>
                  <a:srgbClr val="FFFFFF"/>
                </a:highlight>
                <a:latin typeface="Söhne"/>
              </a:rPr>
              <a:t>Progress</a:t>
            </a:r>
          </a:p>
          <a:p>
            <a:pPr marL="746125" lvl="1" indent="-346075" eaLnBrk="1" fontAlgn="auto" hangingPunct="1">
              <a:spcBef>
                <a:spcPts val="600"/>
              </a:spcBef>
              <a:spcAft>
                <a:spcPts val="0"/>
              </a:spcAft>
              <a:defRPr/>
            </a:pPr>
            <a:r>
              <a:rPr lang="en-US" sz="2400" dirty="0">
                <a:solidFill>
                  <a:srgbClr val="0000CC"/>
                </a:solidFill>
                <a:highlight>
                  <a:srgbClr val="FFFFFF"/>
                </a:highlight>
                <a:latin typeface="Söhne"/>
              </a:rPr>
              <a:t>Bounded waiting</a:t>
            </a:r>
          </a:p>
          <a:p>
            <a:pPr marL="746125" lvl="1" indent="-346075" eaLnBrk="1" fontAlgn="auto" hangingPunct="1">
              <a:spcBef>
                <a:spcPts val="600"/>
              </a:spcBef>
              <a:spcAft>
                <a:spcPts val="0"/>
              </a:spcAft>
              <a:defRPr/>
            </a:pPr>
            <a:endParaRPr lang="en-US" dirty="0">
              <a:solidFill>
                <a:srgbClr val="0D0D0D"/>
              </a:solidFill>
              <a:highlight>
                <a:srgbClr val="FFFFFF"/>
              </a:highlight>
              <a:latin typeface="Söhne"/>
            </a:endParaRPr>
          </a:p>
          <a:p>
            <a:pPr marL="346075" indent="-346075" eaLnBrk="1" fontAlgn="auto" hangingPunct="1">
              <a:spcBef>
                <a:spcPts val="600"/>
              </a:spcBef>
              <a:spcAft>
                <a:spcPts val="0"/>
              </a:spcAft>
              <a:defRPr/>
            </a:pPr>
            <a:r>
              <a:rPr lang="en-US" b="1" dirty="0"/>
              <a:t>Mutual Exclusion</a:t>
            </a:r>
          </a:p>
          <a:p>
            <a:pPr marL="741363" lvl="1" indent="-284163" eaLnBrk="1" fontAlgn="auto" hangingPunct="1">
              <a:spcBef>
                <a:spcPts val="600"/>
              </a:spcBef>
              <a:spcAft>
                <a:spcPts val="0"/>
              </a:spcAft>
              <a:defRPr/>
            </a:pPr>
            <a:r>
              <a:rPr lang="en-US" dirty="0"/>
              <a:t>If process P</a:t>
            </a:r>
            <a:r>
              <a:rPr lang="en-US" baseline="-25000" dirty="0"/>
              <a:t>i</a:t>
            </a:r>
            <a:r>
              <a:rPr lang="en-US" dirty="0"/>
              <a:t> is executing in its CS, no other cooperating process </a:t>
            </a:r>
            <a:br>
              <a:rPr lang="en-US" dirty="0"/>
            </a:br>
            <a:r>
              <a:rPr lang="en-US" dirty="0"/>
              <a:t>can be executing in its CS</a:t>
            </a:r>
          </a:p>
          <a:p>
            <a:pPr marL="1084263" lvl="2" indent="-284163" eaLnBrk="1" fontAlgn="auto" hangingPunct="1">
              <a:spcBef>
                <a:spcPts val="1200"/>
              </a:spcBef>
              <a:spcAft>
                <a:spcPts val="0"/>
              </a:spcAft>
              <a:defRPr/>
            </a:pPr>
            <a:r>
              <a:rPr lang="en-US" b="0" i="0" dirty="0">
                <a:solidFill>
                  <a:srgbClr val="0D0D0D"/>
                </a:solidFill>
                <a:effectLst/>
                <a:highlight>
                  <a:srgbClr val="FFFFFF"/>
                </a:highlight>
                <a:latin typeface="Söhne"/>
              </a:rPr>
              <a:t>crucial to prevent race conditions </a:t>
            </a:r>
          </a:p>
          <a:p>
            <a:pPr marL="1084263" lvl="2" indent="-284163" eaLnBrk="1" fontAlgn="auto" hangingPunct="1">
              <a:spcBef>
                <a:spcPts val="600"/>
              </a:spcBef>
              <a:spcAft>
                <a:spcPts val="0"/>
              </a:spcAft>
              <a:defRPr/>
            </a:pPr>
            <a:r>
              <a:rPr lang="en-US" b="0" i="0" dirty="0">
                <a:solidFill>
                  <a:srgbClr val="0D0D0D"/>
                </a:solidFill>
                <a:effectLst/>
                <a:highlight>
                  <a:srgbClr val="FFFFFF"/>
                </a:highlight>
                <a:latin typeface="Söhne"/>
              </a:rPr>
              <a:t>ensures shared resources are accessed safely</a:t>
            </a:r>
            <a:endParaRPr lang="en-US" dirty="0"/>
          </a:p>
          <a:p>
            <a:pPr>
              <a:spcBef>
                <a:spcPts val="1800"/>
              </a:spcBef>
            </a:pPr>
            <a:endParaRPr lang="en-US" dirty="0"/>
          </a:p>
        </p:txBody>
      </p:sp>
      <p:sp>
        <p:nvSpPr>
          <p:cNvPr id="2" name="Slide Number Placeholder 3">
            <a:extLst>
              <a:ext uri="{FF2B5EF4-FFF2-40B4-BE49-F238E27FC236}">
                <a16:creationId xmlns:a16="http://schemas.microsoft.com/office/drawing/2014/main" id="{71EBD5CA-6A3A-0805-A997-0DC209C75BBE}"/>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17</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30215529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075778" y="55880"/>
            <a:ext cx="8027582" cy="678712"/>
          </a:xfrm>
          <a:noFill/>
          <a:ln/>
        </p:spPr>
        <p:txBody>
          <a:bodyPr>
            <a:noAutofit/>
          </a:bodyPr>
          <a:lstStyle/>
          <a:p>
            <a:r>
              <a:rPr lang="en-US" sz="2800" dirty="0"/>
              <a:t>Solution of CS Problem - Properties</a:t>
            </a:r>
          </a:p>
        </p:txBody>
      </p:sp>
      <p:sp>
        <p:nvSpPr>
          <p:cNvPr id="12291" name="Rectangle 3"/>
          <p:cNvSpPr>
            <a:spLocks noGrp="1" noChangeArrowheads="1"/>
          </p:cNvSpPr>
          <p:nvPr>
            <p:ph idx="1"/>
          </p:nvPr>
        </p:nvSpPr>
        <p:spPr>
          <a:xfrm>
            <a:off x="353711" y="1085370"/>
            <a:ext cx="8628455" cy="5486400"/>
          </a:xfrm>
          <a:noFill/>
          <a:ln/>
        </p:spPr>
        <p:txBody>
          <a:bodyPr/>
          <a:lstStyle/>
          <a:p>
            <a:pPr>
              <a:spcBef>
                <a:spcPts val="1800"/>
              </a:spcBef>
            </a:pPr>
            <a:r>
              <a:rPr lang="en-US" b="1" dirty="0"/>
              <a:t>Progress</a:t>
            </a:r>
            <a:endParaRPr lang="en-US" dirty="0"/>
          </a:p>
          <a:p>
            <a:pPr marL="630238" lvl="1">
              <a:spcBef>
                <a:spcPts val="600"/>
              </a:spcBef>
            </a:pPr>
            <a:r>
              <a:rPr lang="en-US" dirty="0"/>
              <a:t>If no process is executing in its CS, and some processes wish to enter their CS, two things need to happen: </a:t>
            </a:r>
          </a:p>
          <a:p>
            <a:pPr lvl="2">
              <a:spcBef>
                <a:spcPts val="1200"/>
              </a:spcBef>
            </a:pPr>
            <a:r>
              <a:rPr lang="en-US" dirty="0"/>
              <a:t>only those processes not executing in their &lt;RS&gt; can take part </a:t>
            </a:r>
            <a:br>
              <a:rPr lang="en-US" dirty="0"/>
            </a:br>
            <a:r>
              <a:rPr lang="en-US" dirty="0"/>
              <a:t>in deciding which process will enter its CS next</a:t>
            </a:r>
          </a:p>
          <a:p>
            <a:pPr lvl="2">
              <a:spcBef>
                <a:spcPts val="600"/>
              </a:spcBef>
            </a:pPr>
            <a:r>
              <a:rPr lang="en-US" dirty="0"/>
              <a:t>selection cannot be postponed indefinitely</a:t>
            </a:r>
          </a:p>
          <a:p>
            <a:pPr marL="630238" lvl="1">
              <a:spcBef>
                <a:spcPts val="1800"/>
              </a:spcBef>
            </a:pPr>
            <a:r>
              <a:rPr lang="en-US" dirty="0"/>
              <a:t>Progress ensures that… </a:t>
            </a:r>
          </a:p>
          <a:p>
            <a:pPr lvl="2">
              <a:spcBef>
                <a:spcPts val="600"/>
              </a:spcBef>
            </a:pPr>
            <a:r>
              <a:rPr lang="en-US" dirty="0">
                <a:solidFill>
                  <a:srgbClr val="0D0D0D"/>
                </a:solidFill>
                <a:highlight>
                  <a:srgbClr val="FFFFFF"/>
                </a:highlight>
                <a:latin typeface="Söhne"/>
              </a:rPr>
              <a:t>decision of which process enters the CS, should depend only on processes currently trying to enter their CS</a:t>
            </a:r>
          </a:p>
          <a:p>
            <a:pPr lvl="2">
              <a:spcBef>
                <a:spcPts val="600"/>
              </a:spcBef>
            </a:pPr>
            <a:r>
              <a:rPr lang="en-US" dirty="0">
                <a:solidFill>
                  <a:srgbClr val="0D0D0D"/>
                </a:solidFill>
                <a:highlight>
                  <a:srgbClr val="FFFFFF"/>
                </a:highlight>
                <a:latin typeface="Söhne"/>
              </a:rPr>
              <a:t>processes do not get stuck forever in entry section</a:t>
            </a:r>
            <a:endParaRPr lang="en-US" dirty="0"/>
          </a:p>
          <a:p>
            <a:pPr lvl="2">
              <a:spcBef>
                <a:spcPts val="600"/>
              </a:spcBef>
            </a:pPr>
            <a:r>
              <a:rPr lang="en-US" b="0" i="1" dirty="0">
                <a:solidFill>
                  <a:srgbClr val="0000CC"/>
                </a:solidFill>
                <a:effectLst/>
                <a:highlight>
                  <a:srgbClr val="FFFFFF"/>
                </a:highlight>
                <a:latin typeface="Söhne"/>
              </a:rPr>
              <a:t>some process will make progress towards entering the CS</a:t>
            </a:r>
          </a:p>
          <a:p>
            <a:pPr lvl="2">
              <a:spcBef>
                <a:spcPts val="600"/>
              </a:spcBef>
            </a:pPr>
            <a:r>
              <a:rPr lang="en-US" i="1" dirty="0">
                <a:solidFill>
                  <a:srgbClr val="FF0000"/>
                </a:solidFill>
              </a:rPr>
              <a:t>No Deadlock…!!!</a:t>
            </a:r>
            <a:r>
              <a:rPr lang="en-US" dirty="0"/>
              <a:t> </a:t>
            </a:r>
          </a:p>
        </p:txBody>
      </p:sp>
      <p:sp>
        <p:nvSpPr>
          <p:cNvPr id="2" name="Slide Number Placeholder 3">
            <a:extLst>
              <a:ext uri="{FF2B5EF4-FFF2-40B4-BE49-F238E27FC236}">
                <a16:creationId xmlns:a16="http://schemas.microsoft.com/office/drawing/2014/main" id="{71EBD5CA-6A3A-0805-A997-0DC209C75BBE}"/>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18</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24980344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075778" y="55880"/>
            <a:ext cx="8027582" cy="678712"/>
          </a:xfrm>
          <a:noFill/>
          <a:ln/>
        </p:spPr>
        <p:txBody>
          <a:bodyPr>
            <a:noAutofit/>
          </a:bodyPr>
          <a:lstStyle/>
          <a:p>
            <a:r>
              <a:rPr lang="en-US" sz="2800" dirty="0"/>
              <a:t>Solution of CS Problem - Properties</a:t>
            </a:r>
          </a:p>
        </p:txBody>
      </p:sp>
      <p:sp>
        <p:nvSpPr>
          <p:cNvPr id="12291" name="Rectangle 3"/>
          <p:cNvSpPr>
            <a:spLocks noGrp="1" noChangeArrowheads="1"/>
          </p:cNvSpPr>
          <p:nvPr>
            <p:ph idx="1"/>
          </p:nvPr>
        </p:nvSpPr>
        <p:spPr>
          <a:xfrm>
            <a:off x="374031" y="1107440"/>
            <a:ext cx="8444849" cy="5486400"/>
          </a:xfrm>
          <a:noFill/>
          <a:ln/>
        </p:spPr>
        <p:txBody>
          <a:bodyPr/>
          <a:lstStyle/>
          <a:p>
            <a:pPr>
              <a:spcBef>
                <a:spcPts val="1800"/>
              </a:spcBef>
            </a:pPr>
            <a:r>
              <a:rPr lang="en-US" b="1" dirty="0"/>
              <a:t>Bounded Wait</a:t>
            </a:r>
            <a:endParaRPr lang="en-US" dirty="0"/>
          </a:p>
          <a:p>
            <a:pPr lvl="1">
              <a:spcBef>
                <a:spcPts val="600"/>
              </a:spcBef>
            </a:pPr>
            <a:r>
              <a:rPr lang="en-US" dirty="0"/>
              <a:t>If a process has requested to enter its CS, a bound must exist on the number of times other processes are allowed to enter their CS, before the request is granted</a:t>
            </a:r>
          </a:p>
          <a:p>
            <a:pPr lvl="1">
              <a:spcBef>
                <a:spcPts val="1200"/>
              </a:spcBef>
            </a:pPr>
            <a:r>
              <a:rPr lang="en-US" dirty="0"/>
              <a:t>This property ensures that… </a:t>
            </a:r>
          </a:p>
          <a:p>
            <a:pPr lvl="2">
              <a:spcBef>
                <a:spcPts val="600"/>
              </a:spcBef>
            </a:pPr>
            <a:r>
              <a:rPr lang="en-US" i="1" dirty="0">
                <a:solidFill>
                  <a:srgbClr val="0000CC"/>
                </a:solidFill>
              </a:rPr>
              <a:t>no process is blocked indefinitely from entering its CS</a:t>
            </a:r>
          </a:p>
          <a:p>
            <a:pPr lvl="2">
              <a:spcBef>
                <a:spcPts val="600"/>
              </a:spcBef>
            </a:pPr>
            <a:r>
              <a:rPr lang="en-US" i="1" dirty="0">
                <a:solidFill>
                  <a:srgbClr val="FF0000"/>
                </a:solidFill>
              </a:rPr>
              <a:t>No Starvation…!!!</a:t>
            </a:r>
          </a:p>
          <a:p>
            <a:pPr marL="342900" indent="-342900">
              <a:spcBef>
                <a:spcPts val="2400"/>
              </a:spcBef>
              <a:buFont typeface="Wingdings" panose="05000000000000000000" pitchFamily="2" charset="2"/>
              <a:buChar char="§"/>
              <a:defRPr/>
            </a:pPr>
            <a:r>
              <a:rPr lang="en-US" sz="2400" b="1" dirty="0">
                <a:latin typeface="Calibri" panose="020F0502020204030204" pitchFamily="34" charset="0"/>
                <a:cs typeface="Calibri" panose="020F0502020204030204" pitchFamily="34" charset="0"/>
              </a:rPr>
              <a:t>Example:</a:t>
            </a:r>
            <a:r>
              <a:rPr lang="en-US" sz="2400" b="1" u="sng" dirty="0">
                <a:latin typeface="Calibri" panose="020F0502020204030204" pitchFamily="34" charset="0"/>
                <a:cs typeface="Calibri" panose="020F0502020204030204" pitchFamily="34" charset="0"/>
              </a:rPr>
              <a:t> </a:t>
            </a:r>
          </a:p>
          <a:p>
            <a:pPr marL="346075" indent="0">
              <a:spcBef>
                <a:spcPts val="600"/>
              </a:spcBef>
              <a:buNone/>
              <a:defRPr/>
            </a:pPr>
            <a:r>
              <a:rPr lang="en-US" sz="2100" dirty="0">
                <a:latin typeface="Calibri" panose="020F0502020204030204" pitchFamily="34" charset="0"/>
                <a:cs typeface="Calibri" panose="020F0502020204030204" pitchFamily="34" charset="0"/>
              </a:rPr>
              <a:t>Consider three processes P1, P2, P3;    and let the bound be set to 1</a:t>
            </a:r>
          </a:p>
          <a:p>
            <a:pPr marL="741363" lvl="1" indent="-284163">
              <a:lnSpc>
                <a:spcPct val="110000"/>
              </a:lnSpc>
              <a:spcBef>
                <a:spcPts val="600"/>
              </a:spcBef>
              <a:buFont typeface="Arial" pitchFamily="34" charset="0"/>
              <a:buChar char="•"/>
              <a:defRPr/>
            </a:pPr>
            <a:r>
              <a:rPr lang="en-US" sz="2100" dirty="0">
                <a:latin typeface="Calibri" panose="020F0502020204030204" pitchFamily="34" charset="0"/>
                <a:cs typeface="Calibri" panose="020F0502020204030204" pitchFamily="34" charset="0"/>
              </a:rPr>
              <a:t>P2 makes a request to enter its CS</a:t>
            </a:r>
          </a:p>
          <a:p>
            <a:pPr marL="741363" lvl="1" indent="-284163">
              <a:lnSpc>
                <a:spcPct val="110000"/>
              </a:lnSpc>
              <a:spcBef>
                <a:spcPts val="0"/>
              </a:spcBef>
              <a:buFont typeface="Arial" pitchFamily="34" charset="0"/>
              <a:buChar char="•"/>
              <a:defRPr/>
            </a:pPr>
            <a:r>
              <a:rPr lang="en-US" sz="2100" dirty="0"/>
              <a:t>then</a:t>
            </a:r>
            <a:r>
              <a:rPr lang="en-US" sz="2100" dirty="0">
                <a:latin typeface="Calibri" panose="020F0502020204030204" pitchFamily="34" charset="0"/>
                <a:cs typeface="Calibri" panose="020F0502020204030204" pitchFamily="34" charset="0"/>
              </a:rPr>
              <a:t> P1 &amp; P3 also request to enter their CS</a:t>
            </a:r>
          </a:p>
          <a:p>
            <a:pPr marL="741363" lvl="1" indent="-284163">
              <a:lnSpc>
                <a:spcPct val="110000"/>
              </a:lnSpc>
              <a:spcBef>
                <a:spcPts val="0"/>
              </a:spcBef>
              <a:buFont typeface="Arial" pitchFamily="34" charset="0"/>
              <a:buChar char="•"/>
              <a:defRPr/>
            </a:pPr>
            <a:r>
              <a:rPr lang="en-US" sz="2100" dirty="0">
                <a:latin typeface="Calibri" panose="020F0502020204030204" pitchFamily="34" charset="0"/>
                <a:cs typeface="Calibri" panose="020F0502020204030204" pitchFamily="34" charset="0"/>
              </a:rPr>
              <a:t>for bounded wait of 1, P1 &amp; P3 may enter their CS only once</a:t>
            </a:r>
          </a:p>
          <a:p>
            <a:pPr marL="741363" lvl="1" indent="-284163">
              <a:lnSpc>
                <a:spcPct val="110000"/>
              </a:lnSpc>
              <a:spcBef>
                <a:spcPts val="0"/>
              </a:spcBef>
              <a:buFont typeface="Arial" pitchFamily="34" charset="0"/>
              <a:buChar char="•"/>
              <a:defRPr/>
            </a:pPr>
            <a:r>
              <a:rPr lang="en-US" sz="2100" dirty="0">
                <a:latin typeface="Calibri" panose="020F0502020204030204" pitchFamily="34" charset="0"/>
                <a:cs typeface="Calibri" panose="020F0502020204030204" pitchFamily="34" charset="0"/>
              </a:rPr>
              <a:t>after that, P2 must be allowed to </a:t>
            </a:r>
            <a:r>
              <a:rPr lang="en-US" sz="2100" dirty="0"/>
              <a:t>enter</a:t>
            </a:r>
            <a:r>
              <a:rPr lang="en-US" sz="2100" dirty="0">
                <a:latin typeface="Calibri" panose="020F0502020204030204" pitchFamily="34" charset="0"/>
                <a:cs typeface="Calibri" panose="020F0502020204030204" pitchFamily="34" charset="0"/>
              </a:rPr>
              <a:t> its CS</a:t>
            </a:r>
            <a:endParaRPr lang="en-US" sz="2100" dirty="0"/>
          </a:p>
        </p:txBody>
      </p:sp>
      <p:sp>
        <p:nvSpPr>
          <p:cNvPr id="2" name="Slide Number Placeholder 3">
            <a:extLst>
              <a:ext uri="{FF2B5EF4-FFF2-40B4-BE49-F238E27FC236}">
                <a16:creationId xmlns:a16="http://schemas.microsoft.com/office/drawing/2014/main" id="{71EBD5CA-6A3A-0805-A997-0DC209C75BBE}"/>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19</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30375752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233680" y="2276817"/>
            <a:ext cx="8580119" cy="1063396"/>
          </a:xfrm>
        </p:spPr>
        <p:txBody>
          <a:bodyPr/>
          <a:lstStyle/>
          <a:p>
            <a:pPr marL="457200" lvl="1" indent="0" algn="ctr">
              <a:buNone/>
            </a:pPr>
            <a:r>
              <a:rPr lang="en-US" sz="3200" b="1" dirty="0">
                <a:solidFill>
                  <a:srgbClr val="006699"/>
                </a:solidFill>
                <a:latin typeface="+mj-lt"/>
              </a:rPr>
              <a:t>Software Based Solutions</a:t>
            </a:r>
          </a:p>
          <a:p>
            <a:pPr marL="457200" lvl="1" indent="0" algn="ctr">
              <a:buNone/>
            </a:pPr>
            <a:endParaRPr lang="en-US" altLang="en-US" sz="3200" b="1" dirty="0">
              <a:solidFill>
                <a:srgbClr val="006699"/>
              </a:solidFill>
              <a:latin typeface="+mj-lt"/>
            </a:endParaRPr>
          </a:p>
        </p:txBody>
      </p:sp>
      <p:sp>
        <p:nvSpPr>
          <p:cNvPr id="2" name="Slide Number Placeholder 3">
            <a:extLst>
              <a:ext uri="{FF2B5EF4-FFF2-40B4-BE49-F238E27FC236}">
                <a16:creationId xmlns:a16="http://schemas.microsoft.com/office/drawing/2014/main" id="{9C740614-1FBB-D246-96C3-BF4C6DE71AD8}"/>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20</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2441066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p:cNvSpPr>
            <a:spLocks noGrp="1" noChangeArrowheads="1"/>
          </p:cNvSpPr>
          <p:nvPr>
            <p:ph type="title"/>
          </p:nvPr>
        </p:nvSpPr>
        <p:spPr>
          <a:xfrm>
            <a:off x="599440" y="76200"/>
            <a:ext cx="8468360" cy="665480"/>
          </a:xfrm>
        </p:spPr>
        <p:txBody>
          <a:bodyPr>
            <a:noAutofit/>
          </a:bodyPr>
          <a:lstStyle/>
          <a:p>
            <a:r>
              <a:rPr lang="en-US" dirty="0"/>
              <a:t>Algorithm with Strict Alternation</a:t>
            </a:r>
          </a:p>
        </p:txBody>
      </p:sp>
      <p:sp>
        <p:nvSpPr>
          <p:cNvPr id="6" name="Rectangle 3"/>
          <p:cNvSpPr>
            <a:spLocks noChangeArrowheads="1"/>
          </p:cNvSpPr>
          <p:nvPr/>
        </p:nvSpPr>
        <p:spPr bwMode="auto">
          <a:xfrm>
            <a:off x="632370" y="2858584"/>
            <a:ext cx="3696790" cy="3649285"/>
          </a:xfrm>
          <a:prstGeom prst="rect">
            <a:avLst/>
          </a:prstGeom>
          <a:solidFill>
            <a:schemeClr val="bg1">
              <a:lumMod val="95000"/>
            </a:schemeClr>
          </a:solidFill>
          <a:ln w="9525">
            <a:noFill/>
            <a:miter lim="800000"/>
            <a:headEnd/>
            <a:tailEnd/>
          </a:ln>
          <a:effectLst/>
        </p:spPr>
        <p:txBody>
          <a:bodyPr/>
          <a:lstStyle/>
          <a:p>
            <a:pPr algn="ctr">
              <a:spcBef>
                <a:spcPct val="20000"/>
              </a:spcBef>
              <a:buClr>
                <a:schemeClr val="bg2"/>
              </a:buClr>
            </a:pPr>
            <a:r>
              <a:rPr kumimoji="1" lang="en-US" sz="2000" b="1" dirty="0">
                <a:solidFill>
                  <a:srgbClr val="0000CC"/>
                </a:solidFill>
                <a:latin typeface="Courier New" panose="02070309020205020404" pitchFamily="49" charset="0"/>
                <a:cs typeface="Courier New" panose="02070309020205020404" pitchFamily="49" charset="0"/>
              </a:rPr>
              <a:t>Process </a:t>
            </a:r>
            <a:r>
              <a:rPr kumimoji="1" lang="en-US" sz="2000" b="1" i="1" dirty="0">
                <a:solidFill>
                  <a:srgbClr val="0000CC"/>
                </a:solidFill>
                <a:latin typeface="Courier New" panose="02070309020205020404" pitchFamily="49" charset="0"/>
                <a:cs typeface="Courier New" panose="02070309020205020404" pitchFamily="49" charset="0"/>
              </a:rPr>
              <a:t>P</a:t>
            </a:r>
            <a:r>
              <a:rPr kumimoji="1" lang="en-US" sz="2000" b="1" i="1" baseline="-25000" dirty="0">
                <a:solidFill>
                  <a:srgbClr val="0000CC"/>
                </a:solidFill>
                <a:latin typeface="Courier New" panose="02070309020205020404" pitchFamily="49" charset="0"/>
                <a:cs typeface="Courier New" panose="02070309020205020404" pitchFamily="49" charset="0"/>
              </a:rPr>
              <a:t>0</a:t>
            </a:r>
            <a:endParaRPr kumimoji="1" lang="en-US" sz="2000" b="1" dirty="0">
              <a:latin typeface="Courier New" panose="02070309020205020404" pitchFamily="49" charset="0"/>
              <a:cs typeface="Courier New" panose="02070309020205020404" pitchFamily="49" charset="0"/>
            </a:endParaRPr>
          </a:p>
          <a:p>
            <a:pPr marL="342900" indent="-342900">
              <a:spcBef>
                <a:spcPct val="20000"/>
              </a:spcBef>
              <a:buClr>
                <a:schemeClr val="bg2"/>
              </a:buClr>
              <a:buFont typeface="Monotype Sorts" pitchFamily="2" charset="2"/>
              <a:buNone/>
              <a:tabLst>
                <a:tab pos="2403475" algn="l"/>
                <a:tab pos="2684463" algn="l"/>
                <a:tab pos="2974975" algn="l"/>
              </a:tabLst>
            </a:pPr>
            <a:r>
              <a:rPr kumimoji="1" lang="en-US" sz="2000" b="1" dirty="0">
                <a:latin typeface="Courier New" panose="02070309020205020404" pitchFamily="49" charset="0"/>
                <a:cs typeface="Courier New" panose="02070309020205020404" pitchFamily="49" charset="0"/>
              </a:rPr>
              <a:t>do {</a:t>
            </a:r>
          </a:p>
          <a:p>
            <a:pPr marL="342900" indent="-342900">
              <a:spcBef>
                <a:spcPct val="20000"/>
              </a:spcBef>
              <a:buClr>
                <a:schemeClr val="bg2"/>
              </a:buClr>
              <a:buFont typeface="Monotype Sorts" pitchFamily="2" charset="2"/>
              <a:buNone/>
              <a:tabLst>
                <a:tab pos="2403475" algn="l"/>
                <a:tab pos="2684463" algn="l"/>
                <a:tab pos="2974975" algn="l"/>
              </a:tabLst>
            </a:pPr>
            <a:r>
              <a:rPr kumimoji="1" lang="en-US" sz="2000" b="1" dirty="0">
                <a:latin typeface="Courier New" panose="02070309020205020404" pitchFamily="49" charset="0"/>
                <a:cs typeface="Courier New" panose="02070309020205020404" pitchFamily="49" charset="0"/>
              </a:rPr>
              <a:t>	  </a:t>
            </a:r>
            <a:r>
              <a:rPr kumimoji="1" lang="en-US" sz="2000" b="1" dirty="0">
                <a:solidFill>
                  <a:srgbClr val="FF0000"/>
                </a:solidFill>
                <a:latin typeface="Courier New" panose="02070309020205020404" pitchFamily="49" charset="0"/>
                <a:cs typeface="Courier New" panose="02070309020205020404" pitchFamily="49" charset="0"/>
              </a:rPr>
              <a:t>//Entry section</a:t>
            </a:r>
          </a:p>
          <a:p>
            <a:pPr marL="342900" indent="-342900">
              <a:spcBef>
                <a:spcPct val="20000"/>
              </a:spcBef>
              <a:buClr>
                <a:schemeClr val="bg2"/>
              </a:buClr>
              <a:buFont typeface="Monotype Sorts" pitchFamily="2" charset="2"/>
              <a:buNone/>
              <a:tabLst>
                <a:tab pos="2403475" algn="l"/>
                <a:tab pos="2684463" algn="l"/>
                <a:tab pos="2974975" algn="l"/>
              </a:tabLst>
            </a:pPr>
            <a:r>
              <a:rPr kumimoji="1" lang="en-US" sz="2000" b="1" dirty="0">
                <a:solidFill>
                  <a:srgbClr val="FF0000"/>
                </a:solidFill>
                <a:latin typeface="Courier New" panose="02070309020205020404" pitchFamily="49" charset="0"/>
                <a:cs typeface="Courier New" panose="02070309020205020404" pitchFamily="49" charset="0"/>
              </a:rPr>
              <a:t>	  </a:t>
            </a:r>
            <a:r>
              <a:rPr kumimoji="1" lang="en-US" sz="2000" b="1" dirty="0">
                <a:latin typeface="Courier New" panose="02070309020205020404" pitchFamily="49" charset="0"/>
                <a:cs typeface="Courier New" panose="02070309020205020404" pitchFamily="49" charset="0"/>
              </a:rPr>
              <a:t>while (turn!=0);</a:t>
            </a:r>
            <a:endParaRPr kumimoji="1" lang="en-US" sz="2000" b="1" dirty="0">
              <a:solidFill>
                <a:srgbClr val="FF0000"/>
              </a:solidFill>
              <a:latin typeface="Courier New" panose="02070309020205020404" pitchFamily="49" charset="0"/>
              <a:cs typeface="Courier New" panose="02070309020205020404" pitchFamily="49" charset="0"/>
            </a:endParaRPr>
          </a:p>
          <a:p>
            <a:pPr marL="342900" indent="-342900">
              <a:spcBef>
                <a:spcPct val="20000"/>
              </a:spcBef>
              <a:buClr>
                <a:schemeClr val="bg2"/>
              </a:buClr>
              <a:buFont typeface="Monotype Sorts" pitchFamily="2" charset="2"/>
              <a:buNone/>
              <a:tabLst>
                <a:tab pos="2403475" algn="l"/>
                <a:tab pos="2684463" algn="l"/>
                <a:tab pos="2974975" algn="l"/>
              </a:tabLst>
            </a:pPr>
            <a:r>
              <a:rPr kumimoji="1" lang="en-US" sz="2000" b="1" dirty="0">
                <a:latin typeface="Courier New" panose="02070309020205020404" pitchFamily="49" charset="0"/>
                <a:cs typeface="Courier New" panose="02070309020205020404" pitchFamily="49" charset="0"/>
              </a:rPr>
              <a:t>	    </a:t>
            </a:r>
            <a:r>
              <a:rPr kumimoji="1" lang="en-US" sz="2000" dirty="0">
                <a:solidFill>
                  <a:srgbClr val="CC0000"/>
                </a:solidFill>
                <a:latin typeface="Courier New" panose="02070309020205020404" pitchFamily="49" charset="0"/>
                <a:cs typeface="Courier New" panose="02070309020205020404" pitchFamily="49" charset="0"/>
              </a:rPr>
              <a:t>&lt;CS&gt;</a:t>
            </a:r>
            <a:endParaRPr kumimoji="1" lang="en-US" sz="2000" dirty="0">
              <a:latin typeface="Courier New" panose="02070309020205020404" pitchFamily="49" charset="0"/>
              <a:cs typeface="Courier New" panose="02070309020205020404" pitchFamily="49" charset="0"/>
            </a:endParaRPr>
          </a:p>
          <a:p>
            <a:pPr marL="342900" indent="-342900">
              <a:spcBef>
                <a:spcPct val="20000"/>
              </a:spcBef>
              <a:buClr>
                <a:schemeClr val="bg2"/>
              </a:buClr>
              <a:buFont typeface="Monotype Sorts" pitchFamily="2" charset="2"/>
              <a:buNone/>
              <a:tabLst>
                <a:tab pos="2403475" algn="l"/>
                <a:tab pos="2684463" algn="l"/>
                <a:tab pos="2974975" algn="l"/>
              </a:tabLst>
            </a:pPr>
            <a:r>
              <a:rPr kumimoji="1" lang="en-US" sz="2000" b="1" dirty="0">
                <a:latin typeface="Courier New" panose="02070309020205020404" pitchFamily="49" charset="0"/>
                <a:cs typeface="Courier New" panose="02070309020205020404" pitchFamily="49" charset="0"/>
              </a:rPr>
              <a:t>	  </a:t>
            </a:r>
            <a:r>
              <a:rPr kumimoji="1" lang="en-US" sz="2000" b="1" dirty="0">
                <a:solidFill>
                  <a:srgbClr val="FF0000"/>
                </a:solidFill>
                <a:latin typeface="Courier New" panose="02070309020205020404" pitchFamily="49" charset="0"/>
                <a:cs typeface="Courier New" panose="02070309020205020404" pitchFamily="49" charset="0"/>
              </a:rPr>
              <a:t>//Exit section</a:t>
            </a:r>
          </a:p>
          <a:p>
            <a:pPr marL="342900" indent="-342900">
              <a:spcBef>
                <a:spcPct val="20000"/>
              </a:spcBef>
              <a:buClr>
                <a:schemeClr val="bg2"/>
              </a:buClr>
              <a:buFont typeface="Monotype Sorts" pitchFamily="2" charset="2"/>
              <a:buNone/>
              <a:tabLst>
                <a:tab pos="2403475" algn="l"/>
                <a:tab pos="2684463" algn="l"/>
                <a:tab pos="2974975" algn="l"/>
              </a:tabLst>
            </a:pPr>
            <a:r>
              <a:rPr kumimoji="1" lang="en-US" sz="2000" b="1" dirty="0">
                <a:solidFill>
                  <a:srgbClr val="FF0000"/>
                </a:solidFill>
                <a:latin typeface="Courier New" panose="02070309020205020404" pitchFamily="49" charset="0"/>
                <a:cs typeface="Courier New" panose="02070309020205020404" pitchFamily="49" charset="0"/>
              </a:rPr>
              <a:t>	  </a:t>
            </a:r>
            <a:r>
              <a:rPr kumimoji="1" lang="en-US" sz="2000" b="1" dirty="0">
                <a:latin typeface="Courier New" panose="02070309020205020404" pitchFamily="49" charset="0"/>
                <a:cs typeface="Courier New" panose="02070309020205020404" pitchFamily="49" charset="0"/>
              </a:rPr>
              <a:t>turn = 1; </a:t>
            </a:r>
            <a:endParaRPr kumimoji="1" lang="en-US" sz="2000" b="1" dirty="0">
              <a:solidFill>
                <a:srgbClr val="FF0000"/>
              </a:solidFill>
              <a:latin typeface="Courier New" panose="02070309020205020404" pitchFamily="49" charset="0"/>
              <a:cs typeface="Courier New" panose="02070309020205020404" pitchFamily="49" charset="0"/>
            </a:endParaRPr>
          </a:p>
          <a:p>
            <a:pPr marL="342900" indent="-342900">
              <a:spcBef>
                <a:spcPct val="20000"/>
              </a:spcBef>
              <a:buClr>
                <a:schemeClr val="bg2"/>
              </a:buClr>
              <a:buFont typeface="Monotype Sorts" pitchFamily="2" charset="2"/>
              <a:buNone/>
              <a:tabLst>
                <a:tab pos="2403475" algn="l"/>
                <a:tab pos="2684463" algn="l"/>
                <a:tab pos="2974975" algn="l"/>
              </a:tabLst>
            </a:pPr>
            <a:r>
              <a:rPr kumimoji="1" lang="en-US" sz="2000" b="1" dirty="0">
                <a:latin typeface="Courier New" panose="02070309020205020404" pitchFamily="49" charset="0"/>
                <a:cs typeface="Courier New" panose="02070309020205020404" pitchFamily="49" charset="0"/>
              </a:rPr>
              <a:t>	    </a:t>
            </a:r>
            <a:r>
              <a:rPr kumimoji="1" lang="en-US" sz="2000" dirty="0">
                <a:solidFill>
                  <a:srgbClr val="0000CC"/>
                </a:solidFill>
                <a:latin typeface="Courier New" panose="02070309020205020404" pitchFamily="49" charset="0"/>
                <a:cs typeface="Courier New" panose="02070309020205020404" pitchFamily="49" charset="0"/>
              </a:rPr>
              <a:t>&lt;RS&gt;</a:t>
            </a:r>
            <a:endParaRPr kumimoji="1" lang="en-US" sz="2000" dirty="0">
              <a:latin typeface="Courier New" panose="02070309020205020404" pitchFamily="49" charset="0"/>
              <a:cs typeface="Courier New" panose="02070309020205020404" pitchFamily="49" charset="0"/>
            </a:endParaRPr>
          </a:p>
          <a:p>
            <a:pPr marL="342900" indent="-342900">
              <a:spcBef>
                <a:spcPct val="20000"/>
              </a:spcBef>
              <a:buClr>
                <a:schemeClr val="bg2"/>
              </a:buClr>
              <a:buFont typeface="Monotype Sorts" pitchFamily="2" charset="2"/>
              <a:buNone/>
              <a:tabLst>
                <a:tab pos="2403475" algn="l"/>
                <a:tab pos="2684463" algn="l"/>
                <a:tab pos="2974975" algn="l"/>
              </a:tabLst>
            </a:pPr>
            <a:r>
              <a:rPr kumimoji="1" lang="en-US" sz="2000" b="1" dirty="0">
                <a:latin typeface="Courier New" panose="02070309020205020404" pitchFamily="49" charset="0"/>
                <a:cs typeface="Courier New" panose="02070309020205020404" pitchFamily="49" charset="0"/>
              </a:rPr>
              <a:t>} while (1);</a:t>
            </a:r>
          </a:p>
        </p:txBody>
      </p:sp>
      <p:sp>
        <p:nvSpPr>
          <p:cNvPr id="8" name="Rectangle 4"/>
          <p:cNvSpPr>
            <a:spLocks noChangeArrowheads="1"/>
          </p:cNvSpPr>
          <p:nvPr/>
        </p:nvSpPr>
        <p:spPr bwMode="auto">
          <a:xfrm>
            <a:off x="4961981" y="2858583"/>
            <a:ext cx="3696789" cy="3649285"/>
          </a:xfrm>
          <a:prstGeom prst="rect">
            <a:avLst/>
          </a:prstGeom>
          <a:solidFill>
            <a:schemeClr val="bg1">
              <a:lumMod val="95000"/>
            </a:schemeClr>
          </a:solidFill>
          <a:ln w="9525">
            <a:noFill/>
            <a:miter lim="800000"/>
            <a:headEnd/>
            <a:tailEnd/>
          </a:ln>
          <a:effectLst/>
        </p:spPr>
        <p:txBody>
          <a:bodyPr/>
          <a:lstStyle/>
          <a:p>
            <a:pPr algn="ctr">
              <a:spcBef>
                <a:spcPct val="20000"/>
              </a:spcBef>
              <a:buClr>
                <a:schemeClr val="bg2"/>
              </a:buClr>
              <a:tabLst>
                <a:tab pos="2403475" algn="l"/>
                <a:tab pos="2684463" algn="l"/>
                <a:tab pos="2974975" algn="l"/>
              </a:tabLst>
            </a:pPr>
            <a:r>
              <a:rPr kumimoji="1" lang="en-US" sz="2000" b="1" dirty="0">
                <a:solidFill>
                  <a:srgbClr val="0000CC"/>
                </a:solidFill>
                <a:latin typeface="Courier New" panose="02070309020205020404" pitchFamily="49" charset="0"/>
                <a:cs typeface="Courier New" panose="02070309020205020404" pitchFamily="49" charset="0"/>
              </a:rPr>
              <a:t>Process </a:t>
            </a:r>
            <a:r>
              <a:rPr kumimoji="1" lang="en-US" sz="2000" b="1" i="1" dirty="0">
                <a:solidFill>
                  <a:srgbClr val="0000CC"/>
                </a:solidFill>
                <a:latin typeface="Courier New" panose="02070309020205020404" pitchFamily="49" charset="0"/>
                <a:cs typeface="Courier New" panose="02070309020205020404" pitchFamily="49" charset="0"/>
              </a:rPr>
              <a:t>P</a:t>
            </a:r>
            <a:r>
              <a:rPr kumimoji="1" lang="en-US" sz="2000" b="1" i="1" baseline="-25000" dirty="0">
                <a:solidFill>
                  <a:srgbClr val="0000CC"/>
                </a:solidFill>
                <a:latin typeface="Courier New" panose="02070309020205020404" pitchFamily="49" charset="0"/>
                <a:cs typeface="Courier New" panose="02070309020205020404" pitchFamily="49" charset="0"/>
              </a:rPr>
              <a:t>1</a:t>
            </a:r>
            <a:endParaRPr kumimoji="1" lang="en-US" sz="2000" b="1" dirty="0">
              <a:latin typeface="Courier New" panose="02070309020205020404" pitchFamily="49" charset="0"/>
              <a:cs typeface="Courier New" panose="02070309020205020404" pitchFamily="49" charset="0"/>
            </a:endParaRPr>
          </a:p>
          <a:p>
            <a:pPr marL="342900" indent="-342900">
              <a:spcBef>
                <a:spcPct val="20000"/>
              </a:spcBef>
              <a:buClr>
                <a:schemeClr val="bg2"/>
              </a:buClr>
              <a:buFont typeface="Monotype Sorts" pitchFamily="2" charset="2"/>
              <a:buNone/>
              <a:tabLst>
                <a:tab pos="2403475" algn="l"/>
                <a:tab pos="2684463" algn="l"/>
                <a:tab pos="2974975" algn="l"/>
              </a:tabLst>
            </a:pPr>
            <a:r>
              <a:rPr kumimoji="1" lang="en-US" sz="2000" b="1" dirty="0">
                <a:latin typeface="Courier New" panose="02070309020205020404" pitchFamily="49" charset="0"/>
                <a:cs typeface="Courier New" panose="02070309020205020404" pitchFamily="49" charset="0"/>
              </a:rPr>
              <a:t>do {</a:t>
            </a:r>
          </a:p>
          <a:p>
            <a:pPr marL="342900" indent="-342900">
              <a:spcBef>
                <a:spcPct val="20000"/>
              </a:spcBef>
              <a:buClr>
                <a:schemeClr val="bg2"/>
              </a:buClr>
              <a:buFont typeface="Monotype Sorts" pitchFamily="2" charset="2"/>
              <a:buNone/>
              <a:tabLst>
                <a:tab pos="2403475" algn="l"/>
                <a:tab pos="2684463" algn="l"/>
                <a:tab pos="2974975" algn="l"/>
              </a:tabLst>
            </a:pPr>
            <a:r>
              <a:rPr kumimoji="1" lang="en-US" sz="2000" b="1" dirty="0">
                <a:latin typeface="Courier New" panose="02070309020205020404" pitchFamily="49" charset="0"/>
                <a:cs typeface="Courier New" panose="02070309020205020404" pitchFamily="49" charset="0"/>
              </a:rPr>
              <a:t>	  </a:t>
            </a:r>
            <a:r>
              <a:rPr kumimoji="1" lang="en-US" sz="2000" b="1" dirty="0">
                <a:solidFill>
                  <a:srgbClr val="FF0000"/>
                </a:solidFill>
                <a:latin typeface="Courier New" panose="02070309020205020404" pitchFamily="49" charset="0"/>
                <a:cs typeface="Courier New" panose="02070309020205020404" pitchFamily="49" charset="0"/>
              </a:rPr>
              <a:t>//Entry section</a:t>
            </a:r>
          </a:p>
          <a:p>
            <a:pPr marL="342900" indent="-342900">
              <a:spcBef>
                <a:spcPct val="20000"/>
              </a:spcBef>
              <a:buClr>
                <a:schemeClr val="bg2"/>
              </a:buClr>
              <a:buFont typeface="Monotype Sorts" pitchFamily="2" charset="2"/>
              <a:buNone/>
              <a:tabLst>
                <a:tab pos="2403475" algn="l"/>
                <a:tab pos="2684463" algn="l"/>
                <a:tab pos="2974975" algn="l"/>
              </a:tabLst>
            </a:pPr>
            <a:r>
              <a:rPr kumimoji="1" lang="en-US" sz="2000" b="1" dirty="0">
                <a:solidFill>
                  <a:srgbClr val="FF0000"/>
                </a:solidFill>
                <a:latin typeface="Courier New" panose="02070309020205020404" pitchFamily="49" charset="0"/>
                <a:cs typeface="Courier New" panose="02070309020205020404" pitchFamily="49" charset="0"/>
              </a:rPr>
              <a:t>	  </a:t>
            </a:r>
            <a:r>
              <a:rPr kumimoji="1" lang="en-US" sz="2000" b="1" dirty="0">
                <a:latin typeface="Courier New" panose="02070309020205020404" pitchFamily="49" charset="0"/>
                <a:cs typeface="Courier New" panose="02070309020205020404" pitchFamily="49" charset="0"/>
              </a:rPr>
              <a:t>while (turn!=1);</a:t>
            </a:r>
            <a:endParaRPr kumimoji="1" lang="en-US" sz="2000" b="1" dirty="0">
              <a:solidFill>
                <a:srgbClr val="FF0000"/>
              </a:solidFill>
              <a:latin typeface="Courier New" panose="02070309020205020404" pitchFamily="49" charset="0"/>
              <a:cs typeface="Courier New" panose="02070309020205020404" pitchFamily="49" charset="0"/>
            </a:endParaRPr>
          </a:p>
          <a:p>
            <a:pPr marL="342900" indent="-342900">
              <a:spcBef>
                <a:spcPct val="20000"/>
              </a:spcBef>
              <a:buClr>
                <a:schemeClr val="bg2"/>
              </a:buClr>
              <a:buFont typeface="Monotype Sorts" pitchFamily="2" charset="2"/>
              <a:buNone/>
              <a:tabLst>
                <a:tab pos="2403475" algn="l"/>
                <a:tab pos="2684463" algn="l"/>
                <a:tab pos="2974975" algn="l"/>
              </a:tabLst>
            </a:pPr>
            <a:r>
              <a:rPr kumimoji="1" lang="en-US" sz="2000" dirty="0">
                <a:solidFill>
                  <a:srgbClr val="CC0000"/>
                </a:solidFill>
                <a:latin typeface="Courier New" panose="02070309020205020404" pitchFamily="49" charset="0"/>
                <a:cs typeface="Courier New" panose="02070309020205020404" pitchFamily="49" charset="0"/>
              </a:rPr>
              <a:t>      &lt;CS&gt;</a:t>
            </a:r>
            <a:endParaRPr kumimoji="1" lang="en-US" sz="2000" dirty="0">
              <a:latin typeface="Courier New" panose="02070309020205020404" pitchFamily="49" charset="0"/>
              <a:cs typeface="Courier New" panose="02070309020205020404" pitchFamily="49" charset="0"/>
            </a:endParaRPr>
          </a:p>
          <a:p>
            <a:pPr marL="342900" indent="-342900">
              <a:spcBef>
                <a:spcPct val="20000"/>
              </a:spcBef>
              <a:buClr>
                <a:schemeClr val="bg2"/>
              </a:buClr>
              <a:buFont typeface="Monotype Sorts" pitchFamily="2" charset="2"/>
              <a:buNone/>
              <a:tabLst>
                <a:tab pos="2403475" algn="l"/>
                <a:tab pos="2684463" algn="l"/>
                <a:tab pos="2974975" algn="l"/>
              </a:tabLst>
            </a:pPr>
            <a:r>
              <a:rPr kumimoji="1" lang="en-US" sz="2000" b="1" dirty="0">
                <a:latin typeface="Courier New" panose="02070309020205020404" pitchFamily="49" charset="0"/>
                <a:cs typeface="Courier New" panose="02070309020205020404" pitchFamily="49" charset="0"/>
              </a:rPr>
              <a:t>	  </a:t>
            </a:r>
            <a:r>
              <a:rPr kumimoji="1" lang="en-US" sz="2000" b="1" dirty="0">
                <a:solidFill>
                  <a:srgbClr val="FF0000"/>
                </a:solidFill>
                <a:latin typeface="Courier New" panose="02070309020205020404" pitchFamily="49" charset="0"/>
                <a:cs typeface="Courier New" panose="02070309020205020404" pitchFamily="49" charset="0"/>
              </a:rPr>
              <a:t>//Exit section</a:t>
            </a:r>
          </a:p>
          <a:p>
            <a:pPr marL="342900" indent="-342900">
              <a:spcBef>
                <a:spcPct val="20000"/>
              </a:spcBef>
              <a:buClr>
                <a:schemeClr val="bg2"/>
              </a:buClr>
              <a:buFont typeface="Monotype Sorts" pitchFamily="2" charset="2"/>
              <a:buNone/>
              <a:tabLst>
                <a:tab pos="2403475" algn="l"/>
                <a:tab pos="2684463" algn="l"/>
                <a:tab pos="2974975" algn="l"/>
              </a:tabLst>
            </a:pPr>
            <a:r>
              <a:rPr kumimoji="1" lang="en-US" sz="2000" b="1" dirty="0">
                <a:solidFill>
                  <a:srgbClr val="FF0000"/>
                </a:solidFill>
                <a:latin typeface="Courier New" panose="02070309020205020404" pitchFamily="49" charset="0"/>
                <a:cs typeface="Courier New" panose="02070309020205020404" pitchFamily="49" charset="0"/>
              </a:rPr>
              <a:t>	  </a:t>
            </a:r>
            <a:r>
              <a:rPr kumimoji="1" lang="en-US" sz="2000" b="1" dirty="0">
                <a:latin typeface="Courier New" panose="02070309020205020404" pitchFamily="49" charset="0"/>
                <a:cs typeface="Courier New" panose="02070309020205020404" pitchFamily="49" charset="0"/>
              </a:rPr>
              <a:t>turn = 0;</a:t>
            </a:r>
            <a:r>
              <a:rPr kumimoji="1" lang="en-US" sz="2000" b="1" dirty="0">
                <a:solidFill>
                  <a:srgbClr val="FF0000"/>
                </a:solidFill>
                <a:latin typeface="Courier New" panose="02070309020205020404" pitchFamily="49" charset="0"/>
                <a:cs typeface="Courier New" panose="02070309020205020404" pitchFamily="49" charset="0"/>
              </a:rPr>
              <a:t> </a:t>
            </a:r>
            <a:br>
              <a:rPr kumimoji="1" lang="en-US" sz="2000" b="1" dirty="0">
                <a:solidFill>
                  <a:srgbClr val="FF0000"/>
                </a:solidFill>
                <a:latin typeface="Courier New" panose="02070309020205020404" pitchFamily="49" charset="0"/>
                <a:cs typeface="Courier New" panose="02070309020205020404" pitchFamily="49" charset="0"/>
              </a:rPr>
            </a:br>
            <a:r>
              <a:rPr kumimoji="1" lang="en-US" sz="2000" b="1" dirty="0">
                <a:solidFill>
                  <a:srgbClr val="FF0000"/>
                </a:solidFill>
                <a:latin typeface="Courier New" panose="02070309020205020404" pitchFamily="49" charset="0"/>
                <a:cs typeface="Courier New" panose="02070309020205020404" pitchFamily="49" charset="0"/>
              </a:rPr>
              <a:t>  </a:t>
            </a:r>
            <a:r>
              <a:rPr kumimoji="1" lang="en-US" sz="2000" b="1" dirty="0">
                <a:latin typeface="Courier New" panose="02070309020205020404" pitchFamily="49" charset="0"/>
                <a:cs typeface="Courier New" panose="02070309020205020404" pitchFamily="49" charset="0"/>
              </a:rPr>
              <a:t>  </a:t>
            </a:r>
            <a:r>
              <a:rPr kumimoji="1" lang="en-US" sz="2000" dirty="0">
                <a:solidFill>
                  <a:srgbClr val="0000CC"/>
                </a:solidFill>
                <a:latin typeface="Courier New" panose="02070309020205020404" pitchFamily="49" charset="0"/>
                <a:cs typeface="Courier New" panose="02070309020205020404" pitchFamily="49" charset="0"/>
              </a:rPr>
              <a:t>&lt;RS&gt;</a:t>
            </a:r>
            <a:endParaRPr kumimoji="1" lang="en-US" sz="2000" dirty="0">
              <a:latin typeface="Courier New" panose="02070309020205020404" pitchFamily="49" charset="0"/>
              <a:cs typeface="Courier New" panose="02070309020205020404" pitchFamily="49" charset="0"/>
            </a:endParaRPr>
          </a:p>
          <a:p>
            <a:pPr marL="342900" indent="-342900">
              <a:spcBef>
                <a:spcPct val="20000"/>
              </a:spcBef>
              <a:buClr>
                <a:schemeClr val="bg2"/>
              </a:buClr>
              <a:buFont typeface="Monotype Sorts" pitchFamily="2" charset="2"/>
              <a:buNone/>
              <a:tabLst>
                <a:tab pos="2403475" algn="l"/>
                <a:tab pos="2684463" algn="l"/>
                <a:tab pos="2974975" algn="l"/>
              </a:tabLst>
            </a:pPr>
            <a:r>
              <a:rPr kumimoji="1" lang="en-US" sz="2000" b="1" dirty="0">
                <a:latin typeface="Courier New" panose="02070309020205020404" pitchFamily="49" charset="0"/>
                <a:cs typeface="Courier New" panose="02070309020205020404" pitchFamily="49" charset="0"/>
              </a:rPr>
              <a:t>} while (1);</a:t>
            </a:r>
          </a:p>
        </p:txBody>
      </p:sp>
      <p:sp>
        <p:nvSpPr>
          <p:cNvPr id="9" name="Rectangle 3"/>
          <p:cNvSpPr>
            <a:spLocks noChangeArrowheads="1"/>
          </p:cNvSpPr>
          <p:nvPr/>
        </p:nvSpPr>
        <p:spPr bwMode="auto">
          <a:xfrm>
            <a:off x="375920" y="1076960"/>
            <a:ext cx="8585200" cy="1747520"/>
          </a:xfrm>
          <a:prstGeom prst="rect">
            <a:avLst/>
          </a:prstGeom>
          <a:noFill/>
          <a:ln w="9525">
            <a:noFill/>
            <a:miter lim="800000"/>
            <a:headEnd/>
            <a:tailEnd/>
          </a:ln>
          <a:effectLst/>
        </p:spPr>
        <p:txBody>
          <a:bodyPr/>
          <a:lstStyle/>
          <a:p>
            <a:pPr marL="342900" indent="-342900">
              <a:spcBef>
                <a:spcPts val="1200"/>
              </a:spcBef>
              <a:buFont typeface="Wingdings" panose="05000000000000000000" pitchFamily="2" charset="2"/>
              <a:buChar char="§"/>
              <a:tabLst>
                <a:tab pos="2403475" algn="l"/>
                <a:tab pos="2684463" algn="l"/>
                <a:tab pos="2974975" algn="l"/>
              </a:tabLst>
            </a:pPr>
            <a:r>
              <a:rPr kumimoji="1" lang="en-US" sz="2400" dirty="0">
                <a:latin typeface="Calibri" panose="020F0502020204030204" pitchFamily="34" charset="0"/>
                <a:cs typeface="Calibri" panose="020F0502020204030204" pitchFamily="34" charset="0"/>
              </a:rPr>
              <a:t>Synchronization for two processes P</a:t>
            </a:r>
            <a:r>
              <a:rPr kumimoji="1" lang="en-US" sz="2400" baseline="-25000" dirty="0">
                <a:latin typeface="Calibri" panose="020F0502020204030204" pitchFamily="34" charset="0"/>
                <a:cs typeface="Calibri" panose="020F0502020204030204" pitchFamily="34" charset="0"/>
              </a:rPr>
              <a:t>0 </a:t>
            </a:r>
            <a:r>
              <a:rPr kumimoji="1" lang="en-US" sz="2400" dirty="0">
                <a:latin typeface="Calibri" panose="020F0502020204030204" pitchFamily="34" charset="0"/>
                <a:cs typeface="Calibri" panose="020F0502020204030204" pitchFamily="34" charset="0"/>
              </a:rPr>
              <a:t>&amp; P</a:t>
            </a:r>
            <a:r>
              <a:rPr kumimoji="1" lang="en-US" sz="2400" baseline="-25000" dirty="0">
                <a:latin typeface="Calibri" panose="020F0502020204030204" pitchFamily="34" charset="0"/>
                <a:cs typeface="Calibri" panose="020F0502020204030204" pitchFamily="34" charset="0"/>
              </a:rPr>
              <a:t>1</a:t>
            </a:r>
            <a:r>
              <a:rPr kumimoji="1" lang="en-US" sz="2400" dirty="0">
                <a:latin typeface="Calibri" panose="020F0502020204030204" pitchFamily="34" charset="0"/>
                <a:cs typeface="Calibri" panose="020F0502020204030204" pitchFamily="34" charset="0"/>
              </a:rPr>
              <a:t>  </a:t>
            </a:r>
          </a:p>
          <a:p>
            <a:pPr marL="342900" indent="-342900">
              <a:spcBef>
                <a:spcPts val="1200"/>
              </a:spcBef>
              <a:buFont typeface="Wingdings" panose="05000000000000000000" pitchFamily="2" charset="2"/>
              <a:buChar char="§"/>
              <a:tabLst>
                <a:tab pos="2403475" algn="l"/>
                <a:tab pos="2684463" algn="l"/>
                <a:tab pos="2974975" algn="l"/>
              </a:tabLst>
            </a:pPr>
            <a:r>
              <a:rPr kumimoji="1" lang="en-US" sz="2300" b="1" dirty="0">
                <a:latin typeface="Calibri" panose="020F0502020204030204" pitchFamily="34" charset="0"/>
                <a:cs typeface="Calibri" panose="020F0502020204030204" pitchFamily="34" charset="0"/>
              </a:rPr>
              <a:t>turn</a:t>
            </a:r>
            <a:r>
              <a:rPr kumimoji="1" lang="en-US" sz="2300" dirty="0">
                <a:latin typeface="Calibri" panose="020F0502020204030204" pitchFamily="34" charset="0"/>
                <a:cs typeface="Calibri" panose="020F0502020204030204" pitchFamily="34" charset="0"/>
              </a:rPr>
              <a:t>   </a:t>
            </a:r>
            <a:r>
              <a:rPr kumimoji="1" lang="en-US" sz="2300" dirty="0">
                <a:latin typeface="Abadi" panose="020B0604020104020204" pitchFamily="34" charset="0"/>
                <a:cs typeface="Calibri" panose="020F0502020204030204" pitchFamily="34" charset="0"/>
              </a:rPr>
              <a:t>→</a:t>
            </a:r>
            <a:r>
              <a:rPr kumimoji="1" lang="en-US" sz="2300" dirty="0">
                <a:latin typeface="Calibri" panose="020F0502020204030204" pitchFamily="34" charset="0"/>
                <a:cs typeface="Calibri" panose="020F0502020204030204" pitchFamily="34" charset="0"/>
              </a:rPr>
              <a:t>   global/shared variable   </a:t>
            </a:r>
            <a:r>
              <a:rPr kumimoji="1" lang="en-US" sz="2300" dirty="0">
                <a:latin typeface="Abadi" panose="020B0604020104020204" pitchFamily="34" charset="0"/>
                <a:cs typeface="Calibri" panose="020F0502020204030204" pitchFamily="34" charset="0"/>
              </a:rPr>
              <a:t>→</a:t>
            </a:r>
            <a:r>
              <a:rPr kumimoji="1" lang="en-US" sz="2300" dirty="0">
                <a:latin typeface="Calibri" panose="020F0502020204030204" pitchFamily="34" charset="0"/>
                <a:cs typeface="Calibri" panose="020F0502020204030204" pitchFamily="34" charset="0"/>
              </a:rPr>
              <a:t>    initially,  </a:t>
            </a:r>
            <a:r>
              <a:rPr kumimoji="1" lang="en-US" sz="2300" b="1" dirty="0">
                <a:latin typeface="Calibri" panose="020F0502020204030204" pitchFamily="34" charset="0"/>
                <a:cs typeface="Calibri" panose="020F0502020204030204" pitchFamily="34" charset="0"/>
              </a:rPr>
              <a:t>turn = 0</a:t>
            </a:r>
          </a:p>
          <a:p>
            <a:pPr marL="342900" indent="-342900">
              <a:spcBef>
                <a:spcPts val="1200"/>
              </a:spcBef>
              <a:buFont typeface="Wingdings" panose="05000000000000000000" pitchFamily="2" charset="2"/>
              <a:buChar char="§"/>
              <a:tabLst>
                <a:tab pos="2403475" algn="l"/>
                <a:tab pos="2684463" algn="l"/>
                <a:tab pos="2974975" algn="l"/>
              </a:tabLst>
            </a:pPr>
            <a:r>
              <a:rPr kumimoji="1" lang="en-US" sz="2300" dirty="0">
                <a:latin typeface="Calibri" panose="020F0502020204030204" pitchFamily="34" charset="0"/>
                <a:cs typeface="Calibri" panose="020F0502020204030204" pitchFamily="34" charset="0"/>
              </a:rPr>
              <a:t>when </a:t>
            </a:r>
            <a:r>
              <a:rPr kumimoji="1" lang="en-US" sz="2300" b="1" dirty="0">
                <a:latin typeface="Calibri" panose="020F0502020204030204" pitchFamily="34" charset="0"/>
                <a:cs typeface="Calibri" panose="020F0502020204030204" pitchFamily="34" charset="0"/>
              </a:rPr>
              <a:t>turn = </a:t>
            </a:r>
            <a:r>
              <a:rPr kumimoji="1" lang="en-US" sz="2300" b="1" dirty="0" err="1">
                <a:latin typeface="Calibri" panose="020F0502020204030204" pitchFamily="34" charset="0"/>
                <a:cs typeface="Calibri" panose="020F0502020204030204" pitchFamily="34" charset="0"/>
              </a:rPr>
              <a:t>i</a:t>
            </a:r>
            <a:r>
              <a:rPr kumimoji="1" lang="en-US" sz="2300" b="1" dirty="0">
                <a:latin typeface="Calibri" panose="020F0502020204030204" pitchFamily="34" charset="0"/>
                <a:cs typeface="Calibri" panose="020F0502020204030204" pitchFamily="34" charset="0"/>
              </a:rPr>
              <a:t>   </a:t>
            </a:r>
            <a:r>
              <a:rPr kumimoji="1" lang="en-US" sz="2300" dirty="0">
                <a:latin typeface="Abadi" panose="020B0604020104020204" pitchFamily="34" charset="0"/>
                <a:cs typeface="Calibri" panose="020F0502020204030204" pitchFamily="34" charset="0"/>
              </a:rPr>
              <a:t>→</a:t>
            </a:r>
            <a:r>
              <a:rPr kumimoji="1" lang="en-US" sz="2300" dirty="0">
                <a:latin typeface="Calibri" panose="020F0502020204030204" pitchFamily="34" charset="0"/>
                <a:cs typeface="Calibri" panose="020F0502020204030204" pitchFamily="34" charset="0"/>
              </a:rPr>
              <a:t>   </a:t>
            </a:r>
            <a:r>
              <a:rPr kumimoji="1" lang="en-US" sz="2300" b="1" dirty="0">
                <a:latin typeface="Calibri" panose="020F0502020204030204" pitchFamily="34" charset="0"/>
                <a:cs typeface="Calibri" panose="020F0502020204030204" pitchFamily="34" charset="0"/>
              </a:rPr>
              <a:t>P</a:t>
            </a:r>
            <a:r>
              <a:rPr kumimoji="1" lang="en-US" sz="2300" b="1" baseline="-25000" dirty="0">
                <a:latin typeface="Calibri" panose="020F0502020204030204" pitchFamily="34" charset="0"/>
                <a:cs typeface="Calibri" panose="020F0502020204030204" pitchFamily="34" charset="0"/>
              </a:rPr>
              <a:t>i</a:t>
            </a:r>
            <a:r>
              <a:rPr kumimoji="1" lang="en-US" sz="2300" dirty="0">
                <a:latin typeface="Calibri" panose="020F0502020204030204" pitchFamily="34" charset="0"/>
                <a:cs typeface="Calibri" panose="020F0502020204030204" pitchFamily="34" charset="0"/>
              </a:rPr>
              <a:t> can enter its CS, otherwise waits in loop</a:t>
            </a:r>
            <a:endParaRPr kumimoji="1" lang="en-US" sz="2300" b="1" dirty="0">
              <a:solidFill>
                <a:srgbClr val="A50021"/>
              </a:solidFill>
              <a:latin typeface="Calibri" panose="020F0502020204030204" pitchFamily="34" charset="0"/>
              <a:cs typeface="Calibri" panose="020F0502020204030204" pitchFamily="34" charset="0"/>
              <a:sym typeface="Symbol" pitchFamily="18" charset="2"/>
            </a:endParaRPr>
          </a:p>
        </p:txBody>
      </p:sp>
      <p:sp>
        <p:nvSpPr>
          <p:cNvPr id="2" name="Slide Number Placeholder 3">
            <a:extLst>
              <a:ext uri="{FF2B5EF4-FFF2-40B4-BE49-F238E27FC236}">
                <a16:creationId xmlns:a16="http://schemas.microsoft.com/office/drawing/2014/main" id="{189A5E46-BF3D-12AD-522C-8214D9F5D74B}"/>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21</a:t>
            </a:fld>
            <a:endParaRPr lang="en-US" altLang="en-US" sz="1400" dirty="0">
              <a:solidFill>
                <a:schemeClr val="tx1"/>
              </a:solidFill>
              <a:latin typeface="Tahoma" panose="020B0604030504040204" pitchFamily="34" charset="0"/>
              <a:ea typeface="MS PGothic" panose="020B0600070205080204" pitchFamily="34" charset="-128"/>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p:cNvSpPr>
            <a:spLocks noGrp="1" noChangeArrowheads="1"/>
          </p:cNvSpPr>
          <p:nvPr>
            <p:ph type="title"/>
          </p:nvPr>
        </p:nvSpPr>
        <p:spPr>
          <a:xfrm>
            <a:off x="772160" y="76199"/>
            <a:ext cx="8295640" cy="682261"/>
          </a:xfrm>
        </p:spPr>
        <p:txBody>
          <a:bodyPr>
            <a:noAutofit/>
          </a:bodyPr>
          <a:lstStyle/>
          <a:p>
            <a:r>
              <a:rPr lang="en-US" dirty="0"/>
              <a:t>Algorithm Using Flags</a:t>
            </a:r>
          </a:p>
        </p:txBody>
      </p:sp>
      <p:sp>
        <p:nvSpPr>
          <p:cNvPr id="6" name="Rectangle 3"/>
          <p:cNvSpPr>
            <a:spLocks noChangeArrowheads="1"/>
          </p:cNvSpPr>
          <p:nvPr/>
        </p:nvSpPr>
        <p:spPr bwMode="auto">
          <a:xfrm>
            <a:off x="471715" y="2892695"/>
            <a:ext cx="4100286" cy="3772265"/>
          </a:xfrm>
          <a:prstGeom prst="rect">
            <a:avLst/>
          </a:prstGeom>
          <a:solidFill>
            <a:schemeClr val="bg1">
              <a:lumMod val="95000"/>
            </a:schemeClr>
          </a:solidFill>
          <a:ln w="9525">
            <a:noFill/>
            <a:miter lim="800000"/>
            <a:headEnd/>
            <a:tailEnd/>
          </a:ln>
          <a:effectLst/>
        </p:spPr>
        <p:txBody>
          <a:bodyPr/>
          <a:lstStyle/>
          <a:p>
            <a:pPr marL="342900" indent="-342900" algn="ctr">
              <a:spcBef>
                <a:spcPct val="20000"/>
              </a:spcBef>
              <a:buClr>
                <a:schemeClr val="bg2"/>
              </a:buClr>
              <a:tabLst>
                <a:tab pos="2403475" algn="l"/>
                <a:tab pos="2684463" algn="l"/>
                <a:tab pos="2974975" algn="l"/>
              </a:tabLst>
            </a:pPr>
            <a:r>
              <a:rPr kumimoji="1" lang="en-US" sz="1900" b="1" dirty="0">
                <a:solidFill>
                  <a:srgbClr val="0000CC"/>
                </a:solidFill>
                <a:latin typeface="Courier New" panose="02070309020205020404" pitchFamily="49" charset="0"/>
                <a:cs typeface="Courier New" panose="02070309020205020404" pitchFamily="49" charset="0"/>
              </a:rPr>
              <a:t>Process </a:t>
            </a:r>
            <a:r>
              <a:rPr kumimoji="1" lang="en-US" sz="1900" b="1" i="1" dirty="0">
                <a:solidFill>
                  <a:srgbClr val="0000CC"/>
                </a:solidFill>
                <a:latin typeface="Courier New" panose="02070309020205020404" pitchFamily="49" charset="0"/>
                <a:cs typeface="Courier New" panose="02070309020205020404" pitchFamily="49" charset="0"/>
              </a:rPr>
              <a:t>P</a:t>
            </a:r>
            <a:r>
              <a:rPr kumimoji="1" lang="en-US" sz="1900" b="1" i="1" baseline="-25000" dirty="0">
                <a:solidFill>
                  <a:srgbClr val="0000CC"/>
                </a:solidFill>
                <a:latin typeface="Courier New" panose="02070309020205020404" pitchFamily="49" charset="0"/>
                <a:cs typeface="Courier New" panose="02070309020205020404" pitchFamily="49" charset="0"/>
              </a:rPr>
              <a:t>0</a:t>
            </a:r>
            <a:endParaRPr kumimoji="1" lang="en-US" sz="1900" b="1" dirty="0">
              <a:latin typeface="Courier New" panose="02070309020205020404" pitchFamily="49" charset="0"/>
              <a:cs typeface="Courier New" panose="02070309020205020404" pitchFamily="49" charset="0"/>
            </a:endParaRPr>
          </a:p>
          <a:p>
            <a:pPr marL="342900" indent="-342900">
              <a:spcBef>
                <a:spcPct val="20000"/>
              </a:spcBef>
              <a:buClr>
                <a:schemeClr val="bg2"/>
              </a:buClr>
              <a:buFont typeface="Monotype Sorts" pitchFamily="2" charset="2"/>
              <a:buNone/>
              <a:tabLst>
                <a:tab pos="2403475" algn="l"/>
                <a:tab pos="2684463" algn="l"/>
                <a:tab pos="2974975" algn="l"/>
              </a:tabLst>
            </a:pPr>
            <a:r>
              <a:rPr kumimoji="1" lang="en-US" sz="1900" b="1" dirty="0">
                <a:latin typeface="Courier New" panose="02070309020205020404" pitchFamily="49" charset="0"/>
                <a:cs typeface="Courier New" panose="02070309020205020404" pitchFamily="49" charset="0"/>
              </a:rPr>
              <a:t>do {</a:t>
            </a:r>
          </a:p>
          <a:p>
            <a:pPr marL="342900" indent="-342900">
              <a:spcBef>
                <a:spcPct val="20000"/>
              </a:spcBef>
              <a:buClr>
                <a:schemeClr val="bg2"/>
              </a:buClr>
              <a:buFont typeface="Monotype Sorts" pitchFamily="2" charset="2"/>
              <a:buNone/>
              <a:tabLst>
                <a:tab pos="2403475" algn="l"/>
                <a:tab pos="2684463" algn="l"/>
                <a:tab pos="2974975" algn="l"/>
              </a:tabLst>
            </a:pPr>
            <a:r>
              <a:rPr kumimoji="1" lang="en-US" sz="1900" b="1" dirty="0">
                <a:latin typeface="Courier New" panose="02070309020205020404" pitchFamily="49" charset="0"/>
                <a:cs typeface="Courier New" panose="02070309020205020404" pitchFamily="49" charset="0"/>
              </a:rPr>
              <a:t>	  </a:t>
            </a:r>
            <a:r>
              <a:rPr kumimoji="1" lang="en-US" sz="1900" b="1" dirty="0">
                <a:solidFill>
                  <a:srgbClr val="FF0000"/>
                </a:solidFill>
                <a:latin typeface="Courier New" panose="02070309020205020404" pitchFamily="49" charset="0"/>
                <a:cs typeface="Courier New" panose="02070309020205020404" pitchFamily="49" charset="0"/>
              </a:rPr>
              <a:t>//Entry section</a:t>
            </a:r>
            <a:br>
              <a:rPr kumimoji="1" lang="en-US" sz="1900" b="1" dirty="0">
                <a:solidFill>
                  <a:srgbClr val="FF0000"/>
                </a:solidFill>
                <a:latin typeface="Courier New" panose="02070309020205020404" pitchFamily="49" charset="0"/>
                <a:cs typeface="Courier New" panose="02070309020205020404" pitchFamily="49" charset="0"/>
              </a:rPr>
            </a:br>
            <a:r>
              <a:rPr kumimoji="1" lang="en-US" sz="1900" b="1" dirty="0">
                <a:solidFill>
                  <a:srgbClr val="FF0000"/>
                </a:solidFill>
                <a:latin typeface="Courier New" panose="02070309020205020404" pitchFamily="49" charset="0"/>
                <a:cs typeface="Courier New" panose="02070309020205020404" pitchFamily="49" charset="0"/>
              </a:rPr>
              <a:t>  </a:t>
            </a:r>
            <a:r>
              <a:rPr kumimoji="1" lang="en-US" sz="1900" b="1" dirty="0">
                <a:latin typeface="Courier New" panose="02070309020205020404" pitchFamily="49" charset="0"/>
                <a:cs typeface="Courier New" panose="02070309020205020404" pitchFamily="49" charset="0"/>
              </a:rPr>
              <a:t>flag[0] = true;</a:t>
            </a:r>
            <a:br>
              <a:rPr kumimoji="1" lang="en-US" sz="1900" b="1" dirty="0">
                <a:latin typeface="Courier New" panose="02070309020205020404" pitchFamily="49" charset="0"/>
                <a:cs typeface="Courier New" panose="02070309020205020404" pitchFamily="49" charset="0"/>
              </a:rPr>
            </a:br>
            <a:r>
              <a:rPr kumimoji="1" lang="en-US" sz="1900" b="1" dirty="0">
                <a:latin typeface="Courier New" panose="02070309020205020404" pitchFamily="49" charset="0"/>
                <a:cs typeface="Courier New" panose="02070309020205020404" pitchFamily="49" charset="0"/>
              </a:rPr>
              <a:t>  while (flag[1]==true);</a:t>
            </a:r>
          </a:p>
          <a:p>
            <a:pPr marL="342900" indent="-342900">
              <a:spcBef>
                <a:spcPct val="20000"/>
              </a:spcBef>
              <a:buClr>
                <a:schemeClr val="bg2"/>
              </a:buClr>
              <a:buFont typeface="Monotype Sorts" pitchFamily="2" charset="2"/>
              <a:buNone/>
              <a:tabLst>
                <a:tab pos="2403475" algn="l"/>
                <a:tab pos="2684463" algn="l"/>
                <a:tab pos="2974975" algn="l"/>
              </a:tabLst>
            </a:pPr>
            <a:r>
              <a:rPr kumimoji="1" lang="en-US" sz="1900" b="1" dirty="0">
                <a:latin typeface="Courier New" panose="02070309020205020404" pitchFamily="49" charset="0"/>
                <a:cs typeface="Courier New" panose="02070309020205020404" pitchFamily="49" charset="0"/>
              </a:rPr>
              <a:t>	     </a:t>
            </a:r>
            <a:r>
              <a:rPr kumimoji="1" lang="en-US" sz="1900" dirty="0">
                <a:solidFill>
                  <a:srgbClr val="CC0000"/>
                </a:solidFill>
                <a:latin typeface="Courier New" panose="02070309020205020404" pitchFamily="49" charset="0"/>
                <a:cs typeface="Courier New" panose="02070309020205020404" pitchFamily="49" charset="0"/>
              </a:rPr>
              <a:t>&lt;CS&gt;</a:t>
            </a:r>
            <a:endParaRPr kumimoji="1" lang="en-US" sz="1900" dirty="0">
              <a:latin typeface="Courier New" panose="02070309020205020404" pitchFamily="49" charset="0"/>
              <a:cs typeface="Courier New" panose="02070309020205020404" pitchFamily="49" charset="0"/>
            </a:endParaRPr>
          </a:p>
          <a:p>
            <a:pPr marL="342900" indent="-342900">
              <a:spcBef>
                <a:spcPct val="20000"/>
              </a:spcBef>
              <a:buClr>
                <a:schemeClr val="bg2"/>
              </a:buClr>
              <a:buFont typeface="Monotype Sorts" pitchFamily="2" charset="2"/>
              <a:buNone/>
              <a:tabLst>
                <a:tab pos="2403475" algn="l"/>
                <a:tab pos="2684463" algn="l"/>
                <a:tab pos="2974975" algn="l"/>
              </a:tabLst>
            </a:pPr>
            <a:r>
              <a:rPr kumimoji="1" lang="en-US" sz="1900" b="1" dirty="0">
                <a:latin typeface="Courier New" panose="02070309020205020404" pitchFamily="49" charset="0"/>
                <a:cs typeface="Courier New" panose="02070309020205020404" pitchFamily="49" charset="0"/>
              </a:rPr>
              <a:t>	  </a:t>
            </a:r>
            <a:r>
              <a:rPr kumimoji="1" lang="en-US" sz="1900" b="1" dirty="0">
                <a:solidFill>
                  <a:srgbClr val="FF0000"/>
                </a:solidFill>
                <a:latin typeface="Courier New" panose="02070309020205020404" pitchFamily="49" charset="0"/>
                <a:cs typeface="Courier New" panose="02070309020205020404" pitchFamily="49" charset="0"/>
              </a:rPr>
              <a:t>//Exit section</a:t>
            </a:r>
          </a:p>
          <a:p>
            <a:pPr marL="342900" indent="-342900">
              <a:spcBef>
                <a:spcPct val="20000"/>
              </a:spcBef>
              <a:buClr>
                <a:schemeClr val="bg2"/>
              </a:buClr>
              <a:buFont typeface="Monotype Sorts" pitchFamily="2" charset="2"/>
              <a:buNone/>
              <a:tabLst>
                <a:tab pos="2403475" algn="l"/>
                <a:tab pos="2684463" algn="l"/>
                <a:tab pos="2974975" algn="l"/>
              </a:tabLst>
            </a:pPr>
            <a:r>
              <a:rPr kumimoji="1" lang="en-US" sz="1900" b="1" dirty="0">
                <a:solidFill>
                  <a:srgbClr val="FF0000"/>
                </a:solidFill>
                <a:latin typeface="Courier New" panose="02070309020205020404" pitchFamily="49" charset="0"/>
                <a:cs typeface="Courier New" panose="02070309020205020404" pitchFamily="49" charset="0"/>
              </a:rPr>
              <a:t>	  </a:t>
            </a:r>
            <a:r>
              <a:rPr kumimoji="1" lang="en-US" sz="1900" b="1" dirty="0">
                <a:latin typeface="Courier New" panose="02070309020205020404" pitchFamily="49" charset="0"/>
                <a:cs typeface="Courier New" panose="02070309020205020404" pitchFamily="49" charset="0"/>
              </a:rPr>
              <a:t>flag [0] = false;</a:t>
            </a:r>
            <a:endParaRPr kumimoji="1" lang="en-US" sz="1900" b="1" dirty="0">
              <a:solidFill>
                <a:srgbClr val="FF0000"/>
              </a:solidFill>
              <a:latin typeface="Courier New" panose="02070309020205020404" pitchFamily="49" charset="0"/>
              <a:cs typeface="Courier New" panose="02070309020205020404" pitchFamily="49" charset="0"/>
            </a:endParaRPr>
          </a:p>
          <a:p>
            <a:pPr marL="342900" indent="-342900">
              <a:spcBef>
                <a:spcPct val="20000"/>
              </a:spcBef>
              <a:buClr>
                <a:schemeClr val="bg2"/>
              </a:buClr>
              <a:buFont typeface="Monotype Sorts" pitchFamily="2" charset="2"/>
              <a:buNone/>
              <a:tabLst>
                <a:tab pos="2403475" algn="l"/>
                <a:tab pos="2684463" algn="l"/>
                <a:tab pos="2974975" algn="l"/>
              </a:tabLst>
            </a:pPr>
            <a:r>
              <a:rPr kumimoji="1" lang="en-US" sz="1900" b="1" dirty="0">
                <a:latin typeface="Courier New" panose="02070309020205020404" pitchFamily="49" charset="0"/>
                <a:cs typeface="Courier New" panose="02070309020205020404" pitchFamily="49" charset="0"/>
              </a:rPr>
              <a:t>	     </a:t>
            </a:r>
            <a:r>
              <a:rPr kumimoji="1" lang="en-US" sz="1900" dirty="0">
                <a:solidFill>
                  <a:srgbClr val="0000CC"/>
                </a:solidFill>
                <a:latin typeface="Courier New" panose="02070309020205020404" pitchFamily="49" charset="0"/>
                <a:cs typeface="Courier New" panose="02070309020205020404" pitchFamily="49" charset="0"/>
              </a:rPr>
              <a:t>&lt;RS&gt;</a:t>
            </a:r>
            <a:endParaRPr kumimoji="1" lang="en-US" sz="1900" dirty="0">
              <a:latin typeface="Courier New" panose="02070309020205020404" pitchFamily="49" charset="0"/>
              <a:cs typeface="Courier New" panose="02070309020205020404" pitchFamily="49" charset="0"/>
            </a:endParaRPr>
          </a:p>
          <a:p>
            <a:pPr marL="342900" indent="-342900">
              <a:spcBef>
                <a:spcPct val="20000"/>
              </a:spcBef>
              <a:buClr>
                <a:schemeClr val="bg2"/>
              </a:buClr>
              <a:buFont typeface="Monotype Sorts" pitchFamily="2" charset="2"/>
              <a:buNone/>
              <a:tabLst>
                <a:tab pos="2403475" algn="l"/>
                <a:tab pos="2684463" algn="l"/>
                <a:tab pos="2974975" algn="l"/>
              </a:tabLst>
            </a:pPr>
            <a:r>
              <a:rPr kumimoji="1" lang="en-US" sz="1900" b="1" dirty="0">
                <a:latin typeface="Courier New" panose="02070309020205020404" pitchFamily="49" charset="0"/>
                <a:cs typeface="Courier New" panose="02070309020205020404" pitchFamily="49" charset="0"/>
              </a:rPr>
              <a:t>} while (1);</a:t>
            </a:r>
          </a:p>
        </p:txBody>
      </p:sp>
      <p:sp>
        <p:nvSpPr>
          <p:cNvPr id="8" name="Rectangle 4"/>
          <p:cNvSpPr>
            <a:spLocks noChangeArrowheads="1"/>
          </p:cNvSpPr>
          <p:nvPr/>
        </p:nvSpPr>
        <p:spPr bwMode="auto">
          <a:xfrm>
            <a:off x="4856481" y="2892696"/>
            <a:ext cx="4013199" cy="3772264"/>
          </a:xfrm>
          <a:prstGeom prst="rect">
            <a:avLst/>
          </a:prstGeom>
          <a:solidFill>
            <a:schemeClr val="bg1">
              <a:lumMod val="95000"/>
            </a:schemeClr>
          </a:solidFill>
          <a:ln w="9525">
            <a:noFill/>
            <a:miter lim="800000"/>
            <a:headEnd/>
            <a:tailEnd/>
          </a:ln>
          <a:effectLst/>
        </p:spPr>
        <p:txBody>
          <a:bodyPr/>
          <a:lstStyle/>
          <a:p>
            <a:pPr marL="342900" indent="-342900" algn="ctr">
              <a:spcBef>
                <a:spcPct val="20000"/>
              </a:spcBef>
              <a:buClr>
                <a:schemeClr val="bg2"/>
              </a:buClr>
              <a:tabLst>
                <a:tab pos="2403475" algn="l"/>
                <a:tab pos="2684463" algn="l"/>
                <a:tab pos="2974975" algn="l"/>
              </a:tabLst>
            </a:pPr>
            <a:r>
              <a:rPr kumimoji="1" lang="en-US" sz="1900" b="1" dirty="0">
                <a:solidFill>
                  <a:srgbClr val="0000CC"/>
                </a:solidFill>
                <a:latin typeface="Courier New" panose="02070309020205020404" pitchFamily="49" charset="0"/>
                <a:cs typeface="Courier New" panose="02070309020205020404" pitchFamily="49" charset="0"/>
              </a:rPr>
              <a:t>Process </a:t>
            </a:r>
            <a:r>
              <a:rPr kumimoji="1" lang="en-US" sz="1900" b="1" i="1" dirty="0">
                <a:solidFill>
                  <a:srgbClr val="0000CC"/>
                </a:solidFill>
                <a:latin typeface="Courier New" panose="02070309020205020404" pitchFamily="49" charset="0"/>
                <a:cs typeface="Courier New" panose="02070309020205020404" pitchFamily="49" charset="0"/>
              </a:rPr>
              <a:t>P</a:t>
            </a:r>
            <a:r>
              <a:rPr kumimoji="1" lang="en-US" sz="1900" b="1" i="1" baseline="-25000" dirty="0">
                <a:solidFill>
                  <a:srgbClr val="0000CC"/>
                </a:solidFill>
                <a:latin typeface="Courier New" panose="02070309020205020404" pitchFamily="49" charset="0"/>
                <a:cs typeface="Courier New" panose="02070309020205020404" pitchFamily="49" charset="0"/>
              </a:rPr>
              <a:t>1</a:t>
            </a:r>
            <a:endParaRPr kumimoji="1" lang="en-US" sz="1900" b="1" dirty="0">
              <a:latin typeface="Courier New" panose="02070309020205020404" pitchFamily="49" charset="0"/>
              <a:cs typeface="Courier New" panose="02070309020205020404" pitchFamily="49" charset="0"/>
            </a:endParaRPr>
          </a:p>
          <a:p>
            <a:pPr marL="342900" indent="-342900">
              <a:spcBef>
                <a:spcPct val="20000"/>
              </a:spcBef>
              <a:buClr>
                <a:schemeClr val="bg2"/>
              </a:buClr>
              <a:buFont typeface="Monotype Sorts" pitchFamily="2" charset="2"/>
              <a:buNone/>
              <a:tabLst>
                <a:tab pos="2403475" algn="l"/>
                <a:tab pos="2684463" algn="l"/>
                <a:tab pos="2974975" algn="l"/>
              </a:tabLst>
            </a:pPr>
            <a:r>
              <a:rPr kumimoji="1" lang="en-US" sz="1900" b="1" dirty="0">
                <a:latin typeface="Courier New" panose="02070309020205020404" pitchFamily="49" charset="0"/>
                <a:cs typeface="Courier New" panose="02070309020205020404" pitchFamily="49" charset="0"/>
              </a:rPr>
              <a:t>do {</a:t>
            </a:r>
          </a:p>
          <a:p>
            <a:pPr marL="342900" indent="-342900">
              <a:spcBef>
                <a:spcPct val="20000"/>
              </a:spcBef>
              <a:buClr>
                <a:schemeClr val="bg2"/>
              </a:buClr>
              <a:buFont typeface="Monotype Sorts" pitchFamily="2" charset="2"/>
              <a:buNone/>
              <a:tabLst>
                <a:tab pos="2403475" algn="l"/>
                <a:tab pos="2684463" algn="l"/>
                <a:tab pos="2974975" algn="l"/>
              </a:tabLst>
            </a:pPr>
            <a:r>
              <a:rPr kumimoji="1" lang="en-US" sz="1900" b="1" dirty="0">
                <a:latin typeface="Courier New" panose="02070309020205020404" pitchFamily="49" charset="0"/>
                <a:cs typeface="Courier New" panose="02070309020205020404" pitchFamily="49" charset="0"/>
              </a:rPr>
              <a:t>	  </a:t>
            </a:r>
            <a:r>
              <a:rPr kumimoji="1" lang="en-US" sz="1900" b="1" dirty="0">
                <a:solidFill>
                  <a:srgbClr val="FF0000"/>
                </a:solidFill>
                <a:latin typeface="Courier New" panose="02070309020205020404" pitchFamily="49" charset="0"/>
                <a:cs typeface="Courier New" panose="02070309020205020404" pitchFamily="49" charset="0"/>
              </a:rPr>
              <a:t>//Entry section</a:t>
            </a:r>
            <a:br>
              <a:rPr kumimoji="1" lang="en-US" sz="1900" b="1" dirty="0">
                <a:solidFill>
                  <a:srgbClr val="FF0000"/>
                </a:solidFill>
                <a:latin typeface="Courier New" panose="02070309020205020404" pitchFamily="49" charset="0"/>
                <a:cs typeface="Courier New" panose="02070309020205020404" pitchFamily="49" charset="0"/>
              </a:rPr>
            </a:br>
            <a:r>
              <a:rPr kumimoji="1" lang="en-US" sz="1900" b="1" dirty="0">
                <a:solidFill>
                  <a:srgbClr val="FF0000"/>
                </a:solidFill>
                <a:latin typeface="Courier New" panose="02070309020205020404" pitchFamily="49" charset="0"/>
                <a:cs typeface="Courier New" panose="02070309020205020404" pitchFamily="49" charset="0"/>
              </a:rPr>
              <a:t>  </a:t>
            </a:r>
            <a:r>
              <a:rPr kumimoji="1" lang="en-US" sz="1900" b="1" dirty="0">
                <a:latin typeface="Courier New" panose="02070309020205020404" pitchFamily="49" charset="0"/>
                <a:cs typeface="Courier New" panose="02070309020205020404" pitchFamily="49" charset="0"/>
              </a:rPr>
              <a:t>flag[1] = true;</a:t>
            </a:r>
            <a:br>
              <a:rPr kumimoji="1" lang="en-US" sz="1900" b="1" dirty="0">
                <a:latin typeface="Courier New" panose="02070309020205020404" pitchFamily="49" charset="0"/>
                <a:cs typeface="Courier New" panose="02070309020205020404" pitchFamily="49" charset="0"/>
              </a:rPr>
            </a:br>
            <a:r>
              <a:rPr kumimoji="1" lang="en-US" sz="1900" b="1" dirty="0">
                <a:latin typeface="Courier New" panose="02070309020205020404" pitchFamily="49" charset="0"/>
                <a:cs typeface="Courier New" panose="02070309020205020404" pitchFamily="49" charset="0"/>
              </a:rPr>
              <a:t>  while (flag[0]==true);</a:t>
            </a:r>
            <a:endParaRPr kumimoji="1" lang="en-US" sz="1900" dirty="0">
              <a:solidFill>
                <a:srgbClr val="CC0000"/>
              </a:solidFill>
              <a:latin typeface="Courier New" panose="02070309020205020404" pitchFamily="49" charset="0"/>
              <a:cs typeface="Courier New" panose="02070309020205020404" pitchFamily="49" charset="0"/>
            </a:endParaRPr>
          </a:p>
          <a:p>
            <a:pPr marL="342900" indent="-342900">
              <a:spcBef>
                <a:spcPct val="20000"/>
              </a:spcBef>
              <a:buClr>
                <a:schemeClr val="bg2"/>
              </a:buClr>
              <a:buFont typeface="Monotype Sorts" pitchFamily="2" charset="2"/>
              <a:buNone/>
              <a:tabLst>
                <a:tab pos="2403475" algn="l"/>
                <a:tab pos="2684463" algn="l"/>
                <a:tab pos="2974975" algn="l"/>
              </a:tabLst>
            </a:pPr>
            <a:r>
              <a:rPr kumimoji="1" lang="en-US" sz="1900" dirty="0">
                <a:solidFill>
                  <a:srgbClr val="CC0000"/>
                </a:solidFill>
                <a:latin typeface="Courier New" panose="02070309020205020404" pitchFamily="49" charset="0"/>
                <a:cs typeface="Courier New" panose="02070309020205020404" pitchFamily="49" charset="0"/>
              </a:rPr>
              <a:t>       &lt;CS&gt;</a:t>
            </a:r>
            <a:endParaRPr kumimoji="1" lang="en-US" sz="1900" dirty="0">
              <a:latin typeface="Courier New" panose="02070309020205020404" pitchFamily="49" charset="0"/>
              <a:cs typeface="Courier New" panose="02070309020205020404" pitchFamily="49" charset="0"/>
            </a:endParaRPr>
          </a:p>
          <a:p>
            <a:pPr marL="342900" indent="-342900">
              <a:spcBef>
                <a:spcPct val="20000"/>
              </a:spcBef>
              <a:buClr>
                <a:schemeClr val="bg2"/>
              </a:buClr>
              <a:tabLst>
                <a:tab pos="2403475" algn="l"/>
                <a:tab pos="2684463" algn="l"/>
                <a:tab pos="2974975" algn="l"/>
              </a:tabLst>
            </a:pPr>
            <a:r>
              <a:rPr kumimoji="1" lang="en-US" sz="1900" b="1" dirty="0">
                <a:latin typeface="Courier New" panose="02070309020205020404" pitchFamily="49" charset="0"/>
                <a:cs typeface="Courier New" panose="02070309020205020404" pitchFamily="49" charset="0"/>
              </a:rPr>
              <a:t>	  </a:t>
            </a:r>
            <a:r>
              <a:rPr kumimoji="1" lang="en-US" sz="1900" b="1" dirty="0">
                <a:solidFill>
                  <a:srgbClr val="FF0000"/>
                </a:solidFill>
                <a:latin typeface="Courier New" panose="02070309020205020404" pitchFamily="49" charset="0"/>
                <a:cs typeface="Courier New" panose="02070309020205020404" pitchFamily="49" charset="0"/>
              </a:rPr>
              <a:t>//Exit section</a:t>
            </a:r>
            <a:endParaRPr kumimoji="1" lang="en-US" sz="1900" b="1" dirty="0">
              <a:latin typeface="Courier New" panose="02070309020205020404" pitchFamily="49" charset="0"/>
              <a:cs typeface="Courier New" panose="02070309020205020404" pitchFamily="49" charset="0"/>
            </a:endParaRPr>
          </a:p>
          <a:p>
            <a:pPr marL="342900" indent="-342900">
              <a:spcBef>
                <a:spcPct val="20000"/>
              </a:spcBef>
              <a:buClr>
                <a:schemeClr val="bg2"/>
              </a:buClr>
              <a:buFont typeface="Monotype Sorts" pitchFamily="2" charset="2"/>
              <a:buNone/>
              <a:tabLst>
                <a:tab pos="2403475" algn="l"/>
                <a:tab pos="2684463" algn="l"/>
                <a:tab pos="2974975" algn="l"/>
              </a:tabLst>
            </a:pPr>
            <a:r>
              <a:rPr kumimoji="1" lang="en-US" sz="1900" b="1" dirty="0">
                <a:latin typeface="Courier New" panose="02070309020205020404" pitchFamily="49" charset="0"/>
                <a:cs typeface="Courier New" panose="02070309020205020404" pitchFamily="49" charset="0"/>
              </a:rPr>
              <a:t>	  flag [1] = false;</a:t>
            </a:r>
          </a:p>
          <a:p>
            <a:pPr marL="342900" indent="-342900">
              <a:spcBef>
                <a:spcPct val="20000"/>
              </a:spcBef>
              <a:buClr>
                <a:schemeClr val="bg2"/>
              </a:buClr>
              <a:buFont typeface="Monotype Sorts" pitchFamily="2" charset="2"/>
              <a:buNone/>
              <a:tabLst>
                <a:tab pos="2403475" algn="l"/>
                <a:tab pos="2684463" algn="l"/>
                <a:tab pos="2974975" algn="l"/>
              </a:tabLst>
            </a:pPr>
            <a:r>
              <a:rPr kumimoji="1" lang="en-US" sz="1900" b="1" dirty="0">
                <a:solidFill>
                  <a:srgbClr val="0000CC"/>
                </a:solidFill>
                <a:latin typeface="Courier New" panose="02070309020205020404" pitchFamily="49" charset="0"/>
                <a:cs typeface="Courier New" panose="02070309020205020404" pitchFamily="49" charset="0"/>
              </a:rPr>
              <a:t>	     </a:t>
            </a:r>
            <a:r>
              <a:rPr kumimoji="1" lang="en-US" sz="1900" dirty="0">
                <a:solidFill>
                  <a:srgbClr val="0000CC"/>
                </a:solidFill>
                <a:latin typeface="Courier New" panose="02070309020205020404" pitchFamily="49" charset="0"/>
                <a:cs typeface="Courier New" panose="02070309020205020404" pitchFamily="49" charset="0"/>
              </a:rPr>
              <a:t>&lt;RS&gt;</a:t>
            </a:r>
            <a:endParaRPr kumimoji="1" lang="en-US" sz="1900" dirty="0">
              <a:latin typeface="Courier New" panose="02070309020205020404" pitchFamily="49" charset="0"/>
              <a:cs typeface="Courier New" panose="02070309020205020404" pitchFamily="49" charset="0"/>
            </a:endParaRPr>
          </a:p>
          <a:p>
            <a:pPr marL="342900" indent="-342900">
              <a:spcBef>
                <a:spcPct val="20000"/>
              </a:spcBef>
              <a:buClr>
                <a:schemeClr val="bg2"/>
              </a:buClr>
              <a:buFont typeface="Monotype Sorts" pitchFamily="2" charset="2"/>
              <a:buNone/>
              <a:tabLst>
                <a:tab pos="2403475" algn="l"/>
                <a:tab pos="2684463" algn="l"/>
                <a:tab pos="2974975" algn="l"/>
              </a:tabLst>
            </a:pPr>
            <a:r>
              <a:rPr kumimoji="1" lang="en-US" sz="1900" b="1" dirty="0">
                <a:latin typeface="Courier New" panose="02070309020205020404" pitchFamily="49" charset="0"/>
                <a:cs typeface="Courier New" panose="02070309020205020404" pitchFamily="49" charset="0"/>
              </a:rPr>
              <a:t>} while (1);</a:t>
            </a:r>
          </a:p>
        </p:txBody>
      </p:sp>
      <p:sp>
        <p:nvSpPr>
          <p:cNvPr id="9" name="Rectangle 3"/>
          <p:cNvSpPr>
            <a:spLocks noChangeArrowheads="1"/>
          </p:cNvSpPr>
          <p:nvPr/>
        </p:nvSpPr>
        <p:spPr bwMode="auto">
          <a:xfrm>
            <a:off x="329474" y="960120"/>
            <a:ext cx="8673012" cy="2138680"/>
          </a:xfrm>
          <a:prstGeom prst="rect">
            <a:avLst/>
          </a:prstGeom>
          <a:noFill/>
          <a:ln w="9525">
            <a:noFill/>
            <a:miter lim="800000"/>
            <a:headEnd/>
            <a:tailEnd/>
          </a:ln>
          <a:effectLst/>
        </p:spPr>
        <p:txBody>
          <a:bodyPr/>
          <a:lstStyle/>
          <a:p>
            <a:pPr marL="342900" indent="-342900">
              <a:spcBef>
                <a:spcPts val="600"/>
              </a:spcBef>
              <a:buFont typeface="Wingdings" panose="05000000000000000000" pitchFamily="2" charset="2"/>
              <a:buChar char="§"/>
              <a:tabLst>
                <a:tab pos="2403475" algn="l"/>
                <a:tab pos="2684463" algn="l"/>
                <a:tab pos="2974975" algn="l"/>
              </a:tabLst>
            </a:pPr>
            <a:r>
              <a:rPr kumimoji="1" lang="en-US" sz="2200" dirty="0">
                <a:latin typeface="Calibri" panose="020F0502020204030204" pitchFamily="34" charset="0"/>
                <a:cs typeface="Calibri" panose="020F0502020204030204" pitchFamily="34" charset="0"/>
              </a:rPr>
              <a:t>Solves limitation of strict alternation</a:t>
            </a:r>
          </a:p>
          <a:p>
            <a:pPr marL="342900" indent="-342900">
              <a:spcBef>
                <a:spcPts val="600"/>
              </a:spcBef>
              <a:buFont typeface="Wingdings" panose="05000000000000000000" pitchFamily="2" charset="2"/>
              <a:buChar char="§"/>
              <a:tabLst>
                <a:tab pos="2403475" algn="l"/>
                <a:tab pos="2684463" algn="l"/>
                <a:tab pos="2974975" algn="l"/>
              </a:tabLst>
            </a:pPr>
            <a:r>
              <a:rPr kumimoji="1" lang="en-US" sz="2200" dirty="0">
                <a:latin typeface="Calibri" panose="020F0502020204030204" pitchFamily="34" charset="0"/>
                <a:cs typeface="Calibri" panose="020F0502020204030204" pitchFamily="34" charset="0"/>
              </a:rPr>
              <a:t>Uses Boolean variables</a:t>
            </a:r>
            <a:r>
              <a:rPr kumimoji="1" lang="en-US" sz="2400" dirty="0">
                <a:latin typeface="Abadi" panose="020B0604020104020204" pitchFamily="34" charset="0"/>
                <a:cs typeface="Calibri" panose="020F0502020204030204" pitchFamily="34" charset="0"/>
              </a:rPr>
              <a:t> </a:t>
            </a:r>
            <a:r>
              <a:rPr kumimoji="1" lang="en-US" sz="2000" dirty="0">
                <a:latin typeface="Abadi" panose="020B0604020104020204" pitchFamily="34" charset="0"/>
                <a:cs typeface="Calibri" panose="020F0502020204030204" pitchFamily="34" charset="0"/>
              </a:rPr>
              <a:t>→</a:t>
            </a:r>
            <a:r>
              <a:rPr kumimoji="1" lang="en-US" sz="2200" dirty="0">
                <a:latin typeface="Calibri" panose="020F0502020204030204" pitchFamily="34" charset="0"/>
                <a:cs typeface="Calibri" panose="020F0502020204030204" pitchFamily="34" charset="0"/>
              </a:rPr>
              <a:t>  </a:t>
            </a:r>
            <a:r>
              <a:rPr kumimoji="1" lang="en-US" sz="2200" b="1" dirty="0" err="1">
                <a:latin typeface="Calibri" panose="020F0502020204030204" pitchFamily="34" charset="0"/>
                <a:cs typeface="Calibri" panose="020F0502020204030204" pitchFamily="34" charset="0"/>
              </a:rPr>
              <a:t>boolean</a:t>
            </a:r>
            <a:r>
              <a:rPr kumimoji="1" lang="en-US" sz="2200" b="1" dirty="0">
                <a:latin typeface="Calibri" panose="020F0502020204030204" pitchFamily="34" charset="0"/>
                <a:cs typeface="Calibri" panose="020F0502020204030204" pitchFamily="34" charset="0"/>
              </a:rPr>
              <a:t> flag [2]</a:t>
            </a:r>
            <a:r>
              <a:rPr kumimoji="1" lang="en-US" sz="2200" dirty="0">
                <a:latin typeface="Calibri" panose="020F0502020204030204" pitchFamily="34" charset="0"/>
                <a:cs typeface="Calibri" panose="020F0502020204030204" pitchFamily="34" charset="0"/>
              </a:rPr>
              <a:t>      </a:t>
            </a:r>
            <a:r>
              <a:rPr kumimoji="1" lang="en-US" sz="2200" b="1" dirty="0">
                <a:latin typeface="Calibri" panose="020F0502020204030204" pitchFamily="34" charset="0"/>
                <a:cs typeface="Calibri" panose="020F0502020204030204" pitchFamily="34" charset="0"/>
              </a:rPr>
              <a:t>flag [0] = flag [1] = false</a:t>
            </a:r>
          </a:p>
          <a:p>
            <a:pPr marL="342900" indent="-342900">
              <a:spcBef>
                <a:spcPts val="600"/>
              </a:spcBef>
              <a:buFont typeface="Wingdings" panose="05000000000000000000" pitchFamily="2" charset="2"/>
              <a:buChar char="§"/>
              <a:tabLst>
                <a:tab pos="2403475" algn="l"/>
                <a:tab pos="2684463" algn="l"/>
                <a:tab pos="2974975" algn="l"/>
              </a:tabLst>
            </a:pPr>
            <a:r>
              <a:rPr kumimoji="1" lang="en-US" sz="2200" dirty="0">
                <a:latin typeface="Calibri" panose="020F0502020204030204" pitchFamily="34" charset="0"/>
                <a:cs typeface="Calibri" panose="020F0502020204030204" pitchFamily="34" charset="0"/>
              </a:rPr>
              <a:t>Process sets its flag True 	</a:t>
            </a:r>
            <a:r>
              <a:rPr kumimoji="1" lang="en-US" sz="2000" dirty="0">
                <a:latin typeface="Abadi" panose="020B0604020104020204" pitchFamily="34" charset="0"/>
                <a:cs typeface="Calibri" panose="020F0502020204030204" pitchFamily="34" charset="0"/>
              </a:rPr>
              <a:t>→</a:t>
            </a:r>
            <a:r>
              <a:rPr kumimoji="1" lang="en-US" sz="2200" dirty="0">
                <a:latin typeface="Calibri" panose="020F0502020204030204" pitchFamily="34" charset="0"/>
                <a:cs typeface="Calibri" panose="020F0502020204030204" pitchFamily="34" charset="0"/>
              </a:rPr>
              <a:t>  intent to enter CS </a:t>
            </a:r>
          </a:p>
          <a:p>
            <a:pPr marL="342900" indent="-342900">
              <a:spcBef>
                <a:spcPts val="600"/>
              </a:spcBef>
              <a:buFont typeface="Wingdings" panose="05000000000000000000" pitchFamily="2" charset="2"/>
              <a:buChar char="§"/>
              <a:tabLst>
                <a:tab pos="2403475" algn="l"/>
                <a:tab pos="2684463" algn="l"/>
                <a:tab pos="2974975" algn="l"/>
              </a:tabLst>
            </a:pPr>
            <a:r>
              <a:rPr kumimoji="1" lang="en-US" sz="2200" dirty="0">
                <a:latin typeface="Calibri" panose="020F0502020204030204" pitchFamily="34" charset="0"/>
                <a:cs typeface="Calibri" panose="020F0502020204030204" pitchFamily="34" charset="0"/>
              </a:rPr>
              <a:t>Checks other process flag	</a:t>
            </a:r>
            <a:r>
              <a:rPr kumimoji="1" lang="en-US" sz="2000" dirty="0">
                <a:latin typeface="Abadi" panose="020B0604020104020204" pitchFamily="34" charset="0"/>
                <a:cs typeface="Calibri" panose="020F0502020204030204" pitchFamily="34" charset="0"/>
              </a:rPr>
              <a:t>→</a:t>
            </a:r>
            <a:r>
              <a:rPr kumimoji="1" lang="en-US" sz="2200" dirty="0">
                <a:latin typeface="Calibri" panose="020F0502020204030204" pitchFamily="34" charset="0"/>
                <a:cs typeface="Calibri" panose="020F0502020204030204" pitchFamily="34" charset="0"/>
              </a:rPr>
              <a:t>  if True, keep spinning in loop</a:t>
            </a:r>
            <a:endParaRPr kumimoji="1" lang="en-US" sz="2200" b="1" dirty="0">
              <a:solidFill>
                <a:srgbClr val="A50021"/>
              </a:solidFill>
              <a:latin typeface="Calibri" panose="020F0502020204030204" pitchFamily="34" charset="0"/>
              <a:cs typeface="Calibri" panose="020F0502020204030204" pitchFamily="34" charset="0"/>
              <a:sym typeface="Symbol" pitchFamily="18" charset="2"/>
            </a:endParaRPr>
          </a:p>
        </p:txBody>
      </p:sp>
      <p:sp>
        <p:nvSpPr>
          <p:cNvPr id="2" name="Slide Number Placeholder 3">
            <a:extLst>
              <a:ext uri="{FF2B5EF4-FFF2-40B4-BE49-F238E27FC236}">
                <a16:creationId xmlns:a16="http://schemas.microsoft.com/office/drawing/2014/main" id="{85F84472-CC36-A74B-CA3E-C06C06DC6FB9}"/>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22</a:t>
            </a:fld>
            <a:endParaRPr lang="en-US" altLang="en-US" sz="1400" dirty="0">
              <a:solidFill>
                <a:schemeClr val="tx1"/>
              </a:solidFill>
              <a:latin typeface="Tahoma" panose="020B0604030504040204" pitchFamily="34" charset="0"/>
              <a:ea typeface="MS PGothic" panose="020B0600070205080204" pitchFamily="34" charset="-128"/>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p:cNvSpPr>
            <a:spLocks noGrp="1" noChangeArrowheads="1"/>
          </p:cNvSpPr>
          <p:nvPr>
            <p:ph type="title"/>
          </p:nvPr>
        </p:nvSpPr>
        <p:spPr>
          <a:xfrm>
            <a:off x="985520" y="76200"/>
            <a:ext cx="8082280" cy="655320"/>
          </a:xfrm>
        </p:spPr>
        <p:txBody>
          <a:bodyPr>
            <a:noAutofit/>
          </a:bodyPr>
          <a:lstStyle/>
          <a:p>
            <a:r>
              <a:rPr lang="en-US" dirty="0"/>
              <a:t>Peterson’s Algorithm</a:t>
            </a:r>
          </a:p>
        </p:txBody>
      </p:sp>
      <p:sp>
        <p:nvSpPr>
          <p:cNvPr id="6" name="Rectangle 3"/>
          <p:cNvSpPr>
            <a:spLocks noChangeArrowheads="1"/>
          </p:cNvSpPr>
          <p:nvPr/>
        </p:nvSpPr>
        <p:spPr bwMode="auto">
          <a:xfrm>
            <a:off x="345440" y="1097280"/>
            <a:ext cx="8707120" cy="5379720"/>
          </a:xfrm>
          <a:prstGeom prst="rect">
            <a:avLst/>
          </a:prstGeom>
          <a:noFill/>
          <a:ln w="9525">
            <a:noFill/>
            <a:miter lim="800000"/>
            <a:headEnd/>
            <a:tailEnd/>
          </a:ln>
          <a:effectLst/>
        </p:spPr>
        <p:txBody>
          <a:bodyPr/>
          <a:lstStyle/>
          <a:p>
            <a:pPr marL="342900" indent="-342900">
              <a:lnSpc>
                <a:spcPct val="110000"/>
              </a:lnSpc>
              <a:spcBef>
                <a:spcPts val="1200"/>
              </a:spcBef>
              <a:buFont typeface="Wingdings" panose="05000000000000000000" pitchFamily="2" charset="2"/>
              <a:buChar char="§"/>
              <a:tabLst>
                <a:tab pos="2403475" algn="l"/>
                <a:tab pos="2684463" algn="l"/>
                <a:tab pos="2974975" algn="l"/>
              </a:tabLst>
            </a:pPr>
            <a:r>
              <a:rPr kumimoji="1" lang="en-US" sz="2400" dirty="0">
                <a:latin typeface="Calibri" panose="020F0502020204030204" pitchFamily="34" charset="0"/>
                <a:cs typeface="Calibri" panose="020F0502020204030204" pitchFamily="34" charset="0"/>
              </a:rPr>
              <a:t>Combines shared variables of previous two algorithms</a:t>
            </a:r>
          </a:p>
          <a:p>
            <a:pPr marL="741363" lvl="1" indent="-284163">
              <a:lnSpc>
                <a:spcPct val="110000"/>
              </a:lnSpc>
              <a:spcBef>
                <a:spcPts val="600"/>
              </a:spcBef>
              <a:buFont typeface="Arial" panose="020B0604020202020204" pitchFamily="34" charset="0"/>
              <a:buChar char="•"/>
              <a:tabLst>
                <a:tab pos="2403475" algn="l"/>
                <a:tab pos="2684463" algn="l"/>
                <a:tab pos="2974975" algn="l"/>
              </a:tabLst>
            </a:pPr>
            <a:r>
              <a:rPr kumimoji="1" lang="en-US" sz="2200" dirty="0">
                <a:latin typeface="Calibri" panose="020F0502020204030204" pitchFamily="34" charset="0"/>
                <a:cs typeface="Calibri" panose="020F0502020204030204" pitchFamily="34" charset="0"/>
              </a:rPr>
              <a:t>keeps two Boolean </a:t>
            </a:r>
            <a:r>
              <a:rPr kumimoji="1" lang="en-US" sz="2200" b="1" dirty="0">
                <a:solidFill>
                  <a:srgbClr val="C00000"/>
                </a:solidFill>
                <a:latin typeface="Calibri" panose="020F0502020204030204" pitchFamily="34" charset="0"/>
                <a:cs typeface="Calibri" panose="020F0502020204030204" pitchFamily="34" charset="0"/>
              </a:rPr>
              <a:t>flags</a:t>
            </a:r>
            <a:r>
              <a:rPr kumimoji="1" lang="en-US" sz="2200" dirty="0">
                <a:latin typeface="Calibri" panose="020F0502020204030204" pitchFamily="34" charset="0"/>
                <a:cs typeface="Calibri" panose="020F0502020204030204" pitchFamily="34" charset="0"/>
              </a:rPr>
              <a:t>, one for each process</a:t>
            </a:r>
          </a:p>
          <a:p>
            <a:pPr marL="741363" lvl="1" indent="-284163">
              <a:lnSpc>
                <a:spcPct val="110000"/>
              </a:lnSpc>
              <a:spcBef>
                <a:spcPts val="600"/>
              </a:spcBef>
              <a:buFont typeface="Arial" panose="020B0604020202020204" pitchFamily="34" charset="0"/>
              <a:buChar char="•"/>
              <a:tabLst>
                <a:tab pos="2403475" algn="l"/>
                <a:tab pos="2684463" algn="l"/>
                <a:tab pos="2974975" algn="l"/>
              </a:tabLst>
            </a:pPr>
            <a:r>
              <a:rPr kumimoji="1" lang="en-US" sz="2200" dirty="0">
                <a:latin typeface="Calibri" panose="020F0502020204030204" pitchFamily="34" charset="0"/>
                <a:cs typeface="Calibri" panose="020F0502020204030204" pitchFamily="34" charset="0"/>
              </a:rPr>
              <a:t>has a shared integer variable </a:t>
            </a:r>
            <a:r>
              <a:rPr kumimoji="1" lang="en-US" sz="2200" b="1" dirty="0">
                <a:solidFill>
                  <a:srgbClr val="C00000"/>
                </a:solidFill>
                <a:latin typeface="Calibri" panose="020F0502020204030204" pitchFamily="34" charset="0"/>
                <a:cs typeface="Calibri" panose="020F0502020204030204" pitchFamily="34" charset="0"/>
              </a:rPr>
              <a:t>turn</a:t>
            </a:r>
            <a:endParaRPr kumimoji="1" lang="en-US" sz="2200" dirty="0">
              <a:solidFill>
                <a:srgbClr val="C00000"/>
              </a:solidFill>
              <a:latin typeface="Calibri" panose="020F0502020204030204" pitchFamily="34" charset="0"/>
              <a:cs typeface="Calibri" panose="020F0502020204030204" pitchFamily="34" charset="0"/>
            </a:endParaRPr>
          </a:p>
          <a:p>
            <a:pPr>
              <a:lnSpc>
                <a:spcPct val="110000"/>
              </a:lnSpc>
              <a:spcBef>
                <a:spcPts val="600"/>
              </a:spcBef>
              <a:tabLst>
                <a:tab pos="1371600" algn="l"/>
                <a:tab pos="2684463" algn="l"/>
                <a:tab pos="2974975" algn="l"/>
              </a:tabLst>
            </a:pPr>
            <a:r>
              <a:rPr kumimoji="1" lang="en-US" sz="2400" b="1" dirty="0">
                <a:latin typeface="Calibri" panose="020F0502020204030204" pitchFamily="34" charset="0"/>
                <a:cs typeface="Calibri" panose="020F0502020204030204" pitchFamily="34" charset="0"/>
              </a:rPr>
              <a:t>     	</a:t>
            </a:r>
            <a:r>
              <a:rPr kumimoji="1" lang="en-US" sz="2200" b="1" dirty="0">
                <a:latin typeface="Calibri" panose="020F0502020204030204" pitchFamily="34" charset="0"/>
                <a:cs typeface="Calibri" panose="020F0502020204030204" pitchFamily="34" charset="0"/>
              </a:rPr>
              <a:t>Boolean flag [2];     </a:t>
            </a:r>
            <a:r>
              <a:rPr kumimoji="1" lang="en-US" sz="2200" dirty="0">
                <a:latin typeface="Calibri" panose="020F0502020204030204" pitchFamily="34" charset="0"/>
                <a:cs typeface="Calibri" panose="020F0502020204030204" pitchFamily="34" charset="0"/>
              </a:rPr>
              <a:t>//</a:t>
            </a:r>
            <a:r>
              <a:rPr kumimoji="1" lang="en-US" sz="2200" b="1" dirty="0">
                <a:latin typeface="Calibri" panose="020F0502020204030204" pitchFamily="34" charset="0"/>
                <a:cs typeface="Calibri" panose="020F0502020204030204" pitchFamily="34" charset="0"/>
              </a:rPr>
              <a:t> </a:t>
            </a:r>
            <a:r>
              <a:rPr kumimoji="1" lang="en-US" sz="2200" dirty="0">
                <a:latin typeface="Calibri" panose="020F0502020204030204" pitchFamily="34" charset="0"/>
                <a:cs typeface="Calibri" panose="020F0502020204030204" pitchFamily="34" charset="0"/>
              </a:rPr>
              <a:t>initialized to </a:t>
            </a:r>
            <a:r>
              <a:rPr kumimoji="1" lang="en-US" sz="2200" b="1" dirty="0">
                <a:latin typeface="Calibri" panose="020F0502020204030204" pitchFamily="34" charset="0"/>
                <a:cs typeface="Calibri" panose="020F0502020204030204" pitchFamily="34" charset="0"/>
              </a:rPr>
              <a:t>False</a:t>
            </a:r>
          </a:p>
          <a:p>
            <a:pPr>
              <a:lnSpc>
                <a:spcPct val="110000"/>
              </a:lnSpc>
              <a:spcBef>
                <a:spcPts val="0"/>
              </a:spcBef>
              <a:tabLst>
                <a:tab pos="1371600" algn="l"/>
                <a:tab pos="2684463" algn="l"/>
                <a:tab pos="2974975" algn="l"/>
              </a:tabLst>
            </a:pPr>
            <a:r>
              <a:rPr kumimoji="1" lang="en-US" sz="2200" b="1" dirty="0">
                <a:latin typeface="Calibri" panose="020F0502020204030204" pitchFamily="34" charset="0"/>
                <a:cs typeface="Calibri" panose="020F0502020204030204" pitchFamily="34" charset="0"/>
              </a:rPr>
              <a:t>               	int turn = 0;</a:t>
            </a:r>
          </a:p>
          <a:p>
            <a:pPr marL="342900" indent="-342900">
              <a:spcBef>
                <a:spcPts val="1800"/>
              </a:spcBef>
              <a:buFont typeface="Wingdings" panose="05000000000000000000" pitchFamily="2" charset="2"/>
              <a:buChar char="§"/>
              <a:tabLst>
                <a:tab pos="2403475" algn="l"/>
                <a:tab pos="2684463" algn="l"/>
                <a:tab pos="2974975" algn="l"/>
              </a:tabLst>
            </a:pPr>
            <a:r>
              <a:rPr kumimoji="1" lang="en-US" sz="2400" dirty="0">
                <a:latin typeface="Calibri" panose="020F0502020204030204" pitchFamily="34" charset="0"/>
                <a:cs typeface="Calibri" panose="020F0502020204030204" pitchFamily="34" charset="0"/>
                <a:sym typeface="Symbol" pitchFamily="18" charset="2"/>
              </a:rPr>
              <a:t>Before entering CS, each process… </a:t>
            </a:r>
          </a:p>
          <a:p>
            <a:pPr marL="800100" lvl="1" indent="-342900">
              <a:spcBef>
                <a:spcPts val="600"/>
              </a:spcBef>
              <a:buFont typeface="Arial" panose="020B0604020202020204" pitchFamily="34" charset="0"/>
              <a:buChar char="•"/>
              <a:tabLst>
                <a:tab pos="2403475" algn="l"/>
                <a:tab pos="2684463" algn="l"/>
                <a:tab pos="2974975" algn="l"/>
              </a:tabLst>
            </a:pPr>
            <a:r>
              <a:rPr kumimoji="1" lang="en-US" sz="2200" dirty="0">
                <a:latin typeface="Calibri" panose="020F0502020204030204" pitchFamily="34" charset="0"/>
                <a:cs typeface="Calibri" panose="020F0502020204030204" pitchFamily="34" charset="0"/>
                <a:sym typeface="Symbol" pitchFamily="18" charset="2"/>
              </a:rPr>
              <a:t>sets its own </a:t>
            </a:r>
            <a:r>
              <a:rPr kumimoji="1" lang="en-US" sz="2200" b="1" dirty="0">
                <a:solidFill>
                  <a:srgbClr val="C00000"/>
                </a:solidFill>
                <a:latin typeface="Calibri" panose="020F0502020204030204" pitchFamily="34" charset="0"/>
                <a:cs typeface="Calibri" panose="020F0502020204030204" pitchFamily="34" charset="0"/>
                <a:sym typeface="Symbol" pitchFamily="18" charset="2"/>
              </a:rPr>
              <a:t>flag</a:t>
            </a:r>
            <a:r>
              <a:rPr kumimoji="1" lang="en-US" sz="2200" dirty="0">
                <a:latin typeface="Calibri" panose="020F0502020204030204" pitchFamily="34" charset="0"/>
                <a:cs typeface="Calibri" panose="020F0502020204030204" pitchFamily="34" charset="0"/>
                <a:sym typeface="Symbol" pitchFamily="18" charset="2"/>
              </a:rPr>
              <a:t> TRUE </a:t>
            </a:r>
          </a:p>
          <a:p>
            <a:pPr marL="800100" lvl="1" indent="-342900">
              <a:spcBef>
                <a:spcPts val="0"/>
              </a:spcBef>
              <a:buFont typeface="Arial" panose="020B0604020202020204" pitchFamily="34" charset="0"/>
              <a:buChar char="•"/>
              <a:tabLst>
                <a:tab pos="2403475" algn="l"/>
                <a:tab pos="2684463" algn="l"/>
                <a:tab pos="2974975" algn="l"/>
              </a:tabLst>
            </a:pPr>
            <a:r>
              <a:rPr kumimoji="1" lang="en-US" sz="2200" dirty="0">
                <a:latin typeface="Calibri" panose="020F0502020204030204" pitchFamily="34" charset="0"/>
                <a:cs typeface="Calibri" panose="020F0502020204030204" pitchFamily="34" charset="0"/>
                <a:sym typeface="Symbol" pitchFamily="18" charset="2"/>
              </a:rPr>
              <a:t>makes </a:t>
            </a:r>
            <a:r>
              <a:rPr kumimoji="1" lang="en-US" sz="2200" b="1" dirty="0">
                <a:solidFill>
                  <a:srgbClr val="C00000"/>
                </a:solidFill>
                <a:latin typeface="Calibri" panose="020F0502020204030204" pitchFamily="34" charset="0"/>
                <a:cs typeface="Calibri" panose="020F0502020204030204" pitchFamily="34" charset="0"/>
                <a:sym typeface="Symbol" pitchFamily="18" charset="2"/>
              </a:rPr>
              <a:t>turn</a:t>
            </a:r>
            <a:r>
              <a:rPr kumimoji="1" lang="en-US" sz="2200" dirty="0">
                <a:latin typeface="Calibri" panose="020F0502020204030204" pitchFamily="34" charset="0"/>
                <a:cs typeface="Calibri" panose="020F0502020204030204" pitchFamily="34" charset="0"/>
                <a:sym typeface="Symbol" pitchFamily="18" charset="2"/>
              </a:rPr>
              <a:t> equal to other’s process ID</a:t>
            </a:r>
          </a:p>
          <a:p>
            <a:pPr>
              <a:spcBef>
                <a:spcPts val="0"/>
              </a:spcBef>
              <a:tabLst>
                <a:tab pos="2403475" algn="l"/>
                <a:tab pos="2684463" algn="l"/>
                <a:tab pos="2974975" algn="l"/>
              </a:tabLst>
            </a:pPr>
            <a:r>
              <a:rPr kumimoji="1" lang="en-US" sz="2400" dirty="0">
                <a:latin typeface="Calibri" panose="020F0502020204030204" pitchFamily="34" charset="0"/>
                <a:cs typeface="Calibri" panose="020F0502020204030204" pitchFamily="34" charset="0"/>
                <a:sym typeface="Symbol" pitchFamily="18" charset="2"/>
              </a:rPr>
              <a:t>                </a:t>
            </a:r>
            <a:r>
              <a:rPr kumimoji="1" lang="en-US" sz="2100" i="1" dirty="0">
                <a:latin typeface="Times New Roman" panose="02020603050405020304" pitchFamily="18" charset="0"/>
                <a:cs typeface="Times New Roman" panose="02020603050405020304" pitchFamily="18" charset="0"/>
                <a:sym typeface="Symbol" pitchFamily="18" charset="2"/>
              </a:rPr>
              <a:t>(I’m interested to enter my CS, but if you want, go first)</a:t>
            </a:r>
          </a:p>
          <a:p>
            <a:pPr marL="342900" indent="-342900">
              <a:lnSpc>
                <a:spcPct val="110000"/>
              </a:lnSpc>
              <a:spcBef>
                <a:spcPts val="1200"/>
              </a:spcBef>
              <a:buFont typeface="Wingdings" panose="05000000000000000000" pitchFamily="2" charset="2"/>
              <a:buChar char="§"/>
              <a:tabLst>
                <a:tab pos="2403475" algn="l"/>
                <a:tab pos="2684463" algn="l"/>
                <a:tab pos="2974975" algn="l"/>
              </a:tabLst>
            </a:pPr>
            <a:r>
              <a:rPr kumimoji="1" lang="en-US" sz="2400" dirty="0">
                <a:latin typeface="Calibri" panose="020F0502020204030204" pitchFamily="34" charset="0"/>
                <a:cs typeface="Calibri" panose="020F0502020204030204" pitchFamily="34" charset="0"/>
                <a:sym typeface="Symbol" pitchFamily="18" charset="2"/>
              </a:rPr>
              <a:t>Process then enters its while() loop, &amp; checks… </a:t>
            </a:r>
          </a:p>
          <a:p>
            <a:pPr marL="741363" lvl="1" indent="-284163">
              <a:spcBef>
                <a:spcPts val="0"/>
              </a:spcBef>
              <a:buFont typeface="Arial" panose="020B0604020202020204" pitchFamily="34" charset="0"/>
              <a:buChar char="•"/>
              <a:tabLst>
                <a:tab pos="2403475" algn="l"/>
                <a:tab pos="2684463" algn="l"/>
                <a:tab pos="2974975" algn="l"/>
              </a:tabLst>
            </a:pPr>
            <a:r>
              <a:rPr kumimoji="1" lang="en-US" sz="2200" dirty="0">
                <a:latin typeface="Calibri" panose="020F0502020204030204" pitchFamily="34" charset="0"/>
                <a:cs typeface="Calibri" panose="020F0502020204030204" pitchFamily="34" charset="0"/>
                <a:sym typeface="Symbol" pitchFamily="18" charset="2"/>
              </a:rPr>
              <a:t>does other process want to enter its CS, </a:t>
            </a:r>
            <a:r>
              <a:rPr kumimoji="1" lang="en-US" sz="2200" b="1" dirty="0">
                <a:latin typeface="Calibri" panose="020F0502020204030204" pitchFamily="34" charset="0"/>
                <a:cs typeface="Calibri" panose="020F0502020204030204" pitchFamily="34" charset="0"/>
                <a:sym typeface="Symbol" pitchFamily="18" charset="2"/>
              </a:rPr>
              <a:t>&amp;</a:t>
            </a:r>
            <a:r>
              <a:rPr kumimoji="1" lang="en-US" sz="2200" dirty="0">
                <a:latin typeface="Calibri" panose="020F0502020204030204" pitchFamily="34" charset="0"/>
                <a:cs typeface="Calibri" panose="020F0502020204030204" pitchFamily="34" charset="0"/>
                <a:sym typeface="Symbol" pitchFamily="18" charset="2"/>
              </a:rPr>
              <a:t> is it their turn </a:t>
            </a:r>
          </a:p>
          <a:p>
            <a:pPr marL="741363" lvl="1" indent="-284163">
              <a:spcBef>
                <a:spcPts val="0"/>
              </a:spcBef>
              <a:buFont typeface="Arial" panose="020B0604020202020204" pitchFamily="34" charset="0"/>
              <a:buChar char="•"/>
              <a:tabLst>
                <a:tab pos="2403475" algn="l"/>
                <a:tab pos="2684463" algn="l"/>
                <a:tab pos="2974975" algn="l"/>
              </a:tabLst>
            </a:pPr>
            <a:r>
              <a:rPr kumimoji="1" lang="en-US" sz="2200" dirty="0">
                <a:latin typeface="Calibri" panose="020F0502020204030204" pitchFamily="34" charset="0"/>
                <a:cs typeface="Calibri" panose="020F0502020204030204" pitchFamily="34" charset="0"/>
                <a:sym typeface="Symbol" pitchFamily="18" charset="2"/>
              </a:rPr>
              <a:t>if yes, spin</a:t>
            </a:r>
          </a:p>
        </p:txBody>
      </p:sp>
      <p:sp>
        <p:nvSpPr>
          <p:cNvPr id="2" name="Slide Number Placeholder 3">
            <a:extLst>
              <a:ext uri="{FF2B5EF4-FFF2-40B4-BE49-F238E27FC236}">
                <a16:creationId xmlns:a16="http://schemas.microsoft.com/office/drawing/2014/main" id="{18554C1F-7A27-07E3-1A27-A5EA38B22D79}"/>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23</a:t>
            </a:fld>
            <a:endParaRPr lang="en-US" altLang="en-US" sz="1400" dirty="0">
              <a:solidFill>
                <a:schemeClr val="tx1"/>
              </a:solidFill>
              <a:latin typeface="Tahoma" panose="020B0604030504040204" pitchFamily="34" charset="0"/>
              <a:ea typeface="MS PGothic" panose="020B0600070205080204" pitchFamily="34" charset="-128"/>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ChangeArrowheads="1"/>
          </p:cNvSpPr>
          <p:nvPr/>
        </p:nvSpPr>
        <p:spPr bwMode="auto">
          <a:xfrm>
            <a:off x="513081" y="1367882"/>
            <a:ext cx="3815080" cy="4504598"/>
          </a:xfrm>
          <a:prstGeom prst="rect">
            <a:avLst/>
          </a:prstGeom>
          <a:solidFill>
            <a:schemeClr val="bg1">
              <a:lumMod val="95000"/>
            </a:schemeClr>
          </a:solidFill>
          <a:ln w="9525">
            <a:noFill/>
            <a:miter lim="800000"/>
            <a:headEnd/>
            <a:tailEnd/>
          </a:ln>
          <a:effectLst/>
        </p:spPr>
        <p:txBody>
          <a:bodyPr/>
          <a:lstStyle/>
          <a:p>
            <a:pPr marL="342900" indent="-342900" algn="ctr">
              <a:spcBef>
                <a:spcPct val="20000"/>
              </a:spcBef>
              <a:buClr>
                <a:schemeClr val="bg2"/>
              </a:buClr>
              <a:tabLst>
                <a:tab pos="2403475" algn="l"/>
                <a:tab pos="2684463" algn="l"/>
                <a:tab pos="2974975" algn="l"/>
              </a:tabLst>
            </a:pPr>
            <a:r>
              <a:rPr kumimoji="1" lang="en-US" sz="2000" b="1" dirty="0">
                <a:solidFill>
                  <a:srgbClr val="0000CC"/>
                </a:solidFill>
                <a:latin typeface="Courier New" panose="02070309020205020404" pitchFamily="49" charset="0"/>
                <a:cs typeface="Courier New" panose="02070309020205020404" pitchFamily="49" charset="0"/>
              </a:rPr>
              <a:t>Process </a:t>
            </a:r>
            <a:r>
              <a:rPr kumimoji="1" lang="en-US" sz="2000" b="1" i="1" dirty="0">
                <a:solidFill>
                  <a:srgbClr val="0000CC"/>
                </a:solidFill>
                <a:latin typeface="Courier New" panose="02070309020205020404" pitchFamily="49" charset="0"/>
                <a:cs typeface="Courier New" panose="02070309020205020404" pitchFamily="49" charset="0"/>
              </a:rPr>
              <a:t>P</a:t>
            </a:r>
            <a:r>
              <a:rPr kumimoji="1" lang="en-US" sz="2000" b="1" i="1" baseline="-25000" dirty="0">
                <a:solidFill>
                  <a:srgbClr val="0000CC"/>
                </a:solidFill>
                <a:latin typeface="Courier New" panose="02070309020205020404" pitchFamily="49" charset="0"/>
                <a:cs typeface="Courier New" panose="02070309020205020404" pitchFamily="49" charset="0"/>
              </a:rPr>
              <a:t>0</a:t>
            </a:r>
            <a:endParaRPr kumimoji="1" lang="en-US" sz="2000" b="1" dirty="0">
              <a:latin typeface="Courier New" panose="02070309020205020404" pitchFamily="49" charset="0"/>
              <a:cs typeface="Courier New" panose="02070309020205020404" pitchFamily="49" charset="0"/>
            </a:endParaRPr>
          </a:p>
          <a:p>
            <a:pPr marL="342900" indent="-342900">
              <a:spcBef>
                <a:spcPct val="20000"/>
              </a:spcBef>
              <a:buClr>
                <a:schemeClr val="bg2"/>
              </a:buClr>
              <a:buFont typeface="Monotype Sorts" pitchFamily="2" charset="2"/>
              <a:buNone/>
              <a:tabLst>
                <a:tab pos="2403475" algn="l"/>
                <a:tab pos="2684463" algn="l"/>
                <a:tab pos="2974975" algn="l"/>
              </a:tabLst>
            </a:pPr>
            <a:r>
              <a:rPr kumimoji="1" lang="en-US" sz="2000" b="1" dirty="0">
                <a:latin typeface="Courier New" panose="02070309020205020404" pitchFamily="49" charset="0"/>
                <a:cs typeface="Courier New" panose="02070309020205020404" pitchFamily="49" charset="0"/>
              </a:rPr>
              <a:t>do {</a:t>
            </a:r>
          </a:p>
          <a:p>
            <a:pPr marL="342900" indent="-342900">
              <a:spcBef>
                <a:spcPct val="20000"/>
              </a:spcBef>
              <a:buClr>
                <a:schemeClr val="bg2"/>
              </a:buClr>
              <a:buFont typeface="Monotype Sorts" pitchFamily="2" charset="2"/>
              <a:buNone/>
              <a:tabLst>
                <a:tab pos="2403475" algn="l"/>
                <a:tab pos="2684463" algn="l"/>
                <a:tab pos="2974975" algn="l"/>
              </a:tabLst>
            </a:pPr>
            <a:r>
              <a:rPr kumimoji="1" lang="en-US" sz="2000" b="1" dirty="0">
                <a:latin typeface="Courier New" panose="02070309020205020404" pitchFamily="49" charset="0"/>
                <a:cs typeface="Courier New" panose="02070309020205020404" pitchFamily="49" charset="0"/>
              </a:rPr>
              <a:t>	  flag[0] = true;</a:t>
            </a:r>
          </a:p>
          <a:p>
            <a:pPr marL="342900" indent="-342900">
              <a:spcBef>
                <a:spcPct val="20000"/>
              </a:spcBef>
              <a:buClr>
                <a:schemeClr val="bg2"/>
              </a:buClr>
              <a:buFont typeface="Monotype Sorts" pitchFamily="2" charset="2"/>
              <a:buNone/>
              <a:tabLst>
                <a:tab pos="2403475" algn="l"/>
                <a:tab pos="2684463" algn="l"/>
                <a:tab pos="2974975" algn="l"/>
              </a:tabLst>
            </a:pPr>
            <a:r>
              <a:rPr kumimoji="1" lang="en-US" sz="2000" b="1" dirty="0">
                <a:latin typeface="Courier New" panose="02070309020205020404" pitchFamily="49" charset="0"/>
                <a:cs typeface="Courier New" panose="02070309020205020404" pitchFamily="49" charset="0"/>
              </a:rPr>
              <a:t>    turn = 1;</a:t>
            </a:r>
          </a:p>
          <a:p>
            <a:pPr marL="342900" indent="-342900">
              <a:spcBef>
                <a:spcPct val="20000"/>
              </a:spcBef>
              <a:buClr>
                <a:schemeClr val="bg2"/>
              </a:buClr>
              <a:buFont typeface="Monotype Sorts" pitchFamily="2" charset="2"/>
              <a:buNone/>
              <a:tabLst>
                <a:tab pos="2403475" algn="l"/>
                <a:tab pos="2684463" algn="l"/>
                <a:tab pos="2974975" algn="l"/>
              </a:tabLst>
            </a:pPr>
            <a:br>
              <a:rPr kumimoji="1" lang="en-US" sz="2000" b="1" dirty="0">
                <a:latin typeface="Courier New" panose="02070309020205020404" pitchFamily="49" charset="0"/>
                <a:cs typeface="Courier New" panose="02070309020205020404" pitchFamily="49" charset="0"/>
              </a:rPr>
            </a:br>
            <a:r>
              <a:rPr kumimoji="1" lang="en-US" sz="2000" b="1" dirty="0">
                <a:latin typeface="Courier New" panose="02070309020205020404" pitchFamily="49" charset="0"/>
                <a:cs typeface="Courier New" panose="02070309020205020404" pitchFamily="49" charset="0"/>
              </a:rPr>
              <a:t>  while (flag[1] &amp;&amp;</a:t>
            </a:r>
            <a:br>
              <a:rPr kumimoji="1" lang="en-US" sz="2000" b="1" dirty="0">
                <a:latin typeface="Courier New" panose="02070309020205020404" pitchFamily="49" charset="0"/>
                <a:cs typeface="Courier New" panose="02070309020205020404" pitchFamily="49" charset="0"/>
              </a:rPr>
            </a:br>
            <a:r>
              <a:rPr kumimoji="1" lang="en-US" sz="2000" b="1" dirty="0">
                <a:latin typeface="Courier New" panose="02070309020205020404" pitchFamily="49" charset="0"/>
                <a:cs typeface="Courier New" panose="02070309020205020404" pitchFamily="49" charset="0"/>
              </a:rPr>
              <a:t>  turn == 1); </a:t>
            </a:r>
            <a:r>
              <a:rPr kumimoji="1" lang="en-US" sz="2000" b="1" dirty="0">
                <a:solidFill>
                  <a:srgbClr val="0000CC"/>
                </a:solidFill>
                <a:latin typeface="Courier New" panose="02070309020205020404" pitchFamily="49" charset="0"/>
                <a:cs typeface="Courier New" panose="02070309020205020404" pitchFamily="49" charset="0"/>
              </a:rPr>
              <a:t>//spin</a:t>
            </a:r>
          </a:p>
          <a:p>
            <a:pPr marL="342900" indent="-342900">
              <a:spcBef>
                <a:spcPts val="1200"/>
              </a:spcBef>
              <a:buClr>
                <a:schemeClr val="bg2"/>
              </a:buClr>
              <a:buFont typeface="Monotype Sorts" pitchFamily="2" charset="2"/>
              <a:buNone/>
              <a:tabLst>
                <a:tab pos="2403475" algn="l"/>
                <a:tab pos="2684463" algn="l"/>
                <a:tab pos="2974975" algn="l"/>
              </a:tabLst>
            </a:pPr>
            <a:r>
              <a:rPr kumimoji="1" lang="en-US" sz="2000" b="1" dirty="0">
                <a:latin typeface="Courier New" panose="02070309020205020404" pitchFamily="49" charset="0"/>
                <a:cs typeface="Courier New" panose="02070309020205020404" pitchFamily="49" charset="0"/>
              </a:rPr>
              <a:t>       </a:t>
            </a:r>
            <a:r>
              <a:rPr kumimoji="1" lang="en-US" sz="2000" b="1" dirty="0">
                <a:solidFill>
                  <a:srgbClr val="CC0000"/>
                </a:solidFill>
                <a:latin typeface="Courier New" panose="02070309020205020404" pitchFamily="49" charset="0"/>
                <a:cs typeface="Courier New" panose="02070309020205020404" pitchFamily="49" charset="0"/>
              </a:rPr>
              <a:t>&lt;CS&gt;</a:t>
            </a:r>
          </a:p>
          <a:p>
            <a:pPr marL="342900" indent="-342900">
              <a:spcBef>
                <a:spcPts val="1200"/>
              </a:spcBef>
              <a:buClr>
                <a:schemeClr val="bg2"/>
              </a:buClr>
              <a:buFont typeface="Monotype Sorts" pitchFamily="2" charset="2"/>
              <a:buNone/>
              <a:tabLst>
                <a:tab pos="2403475" algn="l"/>
                <a:tab pos="2684463" algn="l"/>
                <a:tab pos="2974975" algn="l"/>
              </a:tabLst>
            </a:pPr>
            <a:r>
              <a:rPr kumimoji="1" lang="en-US" sz="2000" b="1" dirty="0">
                <a:latin typeface="Courier New" panose="02070309020205020404" pitchFamily="49" charset="0"/>
                <a:cs typeface="Courier New" panose="02070309020205020404" pitchFamily="49" charset="0"/>
              </a:rPr>
              <a:t>	  flag [0] = false;</a:t>
            </a:r>
          </a:p>
          <a:p>
            <a:pPr marL="342900" indent="-342900">
              <a:spcBef>
                <a:spcPts val="1200"/>
              </a:spcBef>
              <a:buClr>
                <a:schemeClr val="bg2"/>
              </a:buClr>
              <a:buFont typeface="Monotype Sorts" pitchFamily="2" charset="2"/>
              <a:buNone/>
              <a:tabLst>
                <a:tab pos="2403475" algn="l"/>
                <a:tab pos="2684463" algn="l"/>
                <a:tab pos="2974975" algn="l"/>
              </a:tabLst>
            </a:pPr>
            <a:r>
              <a:rPr kumimoji="1" lang="en-US" sz="2000" dirty="0">
                <a:latin typeface="Courier New" panose="02070309020205020404" pitchFamily="49" charset="0"/>
                <a:cs typeface="Courier New" panose="02070309020205020404" pitchFamily="49" charset="0"/>
              </a:rPr>
              <a:t>	     </a:t>
            </a:r>
            <a:r>
              <a:rPr kumimoji="1" lang="en-US" sz="2000" dirty="0">
                <a:solidFill>
                  <a:srgbClr val="0000CC"/>
                </a:solidFill>
                <a:latin typeface="Courier New" panose="02070309020205020404" pitchFamily="49" charset="0"/>
                <a:cs typeface="Courier New" panose="02070309020205020404" pitchFamily="49" charset="0"/>
              </a:rPr>
              <a:t>&lt;RS&gt;</a:t>
            </a:r>
          </a:p>
          <a:p>
            <a:pPr marL="342900" indent="-342900">
              <a:spcBef>
                <a:spcPts val="1200"/>
              </a:spcBef>
              <a:buClr>
                <a:schemeClr val="bg2"/>
              </a:buClr>
              <a:buFont typeface="Monotype Sorts" pitchFamily="2" charset="2"/>
              <a:buNone/>
              <a:tabLst>
                <a:tab pos="2403475" algn="l"/>
                <a:tab pos="2684463" algn="l"/>
                <a:tab pos="2974975" algn="l"/>
              </a:tabLst>
            </a:pPr>
            <a:r>
              <a:rPr kumimoji="1" lang="en-US" sz="2000" b="1" dirty="0">
                <a:latin typeface="Courier New" panose="02070309020205020404" pitchFamily="49" charset="0"/>
                <a:cs typeface="Courier New" panose="02070309020205020404" pitchFamily="49" charset="0"/>
              </a:rPr>
              <a:t>} while (1);</a:t>
            </a:r>
          </a:p>
        </p:txBody>
      </p:sp>
      <p:sp>
        <p:nvSpPr>
          <p:cNvPr id="8" name="Rectangle 4"/>
          <p:cNvSpPr>
            <a:spLocks noChangeArrowheads="1"/>
          </p:cNvSpPr>
          <p:nvPr/>
        </p:nvSpPr>
        <p:spPr bwMode="auto">
          <a:xfrm>
            <a:off x="4836160" y="1367882"/>
            <a:ext cx="4034245" cy="4504598"/>
          </a:xfrm>
          <a:prstGeom prst="rect">
            <a:avLst/>
          </a:prstGeom>
          <a:solidFill>
            <a:schemeClr val="bg1">
              <a:lumMod val="95000"/>
            </a:schemeClr>
          </a:solidFill>
          <a:ln w="9525">
            <a:noFill/>
            <a:miter lim="800000"/>
            <a:headEnd/>
            <a:tailEnd/>
          </a:ln>
          <a:effectLst/>
        </p:spPr>
        <p:txBody>
          <a:bodyPr/>
          <a:lstStyle/>
          <a:p>
            <a:pPr marL="342900" indent="-342900" algn="ctr">
              <a:spcBef>
                <a:spcPct val="20000"/>
              </a:spcBef>
              <a:buClr>
                <a:schemeClr val="bg2"/>
              </a:buClr>
              <a:tabLst>
                <a:tab pos="2403475" algn="l"/>
                <a:tab pos="2684463" algn="l"/>
                <a:tab pos="2974975" algn="l"/>
              </a:tabLst>
            </a:pPr>
            <a:r>
              <a:rPr kumimoji="1" lang="en-US" sz="2000" b="1" dirty="0">
                <a:solidFill>
                  <a:srgbClr val="0000CC"/>
                </a:solidFill>
                <a:latin typeface="Courier New" panose="02070309020205020404" pitchFamily="49" charset="0"/>
                <a:cs typeface="Courier New" panose="02070309020205020404" pitchFamily="49" charset="0"/>
              </a:rPr>
              <a:t>Process </a:t>
            </a:r>
            <a:r>
              <a:rPr kumimoji="1" lang="en-US" sz="2000" b="1" i="1" dirty="0">
                <a:solidFill>
                  <a:srgbClr val="0000CC"/>
                </a:solidFill>
                <a:latin typeface="Courier New" panose="02070309020205020404" pitchFamily="49" charset="0"/>
                <a:cs typeface="Courier New" panose="02070309020205020404" pitchFamily="49" charset="0"/>
              </a:rPr>
              <a:t>P</a:t>
            </a:r>
            <a:r>
              <a:rPr kumimoji="1" lang="en-US" sz="2000" b="1" i="1" baseline="-25000" dirty="0">
                <a:solidFill>
                  <a:srgbClr val="0000CC"/>
                </a:solidFill>
                <a:latin typeface="Courier New" panose="02070309020205020404" pitchFamily="49" charset="0"/>
                <a:cs typeface="Courier New" panose="02070309020205020404" pitchFamily="49" charset="0"/>
              </a:rPr>
              <a:t>1</a:t>
            </a:r>
            <a:endParaRPr kumimoji="1" lang="en-US" sz="2000" b="1" dirty="0">
              <a:latin typeface="Courier New" panose="02070309020205020404" pitchFamily="49" charset="0"/>
              <a:cs typeface="Courier New" panose="02070309020205020404" pitchFamily="49" charset="0"/>
            </a:endParaRPr>
          </a:p>
          <a:p>
            <a:pPr marL="342900" indent="-342900">
              <a:spcBef>
                <a:spcPct val="20000"/>
              </a:spcBef>
              <a:buClr>
                <a:schemeClr val="bg2"/>
              </a:buClr>
              <a:buFont typeface="Monotype Sorts" pitchFamily="2" charset="2"/>
              <a:buNone/>
              <a:tabLst>
                <a:tab pos="2403475" algn="l"/>
                <a:tab pos="2684463" algn="l"/>
                <a:tab pos="2974975" algn="l"/>
              </a:tabLst>
            </a:pPr>
            <a:r>
              <a:rPr kumimoji="1" lang="en-US" sz="2000" b="1" dirty="0">
                <a:latin typeface="Courier New" panose="02070309020205020404" pitchFamily="49" charset="0"/>
                <a:cs typeface="Courier New" panose="02070309020205020404" pitchFamily="49" charset="0"/>
              </a:rPr>
              <a:t>do {</a:t>
            </a:r>
          </a:p>
          <a:p>
            <a:pPr marL="342900" indent="-342900">
              <a:spcBef>
                <a:spcPct val="20000"/>
              </a:spcBef>
              <a:buClr>
                <a:schemeClr val="bg2"/>
              </a:buClr>
              <a:buFont typeface="Monotype Sorts" pitchFamily="2" charset="2"/>
              <a:buNone/>
              <a:tabLst>
                <a:tab pos="2403475" algn="l"/>
                <a:tab pos="2684463" algn="l"/>
                <a:tab pos="2974975" algn="l"/>
              </a:tabLst>
            </a:pPr>
            <a:r>
              <a:rPr kumimoji="1" lang="en-US" sz="2000" b="1" dirty="0">
                <a:latin typeface="Courier New" panose="02070309020205020404" pitchFamily="49" charset="0"/>
                <a:cs typeface="Courier New" panose="02070309020205020404" pitchFamily="49" charset="0"/>
              </a:rPr>
              <a:t>	  flag[1] = true;</a:t>
            </a:r>
          </a:p>
          <a:p>
            <a:pPr marL="342900" indent="-342900">
              <a:spcBef>
                <a:spcPct val="20000"/>
              </a:spcBef>
              <a:buClr>
                <a:schemeClr val="bg2"/>
              </a:buClr>
              <a:buFont typeface="Monotype Sorts" pitchFamily="2" charset="2"/>
              <a:buNone/>
              <a:tabLst>
                <a:tab pos="2403475" algn="l"/>
                <a:tab pos="2684463" algn="l"/>
                <a:tab pos="2974975" algn="l"/>
              </a:tabLst>
            </a:pPr>
            <a:r>
              <a:rPr kumimoji="1" lang="en-US" sz="2000" b="1" dirty="0">
                <a:latin typeface="Courier New" panose="02070309020205020404" pitchFamily="49" charset="0"/>
                <a:cs typeface="Courier New" panose="02070309020205020404" pitchFamily="49" charset="0"/>
              </a:rPr>
              <a:t>    turn = 0;</a:t>
            </a:r>
          </a:p>
          <a:p>
            <a:pPr marL="342900" indent="-342900">
              <a:spcBef>
                <a:spcPct val="20000"/>
              </a:spcBef>
              <a:buClr>
                <a:schemeClr val="bg2"/>
              </a:buClr>
              <a:buFont typeface="Monotype Sorts" pitchFamily="2" charset="2"/>
              <a:buNone/>
              <a:tabLst>
                <a:tab pos="2403475" algn="l"/>
                <a:tab pos="2684463" algn="l"/>
                <a:tab pos="2974975" algn="l"/>
              </a:tabLst>
            </a:pPr>
            <a:br>
              <a:rPr kumimoji="1" lang="en-US" sz="2000" b="1" dirty="0">
                <a:latin typeface="Courier New" panose="02070309020205020404" pitchFamily="49" charset="0"/>
                <a:cs typeface="Courier New" panose="02070309020205020404" pitchFamily="49" charset="0"/>
              </a:rPr>
            </a:br>
            <a:r>
              <a:rPr kumimoji="1" lang="en-US" sz="2000" b="1" dirty="0">
                <a:latin typeface="Courier New" panose="02070309020205020404" pitchFamily="49" charset="0"/>
                <a:cs typeface="Courier New" panose="02070309020205020404" pitchFamily="49" charset="0"/>
              </a:rPr>
              <a:t>  while (flag[0] &amp;&amp; </a:t>
            </a:r>
            <a:br>
              <a:rPr kumimoji="1" lang="en-US" sz="2000" b="1" dirty="0">
                <a:latin typeface="Courier New" panose="02070309020205020404" pitchFamily="49" charset="0"/>
                <a:cs typeface="Courier New" panose="02070309020205020404" pitchFamily="49" charset="0"/>
              </a:rPr>
            </a:br>
            <a:r>
              <a:rPr kumimoji="1" lang="en-US" sz="2000" b="1" dirty="0">
                <a:latin typeface="Courier New" panose="02070309020205020404" pitchFamily="49" charset="0"/>
                <a:cs typeface="Courier New" panose="02070309020205020404" pitchFamily="49" charset="0"/>
              </a:rPr>
              <a:t>  turn == 0); </a:t>
            </a:r>
            <a:r>
              <a:rPr kumimoji="1" lang="en-US" sz="2000" b="1" dirty="0">
                <a:solidFill>
                  <a:srgbClr val="0000CC"/>
                </a:solidFill>
                <a:latin typeface="Courier New" panose="02070309020205020404" pitchFamily="49" charset="0"/>
                <a:cs typeface="Courier New" panose="02070309020205020404" pitchFamily="49" charset="0"/>
              </a:rPr>
              <a:t>//spin</a:t>
            </a:r>
          </a:p>
          <a:p>
            <a:pPr marL="342900" indent="-342900">
              <a:spcBef>
                <a:spcPts val="1200"/>
              </a:spcBef>
              <a:buClr>
                <a:schemeClr val="bg2"/>
              </a:buClr>
              <a:buFont typeface="Monotype Sorts" pitchFamily="2" charset="2"/>
              <a:buNone/>
              <a:tabLst>
                <a:tab pos="2403475" algn="l"/>
                <a:tab pos="2684463" algn="l"/>
                <a:tab pos="2974975" algn="l"/>
              </a:tabLst>
            </a:pPr>
            <a:r>
              <a:rPr kumimoji="1" lang="en-US" sz="2000" b="1" dirty="0">
                <a:latin typeface="Courier New" panose="02070309020205020404" pitchFamily="49" charset="0"/>
                <a:cs typeface="Courier New" panose="02070309020205020404" pitchFamily="49" charset="0"/>
              </a:rPr>
              <a:t>        </a:t>
            </a:r>
            <a:r>
              <a:rPr kumimoji="1" lang="en-US" sz="2000" b="1" dirty="0">
                <a:solidFill>
                  <a:srgbClr val="CC0000"/>
                </a:solidFill>
                <a:latin typeface="Courier New" panose="02070309020205020404" pitchFamily="49" charset="0"/>
                <a:cs typeface="Courier New" panose="02070309020205020404" pitchFamily="49" charset="0"/>
              </a:rPr>
              <a:t>&lt;CS&gt;</a:t>
            </a:r>
          </a:p>
          <a:p>
            <a:pPr marL="342900" indent="-342900">
              <a:spcBef>
                <a:spcPts val="1200"/>
              </a:spcBef>
              <a:buClr>
                <a:schemeClr val="bg2"/>
              </a:buClr>
              <a:buFont typeface="Monotype Sorts" pitchFamily="2" charset="2"/>
              <a:buNone/>
              <a:tabLst>
                <a:tab pos="2403475" algn="l"/>
                <a:tab pos="2684463" algn="l"/>
                <a:tab pos="2974975" algn="l"/>
              </a:tabLst>
            </a:pPr>
            <a:r>
              <a:rPr kumimoji="1" lang="en-US" sz="2000" b="1" dirty="0">
                <a:latin typeface="Courier New" panose="02070309020205020404" pitchFamily="49" charset="0"/>
                <a:cs typeface="Courier New" panose="02070309020205020404" pitchFamily="49" charset="0"/>
              </a:rPr>
              <a:t>	  flag [1] = false;</a:t>
            </a:r>
          </a:p>
          <a:p>
            <a:pPr marL="342900" indent="-342900">
              <a:spcBef>
                <a:spcPts val="1200"/>
              </a:spcBef>
              <a:buClr>
                <a:schemeClr val="bg2"/>
              </a:buClr>
              <a:buFont typeface="Monotype Sorts" pitchFamily="2" charset="2"/>
              <a:buNone/>
              <a:tabLst>
                <a:tab pos="2403475" algn="l"/>
                <a:tab pos="2684463" algn="l"/>
                <a:tab pos="2974975" algn="l"/>
              </a:tabLst>
            </a:pPr>
            <a:r>
              <a:rPr kumimoji="1" lang="en-US" sz="2000" b="1" dirty="0">
                <a:solidFill>
                  <a:srgbClr val="FF0000"/>
                </a:solidFill>
                <a:latin typeface="Courier New" panose="02070309020205020404" pitchFamily="49" charset="0"/>
                <a:cs typeface="Courier New" panose="02070309020205020404" pitchFamily="49" charset="0"/>
              </a:rPr>
              <a:t> </a:t>
            </a:r>
            <a:r>
              <a:rPr kumimoji="1" lang="en-US" sz="2000" dirty="0">
                <a:latin typeface="Courier New" panose="02070309020205020404" pitchFamily="49" charset="0"/>
                <a:cs typeface="Courier New" panose="02070309020205020404" pitchFamily="49" charset="0"/>
              </a:rPr>
              <a:t>	      </a:t>
            </a:r>
            <a:r>
              <a:rPr kumimoji="1" lang="en-US" sz="2000" dirty="0">
                <a:solidFill>
                  <a:srgbClr val="0000CC"/>
                </a:solidFill>
                <a:latin typeface="Courier New" panose="02070309020205020404" pitchFamily="49" charset="0"/>
                <a:cs typeface="Courier New" panose="02070309020205020404" pitchFamily="49" charset="0"/>
              </a:rPr>
              <a:t>&lt;RS&gt;</a:t>
            </a:r>
          </a:p>
          <a:p>
            <a:pPr marL="342900" indent="-342900">
              <a:spcBef>
                <a:spcPts val="1200"/>
              </a:spcBef>
              <a:buClr>
                <a:schemeClr val="bg2"/>
              </a:buClr>
              <a:buFont typeface="Monotype Sorts" pitchFamily="2" charset="2"/>
              <a:buNone/>
              <a:tabLst>
                <a:tab pos="2403475" algn="l"/>
                <a:tab pos="2684463" algn="l"/>
                <a:tab pos="2974975" algn="l"/>
              </a:tabLst>
            </a:pPr>
            <a:r>
              <a:rPr kumimoji="1" lang="en-US" sz="2000" b="1" dirty="0">
                <a:latin typeface="Courier New" panose="02070309020205020404" pitchFamily="49" charset="0"/>
                <a:cs typeface="Courier New" panose="02070309020205020404" pitchFamily="49" charset="0"/>
              </a:rPr>
              <a:t>} while (1);</a:t>
            </a:r>
          </a:p>
        </p:txBody>
      </p:sp>
      <p:sp>
        <p:nvSpPr>
          <p:cNvPr id="2" name="Slide Number Placeholder 3">
            <a:extLst>
              <a:ext uri="{FF2B5EF4-FFF2-40B4-BE49-F238E27FC236}">
                <a16:creationId xmlns:a16="http://schemas.microsoft.com/office/drawing/2014/main" id="{404F77D2-97E5-C3E8-3C5C-52DEAE1E1B0B}"/>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24</a:t>
            </a:fld>
            <a:endParaRPr lang="en-US" altLang="en-US" sz="1400" dirty="0">
              <a:solidFill>
                <a:schemeClr val="tx1"/>
              </a:solidFill>
              <a:latin typeface="Tahoma" panose="020B0604030504040204" pitchFamily="34" charset="0"/>
              <a:ea typeface="MS PGothic" panose="020B0600070205080204" pitchFamily="34" charset="-128"/>
            </a:endParaRPr>
          </a:p>
        </p:txBody>
      </p:sp>
      <p:sp>
        <p:nvSpPr>
          <p:cNvPr id="4" name="Rectangle 2">
            <a:extLst>
              <a:ext uri="{FF2B5EF4-FFF2-40B4-BE49-F238E27FC236}">
                <a16:creationId xmlns:a16="http://schemas.microsoft.com/office/drawing/2014/main" id="{E0035155-4595-10C1-404F-5635DA7890BF}"/>
              </a:ext>
            </a:extLst>
          </p:cNvPr>
          <p:cNvSpPr>
            <a:spLocks noGrp="1" noChangeArrowheads="1"/>
          </p:cNvSpPr>
          <p:nvPr>
            <p:ph type="title"/>
          </p:nvPr>
        </p:nvSpPr>
        <p:spPr>
          <a:xfrm>
            <a:off x="985520" y="76200"/>
            <a:ext cx="8082280" cy="655320"/>
          </a:xfrm>
        </p:spPr>
        <p:txBody>
          <a:bodyPr>
            <a:noAutofit/>
          </a:bodyPr>
          <a:lstStyle/>
          <a:p>
            <a:r>
              <a:rPr lang="en-US" dirty="0"/>
              <a:t>Peterson’s Algorithm</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ChangeArrowheads="1"/>
          </p:cNvSpPr>
          <p:nvPr/>
        </p:nvSpPr>
        <p:spPr bwMode="auto">
          <a:xfrm>
            <a:off x="345440" y="1065750"/>
            <a:ext cx="8556822" cy="5379720"/>
          </a:xfrm>
          <a:prstGeom prst="rect">
            <a:avLst/>
          </a:prstGeom>
          <a:noFill/>
          <a:ln w="9525">
            <a:noFill/>
            <a:miter lim="800000"/>
            <a:headEnd/>
            <a:tailEnd/>
          </a:ln>
          <a:effectLst/>
        </p:spPr>
        <p:txBody>
          <a:bodyPr/>
          <a:lstStyle/>
          <a:p>
            <a:pPr marL="342900" indent="-342900">
              <a:spcBef>
                <a:spcPts val="600"/>
              </a:spcBef>
              <a:buFont typeface="Wingdings" panose="05000000000000000000" pitchFamily="2" charset="2"/>
              <a:buChar char="§"/>
              <a:tabLst>
                <a:tab pos="2403475" algn="l"/>
                <a:tab pos="2684463" algn="l"/>
                <a:tab pos="2974975" algn="l"/>
              </a:tabLst>
            </a:pPr>
            <a:r>
              <a:rPr lang="en-US" sz="2200" b="1" i="0" dirty="0">
                <a:solidFill>
                  <a:srgbClr val="0D0D0D"/>
                </a:solidFill>
                <a:effectLst/>
                <a:highlight>
                  <a:srgbClr val="FFFFFF"/>
                </a:highlight>
                <a:latin typeface="Söhne"/>
              </a:rPr>
              <a:t>Mutual Exclusion</a:t>
            </a:r>
            <a:r>
              <a:rPr lang="en-US" sz="2200" b="0" i="0" dirty="0">
                <a:solidFill>
                  <a:srgbClr val="0D0D0D"/>
                </a:solidFill>
                <a:effectLst/>
                <a:highlight>
                  <a:srgbClr val="FFFFFF"/>
                </a:highlight>
                <a:latin typeface="Söhne"/>
              </a:rPr>
              <a:t> </a:t>
            </a:r>
          </a:p>
          <a:p>
            <a:pPr marL="746125" lvl="1" indent="-288925">
              <a:spcBef>
                <a:spcPts val="600"/>
              </a:spcBef>
              <a:buFont typeface="Arial" panose="020B0604020202020204" pitchFamily="34" charset="0"/>
              <a:buChar char="•"/>
              <a:tabLst>
                <a:tab pos="2403475" algn="l"/>
                <a:tab pos="2684463" algn="l"/>
                <a:tab pos="2974975" algn="l"/>
              </a:tabLst>
            </a:pPr>
            <a:r>
              <a:rPr lang="en-US" sz="2100" dirty="0">
                <a:solidFill>
                  <a:srgbClr val="0D0D0D"/>
                </a:solidFill>
                <a:highlight>
                  <a:srgbClr val="FFFFFF"/>
                </a:highlight>
                <a:latin typeface="Söhne"/>
              </a:rPr>
              <a:t>if one process is in CS, and the other wishes to access, it is denied</a:t>
            </a:r>
          </a:p>
          <a:p>
            <a:pPr marL="746125" lvl="1" indent="-288925">
              <a:spcBef>
                <a:spcPts val="600"/>
              </a:spcBef>
              <a:buFont typeface="Arial" panose="020B0604020202020204" pitchFamily="34" charset="0"/>
              <a:buChar char="•"/>
              <a:tabLst>
                <a:tab pos="2403475" algn="l"/>
                <a:tab pos="2684463" algn="l"/>
                <a:tab pos="2974975" algn="l"/>
              </a:tabLst>
            </a:pPr>
            <a:r>
              <a:rPr lang="en-US" sz="2100" dirty="0">
                <a:solidFill>
                  <a:srgbClr val="0D0D0D"/>
                </a:solidFill>
                <a:highlight>
                  <a:srgbClr val="FFFFFF"/>
                </a:highlight>
                <a:latin typeface="Söhne"/>
              </a:rPr>
              <a:t>ensured by check </a:t>
            </a:r>
            <a:r>
              <a:rPr lang="en-US" sz="2100" b="0" i="0" dirty="0">
                <a:solidFill>
                  <a:srgbClr val="0D0D0D"/>
                </a:solidFill>
                <a:effectLst/>
                <a:highlight>
                  <a:srgbClr val="FFFFFF"/>
                </a:highlight>
                <a:latin typeface="Söhne"/>
              </a:rPr>
              <a:t>on </a:t>
            </a:r>
            <a:r>
              <a:rPr lang="en-US" sz="2100" b="0" i="0" dirty="0">
                <a:solidFill>
                  <a:srgbClr val="FF0000"/>
                </a:solidFill>
                <a:effectLst/>
                <a:highlight>
                  <a:srgbClr val="FFFFFF"/>
                </a:highlight>
                <a:latin typeface="Söhne"/>
              </a:rPr>
              <a:t>flags</a:t>
            </a:r>
            <a:r>
              <a:rPr lang="en-US" sz="2100" b="0" i="0" dirty="0">
                <a:solidFill>
                  <a:srgbClr val="0D0D0D"/>
                </a:solidFill>
                <a:effectLst/>
                <a:highlight>
                  <a:srgbClr val="FFFFFF"/>
                </a:highlight>
                <a:latin typeface="Söhne"/>
              </a:rPr>
              <a:t> and </a:t>
            </a:r>
            <a:r>
              <a:rPr lang="en-US" sz="2100" dirty="0">
                <a:solidFill>
                  <a:srgbClr val="FF0000"/>
                </a:solidFill>
                <a:highlight>
                  <a:srgbClr val="FFFFFF"/>
                </a:highlight>
                <a:latin typeface="Söhne"/>
              </a:rPr>
              <a:t>turn</a:t>
            </a:r>
            <a:r>
              <a:rPr lang="en-US" sz="2100" b="0" i="0" dirty="0">
                <a:solidFill>
                  <a:srgbClr val="0D0D0D"/>
                </a:solidFill>
                <a:effectLst/>
                <a:highlight>
                  <a:srgbClr val="FFFFFF"/>
                </a:highlight>
                <a:latin typeface="Söhne"/>
              </a:rPr>
              <a:t> variable in </a:t>
            </a:r>
            <a:r>
              <a:rPr lang="en-US" sz="2100" dirty="0">
                <a:solidFill>
                  <a:srgbClr val="FF0000"/>
                </a:solidFill>
                <a:highlight>
                  <a:srgbClr val="FFFFFF"/>
                </a:highlight>
                <a:latin typeface="Söhne"/>
              </a:rPr>
              <a:t>while()</a:t>
            </a:r>
            <a:r>
              <a:rPr lang="en-US" sz="2100" b="0" i="0" dirty="0">
                <a:solidFill>
                  <a:srgbClr val="0D0D0D"/>
                </a:solidFill>
                <a:effectLst/>
                <a:highlight>
                  <a:srgbClr val="FFFFFF"/>
                </a:highlight>
                <a:latin typeface="Söhne"/>
              </a:rPr>
              <a:t> loop</a:t>
            </a:r>
          </a:p>
          <a:p>
            <a:pPr marL="342900" indent="-342900">
              <a:spcBef>
                <a:spcPts val="1200"/>
              </a:spcBef>
              <a:buFont typeface="Wingdings" panose="05000000000000000000" pitchFamily="2" charset="2"/>
              <a:buChar char="§"/>
              <a:tabLst>
                <a:tab pos="2403475" algn="l"/>
                <a:tab pos="2684463" algn="l"/>
                <a:tab pos="2974975" algn="l"/>
              </a:tabLst>
            </a:pPr>
            <a:r>
              <a:rPr lang="en-US" sz="2200" b="1" i="0" dirty="0">
                <a:solidFill>
                  <a:srgbClr val="0D0D0D"/>
                </a:solidFill>
                <a:effectLst/>
                <a:highlight>
                  <a:srgbClr val="FFFFFF"/>
                </a:highlight>
                <a:latin typeface="Söhne"/>
              </a:rPr>
              <a:t>Progress</a:t>
            </a:r>
            <a:r>
              <a:rPr lang="en-US" sz="2200" b="0" i="0" dirty="0">
                <a:solidFill>
                  <a:srgbClr val="0D0D0D"/>
                </a:solidFill>
                <a:effectLst/>
                <a:highlight>
                  <a:srgbClr val="FFFFFF"/>
                </a:highlight>
                <a:latin typeface="Söhne"/>
              </a:rPr>
              <a:t> </a:t>
            </a:r>
          </a:p>
          <a:p>
            <a:pPr marL="746125" lvl="1" indent="-288925">
              <a:spcBef>
                <a:spcPts val="600"/>
              </a:spcBef>
              <a:buFont typeface="Arial" panose="020B0604020202020204" pitchFamily="34" charset="0"/>
              <a:buChar char="•"/>
              <a:tabLst>
                <a:tab pos="2403475" algn="l"/>
                <a:tab pos="2684463" algn="l"/>
                <a:tab pos="2974975" algn="l"/>
              </a:tabLst>
            </a:pPr>
            <a:r>
              <a:rPr lang="en-US" sz="2100" dirty="0">
                <a:solidFill>
                  <a:srgbClr val="0D0D0D"/>
                </a:solidFill>
                <a:highlight>
                  <a:srgbClr val="FFFFFF"/>
                </a:highlight>
                <a:latin typeface="Söhne"/>
              </a:rPr>
              <a:t>if no process is in CS, and both processes wish to execute their CS, one of the processes will be allowed access</a:t>
            </a:r>
          </a:p>
          <a:p>
            <a:pPr marL="746125" lvl="1" indent="-288925">
              <a:spcBef>
                <a:spcPts val="600"/>
              </a:spcBef>
              <a:buFont typeface="Arial" panose="020B0604020202020204" pitchFamily="34" charset="0"/>
              <a:buChar char="•"/>
              <a:tabLst>
                <a:tab pos="2403475" algn="l"/>
                <a:tab pos="2684463" algn="l"/>
                <a:tab pos="2974975" algn="l"/>
              </a:tabLst>
            </a:pPr>
            <a:r>
              <a:rPr lang="en-US" sz="2100" dirty="0">
                <a:solidFill>
                  <a:srgbClr val="0D0D0D"/>
                </a:solidFill>
                <a:highlight>
                  <a:srgbClr val="FFFFFF"/>
                </a:highlight>
                <a:latin typeface="Söhne"/>
              </a:rPr>
              <a:t>ensured by </a:t>
            </a:r>
            <a:r>
              <a:rPr lang="en-US" sz="2100" dirty="0">
                <a:solidFill>
                  <a:srgbClr val="FF0000"/>
                </a:solidFill>
                <a:highlight>
                  <a:srgbClr val="FFFFFF"/>
                </a:highlight>
                <a:latin typeface="Söhne"/>
              </a:rPr>
              <a:t>turn</a:t>
            </a:r>
            <a:r>
              <a:rPr lang="en-US" sz="2100" dirty="0">
                <a:solidFill>
                  <a:srgbClr val="0D0D0D"/>
                </a:solidFill>
                <a:highlight>
                  <a:srgbClr val="FFFFFF"/>
                </a:highlight>
                <a:latin typeface="Söhne"/>
              </a:rPr>
              <a:t> variable</a:t>
            </a:r>
          </a:p>
          <a:p>
            <a:pPr marL="342900" indent="-342900">
              <a:spcBef>
                <a:spcPts val="1200"/>
              </a:spcBef>
              <a:buFont typeface="Wingdings" panose="05000000000000000000" pitchFamily="2" charset="2"/>
              <a:buChar char="§"/>
              <a:tabLst>
                <a:tab pos="2403475" algn="l"/>
                <a:tab pos="2684463" algn="l"/>
                <a:tab pos="2974975" algn="l"/>
              </a:tabLst>
            </a:pPr>
            <a:r>
              <a:rPr lang="en-US" sz="2200" b="1" i="0" dirty="0">
                <a:solidFill>
                  <a:srgbClr val="0D0D0D"/>
                </a:solidFill>
                <a:effectLst/>
                <a:highlight>
                  <a:srgbClr val="FFFFFF"/>
                </a:highlight>
                <a:latin typeface="Söhne"/>
              </a:rPr>
              <a:t>Bounded Waiting</a:t>
            </a:r>
            <a:r>
              <a:rPr lang="en-US" sz="2200" b="0" i="0" dirty="0">
                <a:solidFill>
                  <a:srgbClr val="0D0D0D"/>
                </a:solidFill>
                <a:effectLst/>
                <a:highlight>
                  <a:srgbClr val="FFFFFF"/>
                </a:highlight>
                <a:latin typeface="Söhne"/>
              </a:rPr>
              <a:t> </a:t>
            </a:r>
          </a:p>
          <a:p>
            <a:pPr marL="746125" lvl="1" indent="-288925">
              <a:spcBef>
                <a:spcPts val="600"/>
              </a:spcBef>
              <a:buFont typeface="Arial" panose="020B0604020202020204" pitchFamily="34" charset="0"/>
              <a:buChar char="•"/>
              <a:tabLst>
                <a:tab pos="2403475" algn="l"/>
                <a:tab pos="2684463" algn="l"/>
                <a:tab pos="2974975" algn="l"/>
              </a:tabLst>
            </a:pPr>
            <a:r>
              <a:rPr lang="en-US" sz="2100" dirty="0">
                <a:solidFill>
                  <a:srgbClr val="0D0D0D"/>
                </a:solidFill>
                <a:highlight>
                  <a:srgbClr val="FFFFFF"/>
                </a:highlight>
                <a:latin typeface="Söhne"/>
              </a:rPr>
              <a:t>when a process indicates its desire to enter CS, turn variable will allow access after the other process has executed its CS once</a:t>
            </a:r>
          </a:p>
          <a:p>
            <a:pPr algn="ctr">
              <a:spcBef>
                <a:spcPts val="1800"/>
              </a:spcBef>
              <a:tabLst>
                <a:tab pos="2403475" algn="l"/>
                <a:tab pos="2684463" algn="l"/>
                <a:tab pos="2974975" algn="l"/>
              </a:tabLst>
            </a:pPr>
            <a:r>
              <a:rPr lang="en-US" sz="2200" b="0" i="1" dirty="0">
                <a:solidFill>
                  <a:srgbClr val="0000CC"/>
                </a:solidFill>
                <a:effectLst/>
                <a:highlight>
                  <a:srgbClr val="FFFFFF"/>
                </a:highlight>
                <a:latin typeface="Söhne"/>
              </a:rPr>
              <a:t>But algo is primarily theoretical, due to </a:t>
            </a:r>
            <a:r>
              <a:rPr lang="en-US" sz="2200" b="0" i="1" dirty="0">
                <a:solidFill>
                  <a:srgbClr val="FF0000"/>
                </a:solidFill>
                <a:effectLst/>
                <a:highlight>
                  <a:srgbClr val="FFFFFF"/>
                </a:highlight>
                <a:latin typeface="Söhne"/>
              </a:rPr>
              <a:t>busy-wait</a:t>
            </a:r>
            <a:r>
              <a:rPr lang="en-US" sz="2200" b="0" i="1" dirty="0">
                <a:solidFill>
                  <a:srgbClr val="0000CC"/>
                </a:solidFill>
                <a:effectLst/>
                <a:highlight>
                  <a:srgbClr val="FFFFFF"/>
                </a:highlight>
                <a:latin typeface="Söhne"/>
              </a:rPr>
              <a:t> inefficiency.</a:t>
            </a:r>
          </a:p>
          <a:p>
            <a:pPr algn="ctr">
              <a:spcBef>
                <a:spcPts val="600"/>
              </a:spcBef>
              <a:tabLst>
                <a:tab pos="2403475" algn="l"/>
                <a:tab pos="2684463" algn="l"/>
                <a:tab pos="2974975" algn="l"/>
              </a:tabLst>
            </a:pPr>
            <a:r>
              <a:rPr kumimoji="1" lang="en-US" sz="2200" i="1" dirty="0">
                <a:solidFill>
                  <a:srgbClr val="0000CC"/>
                </a:solidFill>
                <a:highlight>
                  <a:srgbClr val="FFFFFF"/>
                </a:highlight>
                <a:latin typeface="Söhne"/>
                <a:cs typeface="Calibri" panose="020F0502020204030204" pitchFamily="34" charset="0"/>
              </a:rPr>
              <a:t>May not work on modern architectures, due to how </a:t>
            </a:r>
            <a:br>
              <a:rPr kumimoji="1" lang="en-US" sz="2200" i="1" dirty="0">
                <a:solidFill>
                  <a:srgbClr val="0000CC"/>
                </a:solidFill>
                <a:highlight>
                  <a:srgbClr val="FFFFFF"/>
                </a:highlight>
                <a:latin typeface="Söhne"/>
                <a:cs typeface="Calibri" panose="020F0502020204030204" pitchFamily="34" charset="0"/>
              </a:rPr>
            </a:br>
            <a:r>
              <a:rPr kumimoji="1" lang="en-US" sz="2200" i="1" dirty="0">
                <a:solidFill>
                  <a:srgbClr val="0000CC"/>
                </a:solidFill>
                <a:highlight>
                  <a:srgbClr val="FFFFFF"/>
                </a:highlight>
                <a:latin typeface="Söhne"/>
                <a:cs typeface="Calibri" panose="020F0502020204030204" pitchFamily="34" charset="0"/>
              </a:rPr>
              <a:t>they </a:t>
            </a:r>
            <a:r>
              <a:rPr lang="en-US" sz="2200" i="1" dirty="0">
                <a:solidFill>
                  <a:srgbClr val="FF0000"/>
                </a:solidFill>
                <a:highlight>
                  <a:srgbClr val="FFFFFF"/>
                </a:highlight>
                <a:latin typeface="Söhne"/>
              </a:rPr>
              <a:t>handle load/store</a:t>
            </a:r>
          </a:p>
        </p:txBody>
      </p:sp>
      <p:sp>
        <p:nvSpPr>
          <p:cNvPr id="2" name="Slide Number Placeholder 3">
            <a:extLst>
              <a:ext uri="{FF2B5EF4-FFF2-40B4-BE49-F238E27FC236}">
                <a16:creationId xmlns:a16="http://schemas.microsoft.com/office/drawing/2014/main" id="{18554C1F-7A27-07E3-1A27-A5EA38B22D79}"/>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25</a:t>
            </a:fld>
            <a:endParaRPr lang="en-US" altLang="en-US" sz="1400" dirty="0">
              <a:solidFill>
                <a:schemeClr val="tx1"/>
              </a:solidFill>
              <a:latin typeface="Tahoma" panose="020B0604030504040204" pitchFamily="34" charset="0"/>
              <a:ea typeface="MS PGothic" panose="020B0600070205080204" pitchFamily="34" charset="-128"/>
            </a:endParaRPr>
          </a:p>
        </p:txBody>
      </p:sp>
      <p:sp>
        <p:nvSpPr>
          <p:cNvPr id="4" name="Rectangle 2">
            <a:extLst>
              <a:ext uri="{FF2B5EF4-FFF2-40B4-BE49-F238E27FC236}">
                <a16:creationId xmlns:a16="http://schemas.microsoft.com/office/drawing/2014/main" id="{2DD57DF7-34A6-F08C-A974-E2FD72550229}"/>
              </a:ext>
            </a:extLst>
          </p:cNvPr>
          <p:cNvSpPr>
            <a:spLocks noGrp="1" noChangeArrowheads="1"/>
          </p:cNvSpPr>
          <p:nvPr>
            <p:ph type="title"/>
          </p:nvPr>
        </p:nvSpPr>
        <p:spPr>
          <a:xfrm>
            <a:off x="985520" y="76200"/>
            <a:ext cx="8082280" cy="655320"/>
          </a:xfrm>
        </p:spPr>
        <p:txBody>
          <a:bodyPr>
            <a:noAutofit/>
          </a:bodyPr>
          <a:lstStyle/>
          <a:p>
            <a:r>
              <a:rPr lang="en-US" dirty="0"/>
              <a:t>Peterson’s Algorithm</a:t>
            </a:r>
          </a:p>
        </p:txBody>
      </p:sp>
    </p:spTree>
    <p:extLst>
      <p:ext uri="{BB962C8B-B14F-4D97-AF65-F5344CB8AC3E}">
        <p14:creationId xmlns:p14="http://schemas.microsoft.com/office/powerpoint/2010/main" val="39546385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233680" y="2276816"/>
            <a:ext cx="8580119" cy="1705903"/>
          </a:xfrm>
        </p:spPr>
        <p:txBody>
          <a:bodyPr/>
          <a:lstStyle/>
          <a:p>
            <a:pPr marL="457200" lvl="1" indent="0" algn="ctr">
              <a:buNone/>
            </a:pPr>
            <a:r>
              <a:rPr lang="en-US" sz="3200" b="1" dirty="0">
                <a:solidFill>
                  <a:srgbClr val="006699"/>
                </a:solidFill>
                <a:latin typeface="+mj-lt"/>
              </a:rPr>
              <a:t>Hybrid Solutions</a:t>
            </a:r>
          </a:p>
          <a:p>
            <a:pPr marL="457200" lvl="1" indent="0" algn="ctr">
              <a:buNone/>
            </a:pPr>
            <a:r>
              <a:rPr lang="en-US" sz="3200" b="1" dirty="0">
                <a:solidFill>
                  <a:srgbClr val="006699"/>
                </a:solidFill>
                <a:latin typeface="+mj-lt"/>
              </a:rPr>
              <a:t>Mutex</a:t>
            </a:r>
          </a:p>
          <a:p>
            <a:pPr marL="457200" lvl="1" indent="0" algn="ctr">
              <a:buNone/>
            </a:pPr>
            <a:endParaRPr lang="en-US" altLang="en-US" sz="3200" b="1" dirty="0">
              <a:solidFill>
                <a:srgbClr val="006699"/>
              </a:solidFill>
              <a:latin typeface="+mj-lt"/>
            </a:endParaRPr>
          </a:p>
        </p:txBody>
      </p:sp>
      <p:sp>
        <p:nvSpPr>
          <p:cNvPr id="2" name="Slide Number Placeholder 3">
            <a:extLst>
              <a:ext uri="{FF2B5EF4-FFF2-40B4-BE49-F238E27FC236}">
                <a16:creationId xmlns:a16="http://schemas.microsoft.com/office/drawing/2014/main" id="{9C740614-1FBB-D246-96C3-BF4C6DE71AD8}"/>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26</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24066434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116418" y="76200"/>
            <a:ext cx="7472411" cy="678712"/>
          </a:xfrm>
          <a:noFill/>
          <a:ln/>
        </p:spPr>
        <p:txBody>
          <a:bodyPr>
            <a:noAutofit/>
          </a:bodyPr>
          <a:lstStyle/>
          <a:p>
            <a:r>
              <a:rPr lang="en-US" sz="2800" dirty="0"/>
              <a:t>Solution to CS Problem</a:t>
            </a:r>
          </a:p>
        </p:txBody>
      </p:sp>
      <p:sp>
        <p:nvSpPr>
          <p:cNvPr id="12291" name="Rectangle 3"/>
          <p:cNvSpPr>
            <a:spLocks noGrp="1" noChangeArrowheads="1"/>
          </p:cNvSpPr>
          <p:nvPr>
            <p:ph idx="1"/>
          </p:nvPr>
        </p:nvSpPr>
        <p:spPr>
          <a:xfrm>
            <a:off x="374031" y="1046130"/>
            <a:ext cx="8628455" cy="5588000"/>
          </a:xfrm>
          <a:noFill/>
          <a:ln/>
        </p:spPr>
        <p:txBody>
          <a:bodyPr/>
          <a:lstStyle/>
          <a:p>
            <a:pPr marL="346075" indent="-346075" eaLnBrk="1" fontAlgn="auto" hangingPunct="1">
              <a:spcBef>
                <a:spcPts val="600"/>
              </a:spcBef>
              <a:spcAft>
                <a:spcPts val="0"/>
              </a:spcAft>
              <a:defRPr/>
            </a:pPr>
            <a:r>
              <a:rPr lang="en-US" dirty="0"/>
              <a:t>Need to protect the CS</a:t>
            </a:r>
          </a:p>
          <a:p>
            <a:pPr marL="746125" lvl="1" indent="-346075" eaLnBrk="1" fontAlgn="auto" hangingPunct="1">
              <a:spcBef>
                <a:spcPts val="0"/>
              </a:spcBef>
              <a:spcAft>
                <a:spcPts val="0"/>
              </a:spcAft>
              <a:defRPr/>
            </a:pPr>
            <a:r>
              <a:rPr lang="en-US" dirty="0"/>
              <a:t>problem due to interleaving of machine instructions  </a:t>
            </a:r>
          </a:p>
          <a:p>
            <a:pPr marL="346075" indent="-346075" eaLnBrk="1" fontAlgn="auto" hangingPunct="1">
              <a:spcBef>
                <a:spcPts val="1200"/>
              </a:spcBef>
              <a:spcAft>
                <a:spcPts val="0"/>
              </a:spcAft>
              <a:defRPr/>
            </a:pPr>
            <a:r>
              <a:rPr lang="en-US" b="1" dirty="0">
                <a:solidFill>
                  <a:srgbClr val="C00000"/>
                </a:solidFill>
              </a:rPr>
              <a:t>Hardware based solution</a:t>
            </a:r>
          </a:p>
          <a:p>
            <a:pPr marL="741363" lvl="1" indent="-284163" eaLnBrk="1" fontAlgn="auto" hangingPunct="1">
              <a:spcBef>
                <a:spcPts val="600"/>
              </a:spcBef>
              <a:spcAft>
                <a:spcPts val="0"/>
              </a:spcAft>
              <a:defRPr/>
            </a:pPr>
            <a:r>
              <a:rPr lang="en-US" dirty="0"/>
              <a:t>many modern systems provide special H/W instructions…</a:t>
            </a:r>
          </a:p>
          <a:p>
            <a:pPr marL="233363" lvl="1" indent="0" algn="ctr" eaLnBrk="1" fontAlgn="auto" hangingPunct="1">
              <a:spcBef>
                <a:spcPts val="600"/>
              </a:spcBef>
              <a:spcAft>
                <a:spcPts val="0"/>
              </a:spcAft>
              <a:buNone/>
              <a:defRPr/>
            </a:pPr>
            <a:r>
              <a:rPr lang="en-US" i="1" dirty="0">
                <a:solidFill>
                  <a:srgbClr val="0070C0"/>
                </a:solidFill>
                <a:latin typeface="Times New Roman" panose="02020603050405020304" pitchFamily="18" charset="0"/>
                <a:cs typeface="Times New Roman" panose="02020603050405020304" pitchFamily="18" charset="0"/>
              </a:rPr>
              <a:t>allow to perform some operations </a:t>
            </a:r>
            <a:r>
              <a:rPr lang="en-US" i="1" dirty="0">
                <a:solidFill>
                  <a:srgbClr val="C00000"/>
                </a:solidFill>
                <a:latin typeface="Times New Roman" panose="02020603050405020304" pitchFamily="18" charset="0"/>
                <a:cs typeface="Times New Roman" panose="02020603050405020304" pitchFamily="18" charset="0"/>
              </a:rPr>
              <a:t>atomically</a:t>
            </a:r>
            <a:r>
              <a:rPr lang="en-US" i="1" dirty="0">
                <a:solidFill>
                  <a:srgbClr val="0070C0"/>
                </a:solidFill>
                <a:latin typeface="Times New Roman" panose="02020603050405020304" pitchFamily="18" charset="0"/>
                <a:cs typeface="Times New Roman" panose="02020603050405020304" pitchFamily="18" charset="0"/>
              </a:rPr>
              <a:t>;</a:t>
            </a:r>
            <a:br>
              <a:rPr lang="en-US" i="1" dirty="0">
                <a:solidFill>
                  <a:srgbClr val="0070C0"/>
                </a:solidFill>
                <a:latin typeface="Times New Roman" panose="02020603050405020304" pitchFamily="18" charset="0"/>
                <a:cs typeface="Times New Roman" panose="02020603050405020304" pitchFamily="18" charset="0"/>
              </a:rPr>
            </a:br>
            <a:r>
              <a:rPr lang="en-US" i="1" dirty="0">
                <a:solidFill>
                  <a:srgbClr val="0070C0"/>
                </a:solidFill>
                <a:latin typeface="Times New Roman" panose="02020603050405020304" pitchFamily="18" charset="0"/>
                <a:cs typeface="Times New Roman" panose="02020603050405020304" pitchFamily="18" charset="0"/>
              </a:rPr>
              <a:t>test/set contents of a word,    or    compare &amp; swap two words</a:t>
            </a:r>
          </a:p>
          <a:p>
            <a:pPr lvl="1">
              <a:spcBef>
                <a:spcPts val="1200"/>
              </a:spcBef>
            </a:pPr>
            <a:r>
              <a:rPr lang="en-US" dirty="0"/>
              <a:t>but H/W based solutions need careful consideration for use</a:t>
            </a:r>
          </a:p>
          <a:p>
            <a:pPr lvl="2">
              <a:spcBef>
                <a:spcPts val="600"/>
              </a:spcBef>
            </a:pPr>
            <a:r>
              <a:rPr lang="en-US" i="1" dirty="0"/>
              <a:t>generally not available to application developers </a:t>
            </a:r>
          </a:p>
          <a:p>
            <a:pPr lvl="2">
              <a:spcBef>
                <a:spcPts val="600"/>
              </a:spcBef>
            </a:pPr>
            <a:r>
              <a:rPr lang="en-US" i="1" dirty="0"/>
              <a:t>availability also depends on processor &amp; architecture</a:t>
            </a:r>
          </a:p>
          <a:p>
            <a:pPr>
              <a:spcBef>
                <a:spcPts val="1200"/>
              </a:spcBef>
            </a:pPr>
            <a:r>
              <a:rPr lang="en-US" b="1" dirty="0">
                <a:solidFill>
                  <a:srgbClr val="C00000"/>
                </a:solidFill>
              </a:rPr>
              <a:t>Hybrid solutions</a:t>
            </a:r>
            <a:endParaRPr lang="en-US" dirty="0"/>
          </a:p>
          <a:p>
            <a:pPr lvl="1">
              <a:spcBef>
                <a:spcPts val="600"/>
              </a:spcBef>
            </a:pPr>
            <a:r>
              <a:rPr kumimoji="0" lang="en-US" kern="1200" dirty="0">
                <a:ea typeface="+mn-ea"/>
              </a:rPr>
              <a:t>synchronization primitives provided by OS </a:t>
            </a:r>
            <a:r>
              <a:rPr kumimoji="0" lang="en-US" i="1" kern="1200" dirty="0">
                <a:ea typeface="+mn-ea"/>
              </a:rPr>
              <a:t>(mutex, semaphore) </a:t>
            </a:r>
          </a:p>
          <a:p>
            <a:pPr lvl="1">
              <a:spcBef>
                <a:spcPts val="400"/>
              </a:spcBef>
            </a:pPr>
            <a:r>
              <a:rPr kumimoji="0" lang="en-US" kern="1200" dirty="0">
                <a:ea typeface="+mn-ea"/>
              </a:rPr>
              <a:t>implemented in S/W </a:t>
            </a:r>
          </a:p>
          <a:p>
            <a:pPr lvl="1">
              <a:spcBef>
                <a:spcPts val="400"/>
              </a:spcBef>
            </a:pPr>
            <a:r>
              <a:rPr kumimoji="0" lang="en-US" kern="1200" dirty="0">
                <a:ea typeface="+mn-ea"/>
              </a:rPr>
              <a:t>rely on atomic operations provided by underlying H/W</a:t>
            </a:r>
          </a:p>
        </p:txBody>
      </p:sp>
      <p:sp>
        <p:nvSpPr>
          <p:cNvPr id="2" name="Slide Number Placeholder 3">
            <a:extLst>
              <a:ext uri="{FF2B5EF4-FFF2-40B4-BE49-F238E27FC236}">
                <a16:creationId xmlns:a16="http://schemas.microsoft.com/office/drawing/2014/main" id="{71EBD5CA-6A3A-0805-A997-0DC209C75BBE}"/>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27</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4388438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116418" y="76200"/>
            <a:ext cx="7346862" cy="678712"/>
          </a:xfrm>
          <a:noFill/>
          <a:ln/>
        </p:spPr>
        <p:txBody>
          <a:bodyPr>
            <a:noAutofit/>
          </a:bodyPr>
          <a:lstStyle/>
          <a:p>
            <a:r>
              <a:rPr lang="en-US" sz="2800" dirty="0"/>
              <a:t>Mutex: Thread Synchronization</a:t>
            </a:r>
          </a:p>
        </p:txBody>
      </p:sp>
      <p:sp>
        <p:nvSpPr>
          <p:cNvPr id="12291" name="Rectangle 3"/>
          <p:cNvSpPr>
            <a:spLocks noGrp="1" noChangeArrowheads="1"/>
          </p:cNvSpPr>
          <p:nvPr>
            <p:ph idx="1"/>
          </p:nvPr>
        </p:nvSpPr>
        <p:spPr>
          <a:xfrm>
            <a:off x="342852" y="1088170"/>
            <a:ext cx="8801148" cy="1886258"/>
          </a:xfrm>
          <a:noFill/>
          <a:ln/>
        </p:spPr>
        <p:txBody>
          <a:bodyPr/>
          <a:lstStyle/>
          <a:p>
            <a:pPr marL="341313" indent="-341313" eaLnBrk="1" fontAlgn="auto" hangingPunct="1">
              <a:spcBef>
                <a:spcPts val="600"/>
              </a:spcBef>
              <a:spcAft>
                <a:spcPts val="0"/>
              </a:spcAft>
              <a:defRPr/>
            </a:pPr>
            <a:r>
              <a:rPr lang="en-US" b="1" kern="1200" dirty="0">
                <a:solidFill>
                  <a:srgbClr val="C00000"/>
                </a:solidFill>
              </a:rPr>
              <a:t>Mutex </a:t>
            </a:r>
            <a:r>
              <a:rPr lang="en-US" dirty="0"/>
              <a:t> </a:t>
            </a:r>
          </a:p>
          <a:p>
            <a:pPr marL="682625" lvl="1" indent="-282575" eaLnBrk="1" fontAlgn="auto" hangingPunct="1">
              <a:spcBef>
                <a:spcPts val="600"/>
              </a:spcBef>
              <a:spcAft>
                <a:spcPts val="0"/>
              </a:spcAft>
              <a:defRPr/>
            </a:pPr>
            <a:r>
              <a:rPr lang="en-US" dirty="0"/>
              <a:t>S/W tool provided by OS –  </a:t>
            </a:r>
            <a:r>
              <a:rPr lang="en-US" i="1" dirty="0">
                <a:solidFill>
                  <a:srgbClr val="C00000"/>
                </a:solidFill>
              </a:rPr>
              <a:t>protect CS  </a:t>
            </a:r>
            <a:r>
              <a:rPr lang="en-US" dirty="0"/>
              <a:t>&amp;  </a:t>
            </a:r>
            <a:r>
              <a:rPr lang="en-US" i="1" dirty="0">
                <a:solidFill>
                  <a:srgbClr val="C00000"/>
                </a:solidFill>
              </a:rPr>
              <a:t>prevent race conditions</a:t>
            </a:r>
          </a:p>
          <a:p>
            <a:pPr marL="682625" lvl="1" indent="-282575" eaLnBrk="1" fontAlgn="auto" hangingPunct="1">
              <a:spcBef>
                <a:spcPts val="600"/>
              </a:spcBef>
              <a:spcAft>
                <a:spcPts val="0"/>
              </a:spcAft>
              <a:defRPr/>
            </a:pPr>
            <a:r>
              <a:rPr lang="en-US" dirty="0"/>
              <a:t>process needs to acquire the lock, and then it can enter CS</a:t>
            </a:r>
          </a:p>
          <a:p>
            <a:pPr marL="682625" lvl="1" indent="-282575" eaLnBrk="1" fontAlgn="auto" hangingPunct="1">
              <a:spcBef>
                <a:spcPts val="600"/>
              </a:spcBef>
              <a:spcAft>
                <a:spcPts val="0"/>
              </a:spcAft>
              <a:defRPr/>
            </a:pPr>
            <a:r>
              <a:rPr lang="en-US" sz="2200" dirty="0"/>
              <a:t>if lock not available, process waits in entry section</a:t>
            </a:r>
            <a:endParaRPr lang="en-US" dirty="0"/>
          </a:p>
        </p:txBody>
      </p:sp>
      <p:sp>
        <p:nvSpPr>
          <p:cNvPr id="2" name="Slide Number Placeholder 3">
            <a:extLst>
              <a:ext uri="{FF2B5EF4-FFF2-40B4-BE49-F238E27FC236}">
                <a16:creationId xmlns:a16="http://schemas.microsoft.com/office/drawing/2014/main" id="{71EBD5CA-6A3A-0805-A997-0DC209C75BBE}"/>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28</a:t>
            </a:fld>
            <a:endParaRPr lang="en-US" altLang="en-US" sz="1400" dirty="0">
              <a:solidFill>
                <a:schemeClr val="tx1"/>
              </a:solidFill>
              <a:latin typeface="Tahoma" panose="020B0604030504040204" pitchFamily="34" charset="0"/>
              <a:ea typeface="MS PGothic" panose="020B0600070205080204" pitchFamily="34" charset="-128"/>
            </a:endParaRPr>
          </a:p>
        </p:txBody>
      </p:sp>
      <p:sp>
        <p:nvSpPr>
          <p:cNvPr id="3" name="Rectangle 3">
            <a:extLst>
              <a:ext uri="{FF2B5EF4-FFF2-40B4-BE49-F238E27FC236}">
                <a16:creationId xmlns:a16="http://schemas.microsoft.com/office/drawing/2014/main" id="{2592643A-9C4F-3A2F-AA08-8FA59E551C8B}"/>
              </a:ext>
            </a:extLst>
          </p:cNvPr>
          <p:cNvSpPr txBox="1">
            <a:spLocks noChangeArrowheads="1"/>
          </p:cNvSpPr>
          <p:nvPr/>
        </p:nvSpPr>
        <p:spPr bwMode="auto">
          <a:xfrm>
            <a:off x="757175" y="3069020"/>
            <a:ext cx="8038482" cy="3320891"/>
          </a:xfrm>
          <a:prstGeom prst="rect">
            <a:avLst/>
          </a:prstGeom>
          <a:solidFill>
            <a:schemeClr val="bg1">
              <a:lumMod val="9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sz="2400">
                <a:solidFill>
                  <a:schemeClr val="tx1"/>
                </a:solidFill>
                <a:latin typeface="Calibri" panose="020F0502020204030204" pitchFamily="34" charset="0"/>
                <a:ea typeface="MS PGothic" pitchFamily="34" charset="-128"/>
                <a:cs typeface="Calibri" panose="020F0502020204030204" pitchFamily="34" charset="0"/>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sz="2200">
                <a:solidFill>
                  <a:schemeClr val="tx1"/>
                </a:solidFill>
                <a:latin typeface="Calibri" panose="020F0502020204030204" pitchFamily="34" charset="0"/>
                <a:ea typeface="MS PGothic" pitchFamily="34" charset="-128"/>
                <a:cs typeface="Calibri" panose="020F0502020204030204" pitchFamily="34" charset="0"/>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200">
                <a:solidFill>
                  <a:schemeClr val="tx1"/>
                </a:solidFill>
                <a:latin typeface="Calibri" panose="020F0502020204030204" pitchFamily="34" charset="0"/>
                <a:ea typeface="MS PGothic" pitchFamily="34" charset="-128"/>
                <a:cs typeface="Calibri" panose="020F0502020204030204" pitchFamily="34" charset="0"/>
              </a:defRPr>
            </a:lvl3pPr>
            <a:lvl4pPr marL="1428750" indent="-228600" algn="l" rtl="0" eaLnBrk="0" fontAlgn="base" hangingPunct="0">
              <a:spcBef>
                <a:spcPct val="35000"/>
              </a:spcBef>
              <a:spcAft>
                <a:spcPct val="0"/>
              </a:spcAft>
              <a:buClr>
                <a:schemeClr val="hlink"/>
              </a:buClr>
              <a:buSzPct val="75000"/>
              <a:buChar char="–"/>
              <a:defRPr kumimoji="1" sz="2200">
                <a:solidFill>
                  <a:schemeClr val="tx1"/>
                </a:solidFill>
                <a:latin typeface="Calibri" panose="020F0502020204030204" pitchFamily="34" charset="0"/>
                <a:ea typeface="MS PGothic" pitchFamily="34" charset="-128"/>
                <a:cs typeface="Calibri" panose="020F0502020204030204" pitchFamily="34" charset="0"/>
              </a:defRPr>
            </a:lvl4pPr>
            <a:lvl5pPr marL="1771650" indent="-228600" algn="l" rtl="0" eaLnBrk="0" fontAlgn="base" hangingPunct="0">
              <a:spcBef>
                <a:spcPct val="35000"/>
              </a:spcBef>
              <a:spcAft>
                <a:spcPct val="0"/>
              </a:spcAft>
              <a:buClr>
                <a:srgbClr val="FF0066"/>
              </a:buClr>
              <a:buSzPct val="75000"/>
              <a:buChar char="»"/>
              <a:defRPr kumimoji="1" sz="2200">
                <a:solidFill>
                  <a:schemeClr val="tx1"/>
                </a:solidFill>
                <a:latin typeface="Calibri" panose="020F0502020204030204" pitchFamily="34" charset="0"/>
                <a:ea typeface="MS PGothic" pitchFamily="34" charset="-128"/>
                <a:cs typeface="Calibri" panose="020F050202020403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lnSpc>
                <a:spcPct val="150000"/>
              </a:lnSpc>
              <a:spcBef>
                <a:spcPts val="600"/>
              </a:spcBef>
              <a:buFont typeface="Wingdings" panose="05000000000000000000" pitchFamily="2" charset="2"/>
              <a:buNone/>
            </a:pPr>
            <a:r>
              <a:rPr lang="en-US" sz="2000" kern="0" dirty="0">
                <a:latin typeface="Comic Sans MS" pitchFamily="66" charset="0"/>
              </a:rPr>
              <a:t>do { </a:t>
            </a:r>
          </a:p>
          <a:p>
            <a:pPr>
              <a:lnSpc>
                <a:spcPct val="150000"/>
              </a:lnSpc>
              <a:spcBef>
                <a:spcPts val="600"/>
              </a:spcBef>
              <a:buFont typeface="Wingdings" panose="05000000000000000000" pitchFamily="2" charset="2"/>
              <a:buNone/>
            </a:pPr>
            <a:r>
              <a:rPr lang="en-US" sz="2000" kern="0" dirty="0">
                <a:latin typeface="Comic Sans MS" pitchFamily="66" charset="0"/>
              </a:rPr>
              <a:t>		</a:t>
            </a:r>
            <a:r>
              <a:rPr lang="en-US" sz="2000" b="1" kern="0" dirty="0">
                <a:solidFill>
                  <a:srgbClr val="0000CC"/>
                </a:solidFill>
                <a:latin typeface="Comic Sans MS" pitchFamily="66" charset="0"/>
              </a:rPr>
              <a:t>ENTRY SECTION 	</a:t>
            </a:r>
            <a:r>
              <a:rPr lang="en-US" sz="2000" kern="0" dirty="0">
                <a:latin typeface="Comic Sans MS" pitchFamily="66" charset="0"/>
              </a:rPr>
              <a:t>// acquire() mutex lock</a:t>
            </a:r>
          </a:p>
          <a:p>
            <a:pPr>
              <a:lnSpc>
                <a:spcPct val="150000"/>
              </a:lnSpc>
              <a:spcBef>
                <a:spcPts val="600"/>
              </a:spcBef>
              <a:buFont typeface="Wingdings" panose="05000000000000000000" pitchFamily="2" charset="2"/>
              <a:buNone/>
            </a:pPr>
            <a:r>
              <a:rPr lang="en-US" sz="2000" kern="0" dirty="0">
                <a:latin typeface="Comic Sans MS" pitchFamily="66" charset="0"/>
              </a:rPr>
              <a:t>		</a:t>
            </a:r>
            <a:r>
              <a:rPr lang="en-US" sz="2000" kern="0" dirty="0">
                <a:solidFill>
                  <a:srgbClr val="FF0000"/>
                </a:solidFill>
                <a:latin typeface="Comic Sans MS" pitchFamily="66" charset="0"/>
              </a:rPr>
              <a:t>   &lt;CS&gt; </a:t>
            </a:r>
            <a:r>
              <a:rPr lang="en-US" sz="2000" kern="0" dirty="0">
                <a:latin typeface="Comic Sans MS" pitchFamily="66" charset="0"/>
              </a:rPr>
              <a:t>			// access shared variables</a:t>
            </a:r>
          </a:p>
          <a:p>
            <a:pPr>
              <a:lnSpc>
                <a:spcPct val="150000"/>
              </a:lnSpc>
              <a:spcBef>
                <a:spcPts val="600"/>
              </a:spcBef>
              <a:buNone/>
            </a:pPr>
            <a:r>
              <a:rPr lang="en-US" sz="2000" kern="0" dirty="0">
                <a:latin typeface="Comic Sans MS" pitchFamily="66" charset="0"/>
              </a:rPr>
              <a:t>    		</a:t>
            </a:r>
            <a:r>
              <a:rPr lang="en-US" sz="2000" b="1" kern="0" dirty="0">
                <a:solidFill>
                  <a:srgbClr val="0000CC"/>
                </a:solidFill>
                <a:latin typeface="Comic Sans MS" pitchFamily="66" charset="0"/>
              </a:rPr>
              <a:t>EXIT SECTION 	</a:t>
            </a:r>
            <a:r>
              <a:rPr lang="en-US" sz="2000" kern="0" dirty="0">
                <a:latin typeface="Comic Sans MS" pitchFamily="66" charset="0"/>
              </a:rPr>
              <a:t>// release() mutex lock</a:t>
            </a:r>
          </a:p>
          <a:p>
            <a:pPr>
              <a:lnSpc>
                <a:spcPct val="150000"/>
              </a:lnSpc>
              <a:spcBef>
                <a:spcPts val="600"/>
              </a:spcBef>
              <a:buFont typeface="Wingdings" panose="05000000000000000000" pitchFamily="2" charset="2"/>
              <a:buNone/>
            </a:pPr>
            <a:r>
              <a:rPr lang="en-US" sz="2000" kern="0" dirty="0">
                <a:latin typeface="Comic Sans MS" pitchFamily="66" charset="0"/>
              </a:rPr>
              <a:t>                </a:t>
            </a:r>
            <a:r>
              <a:rPr lang="en-US" sz="2000" kern="0" dirty="0">
                <a:solidFill>
                  <a:srgbClr val="FF0000"/>
                </a:solidFill>
                <a:latin typeface="Comic Sans MS" pitchFamily="66" charset="0"/>
              </a:rPr>
              <a:t>&lt;RS&gt;</a:t>
            </a:r>
            <a:r>
              <a:rPr lang="en-US" sz="2000" kern="0" dirty="0">
                <a:latin typeface="Comic Sans MS" pitchFamily="66" charset="0"/>
              </a:rPr>
              <a:t>			// do other work </a:t>
            </a:r>
          </a:p>
          <a:p>
            <a:pPr>
              <a:lnSpc>
                <a:spcPct val="150000"/>
              </a:lnSpc>
              <a:spcBef>
                <a:spcPts val="600"/>
              </a:spcBef>
              <a:buFont typeface="Wingdings" panose="05000000000000000000" pitchFamily="2" charset="2"/>
              <a:buNone/>
            </a:pPr>
            <a:r>
              <a:rPr lang="en-US" sz="2000" kern="0" dirty="0">
                <a:latin typeface="Comic Sans MS" pitchFamily="66" charset="0"/>
              </a:rPr>
              <a:t> } while (1); </a:t>
            </a:r>
          </a:p>
        </p:txBody>
      </p:sp>
    </p:spTree>
    <p:extLst>
      <p:ext uri="{BB962C8B-B14F-4D97-AF65-F5344CB8AC3E}">
        <p14:creationId xmlns:p14="http://schemas.microsoft.com/office/powerpoint/2010/main" val="18877042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116418" y="76200"/>
            <a:ext cx="7346862" cy="678712"/>
          </a:xfrm>
          <a:noFill/>
          <a:ln/>
        </p:spPr>
        <p:txBody>
          <a:bodyPr>
            <a:noAutofit/>
          </a:bodyPr>
          <a:lstStyle/>
          <a:p>
            <a:r>
              <a:rPr lang="en-US" sz="2800" dirty="0"/>
              <a:t>Mutex: Thread Synchronization</a:t>
            </a:r>
          </a:p>
        </p:txBody>
      </p:sp>
      <p:sp>
        <p:nvSpPr>
          <p:cNvPr id="2" name="Slide Number Placeholder 3">
            <a:extLst>
              <a:ext uri="{FF2B5EF4-FFF2-40B4-BE49-F238E27FC236}">
                <a16:creationId xmlns:a16="http://schemas.microsoft.com/office/drawing/2014/main" id="{71EBD5CA-6A3A-0805-A997-0DC209C75BBE}"/>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29</a:t>
            </a:fld>
            <a:endParaRPr lang="en-US" altLang="en-US" sz="1400" dirty="0">
              <a:solidFill>
                <a:schemeClr val="tx1"/>
              </a:solidFill>
              <a:latin typeface="Tahoma" panose="020B0604030504040204" pitchFamily="34" charset="0"/>
              <a:ea typeface="MS PGothic" panose="020B0600070205080204" pitchFamily="34" charset="-128"/>
            </a:endParaRPr>
          </a:p>
        </p:txBody>
      </p:sp>
      <p:pic>
        <p:nvPicPr>
          <p:cNvPr id="4" name="Picture 3">
            <a:extLst>
              <a:ext uri="{FF2B5EF4-FFF2-40B4-BE49-F238E27FC236}">
                <a16:creationId xmlns:a16="http://schemas.microsoft.com/office/drawing/2014/main" id="{F325E7B8-2C23-6583-AB41-24BDA56A15E8}"/>
              </a:ext>
            </a:extLst>
          </p:cNvPr>
          <p:cNvPicPr>
            <a:picLocks noChangeAspect="1"/>
          </p:cNvPicPr>
          <p:nvPr/>
        </p:nvPicPr>
        <p:blipFill>
          <a:blip r:embed="rId3"/>
          <a:stretch>
            <a:fillRect/>
          </a:stretch>
        </p:blipFill>
        <p:spPr>
          <a:xfrm>
            <a:off x="946506" y="4561492"/>
            <a:ext cx="3488582" cy="1656699"/>
          </a:xfrm>
          <a:prstGeom prst="rect">
            <a:avLst/>
          </a:prstGeom>
          <a:solidFill>
            <a:schemeClr val="bg1">
              <a:lumMod val="95000"/>
            </a:schemeClr>
          </a:solidFill>
          <a:ln>
            <a:noFill/>
          </a:ln>
        </p:spPr>
      </p:pic>
      <p:pic>
        <p:nvPicPr>
          <p:cNvPr id="6" name="Picture 5">
            <a:extLst>
              <a:ext uri="{FF2B5EF4-FFF2-40B4-BE49-F238E27FC236}">
                <a16:creationId xmlns:a16="http://schemas.microsoft.com/office/drawing/2014/main" id="{90FE692F-4F1D-748E-B905-7BF0CD0FA9CD}"/>
              </a:ext>
            </a:extLst>
          </p:cNvPr>
          <p:cNvPicPr>
            <a:picLocks noChangeAspect="1"/>
          </p:cNvPicPr>
          <p:nvPr/>
        </p:nvPicPr>
        <p:blipFill>
          <a:blip r:embed="rId4"/>
          <a:stretch>
            <a:fillRect/>
          </a:stretch>
        </p:blipFill>
        <p:spPr>
          <a:xfrm>
            <a:off x="5458868" y="4619707"/>
            <a:ext cx="2962372" cy="996713"/>
          </a:xfrm>
          <a:prstGeom prst="rect">
            <a:avLst/>
          </a:prstGeom>
          <a:ln>
            <a:noFill/>
          </a:ln>
        </p:spPr>
      </p:pic>
      <p:sp>
        <p:nvSpPr>
          <p:cNvPr id="7" name="Rectangle 3">
            <a:extLst>
              <a:ext uri="{FF2B5EF4-FFF2-40B4-BE49-F238E27FC236}">
                <a16:creationId xmlns:a16="http://schemas.microsoft.com/office/drawing/2014/main" id="{87F98A60-3831-EEF8-3018-92A14856F6C4}"/>
              </a:ext>
            </a:extLst>
          </p:cNvPr>
          <p:cNvSpPr txBox="1">
            <a:spLocks noChangeArrowheads="1"/>
          </p:cNvSpPr>
          <p:nvPr/>
        </p:nvSpPr>
        <p:spPr bwMode="auto">
          <a:xfrm>
            <a:off x="374031" y="1130915"/>
            <a:ext cx="8628455" cy="324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sz="2400">
                <a:solidFill>
                  <a:schemeClr val="tx1"/>
                </a:solidFill>
                <a:latin typeface="Calibri" panose="020F0502020204030204" pitchFamily="34" charset="0"/>
                <a:ea typeface="MS PGothic" pitchFamily="34" charset="-128"/>
                <a:cs typeface="Calibri" panose="020F0502020204030204" pitchFamily="34" charset="0"/>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sz="2200">
                <a:solidFill>
                  <a:schemeClr val="tx1"/>
                </a:solidFill>
                <a:latin typeface="Calibri" panose="020F0502020204030204" pitchFamily="34" charset="0"/>
                <a:ea typeface="MS PGothic" pitchFamily="34" charset="-128"/>
                <a:cs typeface="Calibri" panose="020F0502020204030204" pitchFamily="34" charset="0"/>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200">
                <a:solidFill>
                  <a:schemeClr val="tx1"/>
                </a:solidFill>
                <a:latin typeface="Calibri" panose="020F0502020204030204" pitchFamily="34" charset="0"/>
                <a:ea typeface="MS PGothic" pitchFamily="34" charset="-128"/>
                <a:cs typeface="Calibri" panose="020F0502020204030204" pitchFamily="34" charset="0"/>
              </a:defRPr>
            </a:lvl3pPr>
            <a:lvl4pPr marL="1428750" indent="-228600" algn="l" rtl="0" eaLnBrk="0" fontAlgn="base" hangingPunct="0">
              <a:spcBef>
                <a:spcPct val="35000"/>
              </a:spcBef>
              <a:spcAft>
                <a:spcPct val="0"/>
              </a:spcAft>
              <a:buClr>
                <a:schemeClr val="hlink"/>
              </a:buClr>
              <a:buSzPct val="75000"/>
              <a:buChar char="–"/>
              <a:defRPr kumimoji="1" sz="2200">
                <a:solidFill>
                  <a:schemeClr val="tx1"/>
                </a:solidFill>
                <a:latin typeface="Calibri" panose="020F0502020204030204" pitchFamily="34" charset="0"/>
                <a:ea typeface="MS PGothic" pitchFamily="34" charset="-128"/>
                <a:cs typeface="Calibri" panose="020F0502020204030204" pitchFamily="34" charset="0"/>
              </a:defRPr>
            </a:lvl4pPr>
            <a:lvl5pPr marL="1771650" indent="-228600" algn="l" rtl="0" eaLnBrk="0" fontAlgn="base" hangingPunct="0">
              <a:spcBef>
                <a:spcPct val="35000"/>
              </a:spcBef>
              <a:spcAft>
                <a:spcPct val="0"/>
              </a:spcAft>
              <a:buClr>
                <a:srgbClr val="FF0066"/>
              </a:buClr>
              <a:buSzPct val="75000"/>
              <a:buChar char="»"/>
              <a:defRPr kumimoji="1" sz="2200">
                <a:solidFill>
                  <a:schemeClr val="tx1"/>
                </a:solidFill>
                <a:latin typeface="Calibri" panose="020F0502020204030204" pitchFamily="34" charset="0"/>
                <a:ea typeface="MS PGothic" pitchFamily="34" charset="-128"/>
                <a:cs typeface="Calibri" panose="020F050202020403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spcBef>
                <a:spcPts val="1200"/>
              </a:spcBef>
            </a:pPr>
            <a:r>
              <a:rPr lang="en-US" kern="0" dirty="0"/>
              <a:t>Mutex implementation</a:t>
            </a:r>
          </a:p>
          <a:p>
            <a:pPr lvl="1">
              <a:spcBef>
                <a:spcPts val="1200"/>
              </a:spcBef>
            </a:pPr>
            <a:r>
              <a:rPr lang="en-US" kern="0" dirty="0"/>
              <a:t>two functions – </a:t>
            </a:r>
            <a:r>
              <a:rPr lang="en-US" i="1" kern="0" dirty="0">
                <a:solidFill>
                  <a:srgbClr val="FF0000"/>
                </a:solidFill>
              </a:rPr>
              <a:t>acquire() </a:t>
            </a:r>
            <a:r>
              <a:rPr lang="en-US" kern="0" dirty="0"/>
              <a:t>and </a:t>
            </a:r>
            <a:r>
              <a:rPr lang="en-US" i="1" kern="0" dirty="0">
                <a:solidFill>
                  <a:srgbClr val="FF0000"/>
                </a:solidFill>
              </a:rPr>
              <a:t>release() </a:t>
            </a:r>
          </a:p>
          <a:p>
            <a:pPr lvl="2">
              <a:spcBef>
                <a:spcPts val="600"/>
              </a:spcBef>
            </a:pPr>
            <a:r>
              <a:rPr lang="en-US" kern="0" dirty="0"/>
              <a:t>lock mechanism uses a Boolean variable </a:t>
            </a:r>
            <a:r>
              <a:rPr lang="en-US" b="1" dirty="0">
                <a:solidFill>
                  <a:srgbClr val="C00000"/>
                </a:solidFill>
              </a:rPr>
              <a:t>“available”</a:t>
            </a:r>
          </a:p>
          <a:p>
            <a:pPr lvl="2">
              <a:spcBef>
                <a:spcPts val="600"/>
              </a:spcBef>
            </a:pPr>
            <a:r>
              <a:rPr lang="en-US" kern="0" dirty="0"/>
              <a:t>value of variable indicates if lock is  </a:t>
            </a:r>
            <a:r>
              <a:rPr lang="en-US" i="1" kern="0" dirty="0">
                <a:solidFill>
                  <a:srgbClr val="FF0000"/>
                </a:solidFill>
              </a:rPr>
              <a:t>available</a:t>
            </a:r>
            <a:r>
              <a:rPr lang="en-US" kern="0" dirty="0"/>
              <a:t>  or  </a:t>
            </a:r>
            <a:r>
              <a:rPr lang="en-US" i="1" kern="0" dirty="0">
                <a:solidFill>
                  <a:srgbClr val="FF0000"/>
                </a:solidFill>
              </a:rPr>
              <a:t>not</a:t>
            </a:r>
          </a:p>
          <a:p>
            <a:pPr lvl="1">
              <a:spcBef>
                <a:spcPts val="1200"/>
              </a:spcBef>
            </a:pPr>
            <a:r>
              <a:rPr lang="en-US" sz="2300" kern="0" dirty="0"/>
              <a:t>if lock </a:t>
            </a:r>
            <a:r>
              <a:rPr lang="en-US" i="1" kern="0" dirty="0">
                <a:solidFill>
                  <a:srgbClr val="FF0000"/>
                </a:solidFill>
              </a:rPr>
              <a:t>available</a:t>
            </a:r>
            <a:r>
              <a:rPr lang="en-US" sz="2300" kern="0" dirty="0"/>
              <a:t> :    </a:t>
            </a:r>
            <a:r>
              <a:rPr lang="en-US" kern="0" dirty="0"/>
              <a:t>call to acquire() succeeds</a:t>
            </a:r>
          </a:p>
          <a:p>
            <a:pPr marL="1146175" lvl="2" indent="0" defTabSz="990600">
              <a:spcBef>
                <a:spcPts val="600"/>
              </a:spcBef>
              <a:buClr>
                <a:srgbClr val="800000"/>
              </a:buClr>
              <a:buSzPct val="100000"/>
              <a:buNone/>
            </a:pPr>
            <a:r>
              <a:rPr lang="en-US" sz="2100" kern="0" dirty="0"/>
              <a:t>		(</a:t>
            </a:r>
            <a:r>
              <a:rPr lang="en-US" sz="2100" i="1" kern="0" dirty="0"/>
              <a:t>lock then considered un-available for others)</a:t>
            </a:r>
          </a:p>
          <a:p>
            <a:pPr lvl="1">
              <a:spcBef>
                <a:spcPts val="1200"/>
              </a:spcBef>
            </a:pPr>
            <a:r>
              <a:rPr lang="en-US" kern="0" dirty="0"/>
              <a:t>initial value of  </a:t>
            </a:r>
            <a:r>
              <a:rPr lang="en-US" b="1" dirty="0">
                <a:solidFill>
                  <a:srgbClr val="C00000"/>
                </a:solidFill>
              </a:rPr>
              <a:t>available = True;</a:t>
            </a:r>
            <a:endParaRPr lang="en-US" kern="0" dirty="0"/>
          </a:p>
        </p:txBody>
      </p:sp>
    </p:spTree>
    <p:extLst>
      <p:ext uri="{BB962C8B-B14F-4D97-AF65-F5344CB8AC3E}">
        <p14:creationId xmlns:p14="http://schemas.microsoft.com/office/powerpoint/2010/main" val="30911299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116418" y="76200"/>
            <a:ext cx="7346862" cy="678712"/>
          </a:xfrm>
          <a:noFill/>
          <a:ln/>
        </p:spPr>
        <p:txBody>
          <a:bodyPr>
            <a:noAutofit/>
          </a:bodyPr>
          <a:lstStyle/>
          <a:p>
            <a:r>
              <a:rPr lang="en-US" sz="2800" dirty="0"/>
              <a:t>Mutex: Thread Synchronization</a:t>
            </a:r>
          </a:p>
        </p:txBody>
      </p:sp>
      <p:sp>
        <p:nvSpPr>
          <p:cNvPr id="12291" name="Rectangle 3"/>
          <p:cNvSpPr>
            <a:spLocks noGrp="1" noChangeArrowheads="1"/>
          </p:cNvSpPr>
          <p:nvPr>
            <p:ph idx="1"/>
          </p:nvPr>
        </p:nvSpPr>
        <p:spPr>
          <a:xfrm>
            <a:off x="414672" y="1168400"/>
            <a:ext cx="8292448" cy="5262152"/>
          </a:xfrm>
          <a:noFill/>
          <a:ln/>
        </p:spPr>
        <p:txBody>
          <a:bodyPr/>
          <a:lstStyle/>
          <a:p>
            <a:pPr>
              <a:spcBef>
                <a:spcPts val="1200"/>
              </a:spcBef>
              <a:defRPr/>
            </a:pPr>
            <a:r>
              <a:rPr lang="en-US" sz="2400" dirty="0">
                <a:latin typeface="Calibri" panose="020F0502020204030204" pitchFamily="34" charset="0"/>
                <a:cs typeface="Calibri" panose="020F0502020204030204" pitchFamily="34" charset="0"/>
              </a:rPr>
              <a:t>Calls to </a:t>
            </a:r>
            <a:r>
              <a:rPr lang="en-US" sz="2400" i="1" dirty="0">
                <a:solidFill>
                  <a:srgbClr val="C00000"/>
                </a:solidFill>
                <a:latin typeface="Calibri" panose="020F0502020204030204" pitchFamily="34" charset="0"/>
                <a:cs typeface="Calibri" panose="020F0502020204030204" pitchFamily="34" charset="0"/>
              </a:rPr>
              <a:t>acquire() </a:t>
            </a:r>
            <a:r>
              <a:rPr lang="en-US" sz="2400" dirty="0">
                <a:latin typeface="Calibri" panose="020F0502020204030204" pitchFamily="34" charset="0"/>
                <a:cs typeface="Calibri" panose="020F0502020204030204" pitchFamily="34" charset="0"/>
              </a:rPr>
              <a:t>&amp; </a:t>
            </a:r>
            <a:r>
              <a:rPr lang="en-US" i="1" dirty="0">
                <a:solidFill>
                  <a:srgbClr val="C00000"/>
                </a:solidFill>
              </a:rPr>
              <a:t>release() </a:t>
            </a:r>
            <a:r>
              <a:rPr lang="en-US" sz="2400" dirty="0">
                <a:latin typeface="Calibri" panose="020F0502020204030204" pitchFamily="34" charset="0"/>
                <a:cs typeface="Calibri" panose="020F0502020204030204" pitchFamily="34" charset="0"/>
              </a:rPr>
              <a:t>must be performed </a:t>
            </a:r>
            <a:r>
              <a:rPr lang="en-US" sz="2400" i="1" dirty="0">
                <a:solidFill>
                  <a:srgbClr val="C00000"/>
                </a:solidFill>
                <a:latin typeface="Calibri" panose="020F0502020204030204" pitchFamily="34" charset="0"/>
                <a:cs typeface="Calibri" panose="020F0502020204030204" pitchFamily="34" charset="0"/>
              </a:rPr>
              <a:t>atomically</a:t>
            </a:r>
          </a:p>
          <a:p>
            <a:pPr lvl="1">
              <a:spcBef>
                <a:spcPts val="600"/>
              </a:spcBef>
              <a:defRPr/>
            </a:pPr>
            <a:r>
              <a:rPr lang="en-US" dirty="0"/>
              <a:t>ensured by hardware mechanisms provided by system</a:t>
            </a:r>
            <a:endParaRPr lang="en-US" dirty="0">
              <a:latin typeface="Calibri" panose="020F0502020204030204" pitchFamily="34" charset="0"/>
              <a:cs typeface="Calibri" panose="020F0502020204030204" pitchFamily="34" charset="0"/>
            </a:endParaRPr>
          </a:p>
          <a:p>
            <a:pPr lvl="1">
              <a:spcBef>
                <a:spcPts val="600"/>
              </a:spcBef>
              <a:defRPr/>
            </a:pPr>
            <a:r>
              <a:rPr lang="en-US" dirty="0"/>
              <a:t>Linux OS guarantees that race condition does not occur among threads attempting to lock a mutex</a:t>
            </a:r>
            <a:endParaRPr kumimoji="0" lang="en-US" i="1" kern="1200" dirty="0">
              <a:solidFill>
                <a:srgbClr val="FF0000"/>
              </a:solidFill>
            </a:endParaRPr>
          </a:p>
          <a:p>
            <a:pPr>
              <a:spcBef>
                <a:spcPts val="2400"/>
              </a:spcBef>
              <a:defRPr/>
            </a:pPr>
            <a:r>
              <a:rPr lang="en-US" sz="2400" dirty="0">
                <a:latin typeface="Calibri" panose="020F0502020204030204" pitchFamily="34" charset="0"/>
                <a:cs typeface="Calibri" panose="020F0502020204030204" pitchFamily="34" charset="0"/>
              </a:rPr>
              <a:t>Mutex can be locked by only one thread at a time…</a:t>
            </a:r>
          </a:p>
          <a:p>
            <a:pPr lvl="1">
              <a:spcBef>
                <a:spcPts val="1200"/>
              </a:spcBef>
              <a:defRPr/>
            </a:pPr>
            <a:r>
              <a:rPr lang="en-US" dirty="0"/>
              <a:t>i</a:t>
            </a:r>
            <a:r>
              <a:rPr lang="en-US" dirty="0">
                <a:latin typeface="Calibri" panose="020F0502020204030204" pitchFamily="34" charset="0"/>
                <a:cs typeface="Calibri" panose="020F0502020204030204" pitchFamily="34" charset="0"/>
              </a:rPr>
              <a:t>f one thread locks a mutex</a:t>
            </a:r>
          </a:p>
          <a:p>
            <a:pPr lvl="1">
              <a:spcBef>
                <a:spcPts val="600"/>
              </a:spcBef>
              <a:defRPr/>
            </a:pPr>
            <a:r>
              <a:rPr lang="en-US" dirty="0">
                <a:latin typeface="Calibri" panose="020F0502020204030204" pitchFamily="34" charset="0"/>
                <a:cs typeface="Calibri" panose="020F0502020204030204" pitchFamily="34" charset="0"/>
              </a:rPr>
              <a:t>and then a second thread also tries to lock same mutex</a:t>
            </a:r>
          </a:p>
          <a:p>
            <a:pPr lvl="1">
              <a:spcBef>
                <a:spcPts val="600"/>
              </a:spcBef>
              <a:defRPr/>
            </a:pPr>
            <a:r>
              <a:rPr lang="en-US" dirty="0">
                <a:latin typeface="Calibri" panose="020F0502020204030204" pitchFamily="34" charset="0"/>
                <a:cs typeface="Calibri" panose="020F0502020204030204" pitchFamily="34" charset="0"/>
              </a:rPr>
              <a:t>second thread enters </a:t>
            </a:r>
            <a:r>
              <a:rPr lang="en-US" i="1" dirty="0">
                <a:solidFill>
                  <a:srgbClr val="C00000"/>
                </a:solidFill>
                <a:latin typeface="Calibri" panose="020F0502020204030204" pitchFamily="34" charset="0"/>
                <a:cs typeface="Calibri" panose="020F0502020204030204" pitchFamily="34" charset="0"/>
              </a:rPr>
              <a:t>busy wait</a:t>
            </a:r>
          </a:p>
          <a:p>
            <a:pPr lvl="1">
              <a:spcBef>
                <a:spcPts val="600"/>
              </a:spcBef>
              <a:defRPr/>
            </a:pPr>
            <a:r>
              <a:rPr lang="en-US" dirty="0">
                <a:latin typeface="Calibri" panose="020F0502020204030204" pitchFamily="34" charset="0"/>
                <a:cs typeface="Calibri" panose="020F0502020204030204" pitchFamily="34" charset="0"/>
              </a:rPr>
              <a:t>when </a:t>
            </a:r>
            <a:r>
              <a:rPr lang="en-US" dirty="0"/>
              <a:t>first</a:t>
            </a:r>
            <a:r>
              <a:rPr lang="en-US" dirty="0">
                <a:latin typeface="Calibri" panose="020F0502020204030204" pitchFamily="34" charset="0"/>
                <a:cs typeface="Calibri" panose="020F0502020204030204" pitchFamily="34" charset="0"/>
              </a:rPr>
              <a:t> thread unlocks the mutex</a:t>
            </a:r>
          </a:p>
          <a:p>
            <a:pPr lvl="1">
              <a:spcBef>
                <a:spcPts val="600"/>
              </a:spcBef>
              <a:defRPr/>
            </a:pPr>
            <a:r>
              <a:rPr lang="en-US" dirty="0">
                <a:latin typeface="Calibri" panose="020F0502020204030204" pitchFamily="34" charset="0"/>
                <a:cs typeface="Calibri" panose="020F0502020204030204" pitchFamily="34" charset="0"/>
              </a:rPr>
              <a:t>second thread allowed </a:t>
            </a:r>
            <a:r>
              <a:rPr lang="en-US" i="1" dirty="0">
                <a:solidFill>
                  <a:srgbClr val="C00000"/>
                </a:solidFill>
              </a:rPr>
              <a:t>access to CS</a:t>
            </a:r>
          </a:p>
        </p:txBody>
      </p:sp>
      <p:sp>
        <p:nvSpPr>
          <p:cNvPr id="2" name="Slide Number Placeholder 3">
            <a:extLst>
              <a:ext uri="{FF2B5EF4-FFF2-40B4-BE49-F238E27FC236}">
                <a16:creationId xmlns:a16="http://schemas.microsoft.com/office/drawing/2014/main" id="{71EBD5CA-6A3A-0805-A997-0DC209C75BBE}"/>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30</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32932168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p:cNvSpPr>
            <a:spLocks noGrp="1" noChangeArrowheads="1"/>
          </p:cNvSpPr>
          <p:nvPr>
            <p:ph type="title"/>
          </p:nvPr>
        </p:nvSpPr>
        <p:spPr>
          <a:xfrm>
            <a:off x="955040" y="76200"/>
            <a:ext cx="7633789" cy="675640"/>
          </a:xfrm>
        </p:spPr>
        <p:txBody>
          <a:bodyPr>
            <a:noAutofit/>
          </a:bodyPr>
          <a:lstStyle/>
          <a:p>
            <a:r>
              <a:rPr lang="en-US" dirty="0"/>
              <a:t>Use of Mutex</a:t>
            </a:r>
          </a:p>
        </p:txBody>
      </p:sp>
      <p:sp>
        <p:nvSpPr>
          <p:cNvPr id="6" name="Rectangle 3"/>
          <p:cNvSpPr txBox="1">
            <a:spLocks noChangeArrowheads="1"/>
          </p:cNvSpPr>
          <p:nvPr/>
        </p:nvSpPr>
        <p:spPr>
          <a:xfrm>
            <a:off x="487680" y="1148080"/>
            <a:ext cx="8277948" cy="5541530"/>
          </a:xfrm>
          <a:prstGeom prst="rect">
            <a:avLst/>
          </a:prstGeom>
        </p:spPr>
        <p:txBody>
          <a:bodyPr vert="horz" lIns="91440" tIns="45720" rIns="91440" bIns="45720" rtlCol="0">
            <a:noAutofit/>
          </a:bodyPr>
          <a:lstStyle/>
          <a:p>
            <a:pPr marL="346075" indent="-346075">
              <a:spcBef>
                <a:spcPts val="1200"/>
              </a:spcBef>
              <a:buFont typeface="Wingdings" panose="05000000000000000000" pitchFamily="2" charset="2"/>
              <a:buChar char="§"/>
              <a:defRPr/>
            </a:pPr>
            <a:r>
              <a:rPr lang="en-US" sz="2400" dirty="0">
                <a:latin typeface="Calibri" panose="020F0502020204030204" pitchFamily="34" charset="0"/>
                <a:cs typeface="Calibri" panose="020F0502020204030204" pitchFamily="34" charset="0"/>
              </a:rPr>
              <a:t>Create &amp; initialize a mutex variable</a:t>
            </a:r>
          </a:p>
          <a:p>
            <a:pPr marL="346075" indent="-346075">
              <a:spcBef>
                <a:spcPts val="1200"/>
              </a:spcBef>
              <a:buFont typeface="Wingdings" panose="05000000000000000000" pitchFamily="2" charset="2"/>
              <a:buChar char="§"/>
              <a:defRPr/>
            </a:pPr>
            <a:r>
              <a:rPr lang="en-US" sz="2400" dirty="0">
                <a:latin typeface="Calibri" panose="020F0502020204030204" pitchFamily="34" charset="0"/>
                <a:cs typeface="Calibri" panose="020F0502020204030204" pitchFamily="34" charset="0"/>
              </a:rPr>
              <a:t>Several threads may attempt to </a:t>
            </a:r>
            <a:r>
              <a:rPr lang="en-US" sz="2400" i="1" dirty="0">
                <a:solidFill>
                  <a:srgbClr val="FF0000"/>
                </a:solidFill>
                <a:latin typeface="Calibri" panose="020F0502020204030204" pitchFamily="34" charset="0"/>
                <a:cs typeface="Calibri" panose="020F0502020204030204" pitchFamily="34" charset="0"/>
              </a:rPr>
              <a:t>lock the mutex</a:t>
            </a:r>
          </a:p>
          <a:p>
            <a:pPr marL="746125" lvl="1" indent="-290513">
              <a:spcBef>
                <a:spcPts val="600"/>
              </a:spcBef>
              <a:buFont typeface="Arial" panose="020B0604020202020204" pitchFamily="34" charset="0"/>
              <a:buChar char="•"/>
              <a:defRPr/>
            </a:pPr>
            <a:r>
              <a:rPr lang="en-US" sz="2400" dirty="0">
                <a:latin typeface="Calibri" panose="020F0502020204030204" pitchFamily="34" charset="0"/>
                <a:cs typeface="Calibri" panose="020F0502020204030204" pitchFamily="34" charset="0"/>
              </a:rPr>
              <a:t>only one thread succeeds – </a:t>
            </a:r>
            <a:r>
              <a:rPr lang="en-US" sz="2200" i="1" dirty="0">
                <a:latin typeface="Calibri" panose="020F0502020204030204" pitchFamily="34" charset="0"/>
                <a:cs typeface="Calibri" panose="020F0502020204030204" pitchFamily="34" charset="0"/>
              </a:rPr>
              <a:t>this thread </a:t>
            </a:r>
            <a:r>
              <a:rPr lang="en-US" sz="2200" i="1" dirty="0">
                <a:solidFill>
                  <a:srgbClr val="FF0000"/>
                </a:solidFill>
                <a:latin typeface="Calibri" panose="020F0502020204030204" pitchFamily="34" charset="0"/>
                <a:cs typeface="Calibri" panose="020F0502020204030204" pitchFamily="34" charset="0"/>
              </a:rPr>
              <a:t>owns the mutex</a:t>
            </a:r>
          </a:p>
          <a:p>
            <a:pPr marL="746125" lvl="1" indent="-288925">
              <a:spcBef>
                <a:spcPts val="600"/>
              </a:spcBef>
              <a:buFont typeface="Arial" panose="020B0604020202020204" pitchFamily="34" charset="0"/>
              <a:buChar char="•"/>
              <a:defRPr/>
            </a:pPr>
            <a:r>
              <a:rPr lang="en-US" sz="2200" dirty="0">
                <a:latin typeface="Calibri" panose="020F0502020204030204" pitchFamily="34" charset="0"/>
                <a:cs typeface="Calibri" panose="020F0502020204030204" pitchFamily="34" charset="0"/>
              </a:rPr>
              <a:t>owner thread executes its CS – </a:t>
            </a:r>
            <a:r>
              <a:rPr lang="en-US" sz="2200" i="1" dirty="0">
                <a:latin typeface="Calibri" panose="020F0502020204030204" pitchFamily="34" charset="0"/>
                <a:cs typeface="Calibri" panose="020F0502020204030204" pitchFamily="34" charset="0"/>
              </a:rPr>
              <a:t>my update shared data</a:t>
            </a:r>
          </a:p>
          <a:p>
            <a:pPr marL="746125" lvl="1" indent="-288925">
              <a:spcBef>
                <a:spcPts val="600"/>
              </a:spcBef>
              <a:buFont typeface="Arial" panose="020B0604020202020204" pitchFamily="34" charset="0"/>
              <a:buChar char="•"/>
              <a:defRPr/>
            </a:pPr>
            <a:r>
              <a:rPr lang="en-US" sz="2200" i="1" dirty="0">
                <a:solidFill>
                  <a:srgbClr val="FF0000"/>
                </a:solidFill>
                <a:latin typeface="Calibri" panose="020F0502020204030204" pitchFamily="34" charset="0"/>
                <a:cs typeface="Calibri" panose="020F0502020204030204" pitchFamily="34" charset="0"/>
              </a:rPr>
              <a:t>owner</a:t>
            </a:r>
            <a:r>
              <a:rPr lang="en-US" sz="2200" dirty="0">
                <a:latin typeface="Calibri" panose="020F0502020204030204" pitchFamily="34" charset="0"/>
                <a:cs typeface="Calibri" panose="020F0502020204030204" pitchFamily="34" charset="0"/>
              </a:rPr>
              <a:t> thread </a:t>
            </a:r>
            <a:r>
              <a:rPr lang="en-US" sz="2200" i="1" dirty="0">
                <a:solidFill>
                  <a:srgbClr val="FF0000"/>
                </a:solidFill>
                <a:latin typeface="Calibri" panose="020F0502020204030204" pitchFamily="34" charset="0"/>
                <a:cs typeface="Calibri" panose="020F0502020204030204" pitchFamily="34" charset="0"/>
              </a:rPr>
              <a:t>unlocks</a:t>
            </a:r>
            <a:r>
              <a:rPr lang="en-US" sz="2200" dirty="0">
                <a:latin typeface="Calibri" panose="020F0502020204030204" pitchFamily="34" charset="0"/>
                <a:cs typeface="Calibri" panose="020F0502020204030204" pitchFamily="34" charset="0"/>
              </a:rPr>
              <a:t> the mutex</a:t>
            </a:r>
          </a:p>
          <a:p>
            <a:pPr marL="346075" indent="-346075">
              <a:spcBef>
                <a:spcPts val="1200"/>
              </a:spcBef>
              <a:buFont typeface="Wingdings" panose="05000000000000000000" pitchFamily="2" charset="2"/>
              <a:buChar char="§"/>
              <a:defRPr/>
            </a:pPr>
            <a:r>
              <a:rPr lang="en-US" sz="2400" dirty="0">
                <a:latin typeface="Calibri" panose="020F0502020204030204" pitchFamily="34" charset="0"/>
                <a:cs typeface="Calibri" panose="020F0502020204030204" pitchFamily="34" charset="0"/>
              </a:rPr>
              <a:t>Now, another thread may acquire the mutex</a:t>
            </a:r>
          </a:p>
          <a:p>
            <a:pPr marL="346075" indent="-346075">
              <a:spcBef>
                <a:spcPts val="1200"/>
              </a:spcBef>
              <a:buFont typeface="Wingdings" panose="05000000000000000000" pitchFamily="2" charset="2"/>
              <a:buChar char="§"/>
              <a:defRPr/>
            </a:pPr>
            <a:r>
              <a:rPr lang="en-US" sz="2400" dirty="0">
                <a:latin typeface="Calibri" panose="020F0502020204030204" pitchFamily="34" charset="0"/>
                <a:cs typeface="Calibri" panose="020F0502020204030204" pitchFamily="34" charset="0"/>
              </a:rPr>
              <a:t>Finally, mutex is destroyed</a:t>
            </a:r>
          </a:p>
          <a:p>
            <a:pPr marL="746125" lvl="1" indent="-290513">
              <a:spcBef>
                <a:spcPts val="600"/>
              </a:spcBef>
              <a:buFont typeface="Arial" panose="020B0604020202020204" pitchFamily="34" charset="0"/>
              <a:buChar char="•"/>
              <a:defRPr/>
            </a:pPr>
            <a:r>
              <a:rPr lang="en-US" sz="2200" b="0" i="0" dirty="0">
                <a:solidFill>
                  <a:srgbClr val="0D0D0D"/>
                </a:solidFill>
                <a:effectLst/>
                <a:highlight>
                  <a:srgbClr val="FFFFFF"/>
                </a:highlight>
                <a:latin typeface="Söhne"/>
              </a:rPr>
              <a:t>any thread can destroy a mutex</a:t>
            </a:r>
          </a:p>
          <a:p>
            <a:pPr marL="746125" lvl="1" indent="-290513">
              <a:spcBef>
                <a:spcPts val="600"/>
              </a:spcBef>
              <a:buFont typeface="Arial" panose="020B0604020202020204" pitchFamily="34" charset="0"/>
              <a:buChar char="•"/>
              <a:defRPr/>
            </a:pPr>
            <a:r>
              <a:rPr lang="en-US" sz="2200" b="0" i="0" dirty="0">
                <a:solidFill>
                  <a:srgbClr val="0D0D0D"/>
                </a:solidFill>
                <a:effectLst/>
                <a:highlight>
                  <a:srgbClr val="FFFFFF"/>
                </a:highlight>
                <a:latin typeface="Söhne"/>
              </a:rPr>
              <a:t>safe destruction requires…</a:t>
            </a:r>
          </a:p>
          <a:p>
            <a:pPr marL="1260475" lvl="2" indent="-342900">
              <a:spcBef>
                <a:spcPts val="600"/>
              </a:spcBef>
              <a:buFont typeface="Wingdings" panose="05000000000000000000" pitchFamily="2" charset="2"/>
              <a:buChar char="ü"/>
              <a:defRPr/>
            </a:pPr>
            <a:r>
              <a:rPr lang="en-US" sz="2200" dirty="0">
                <a:solidFill>
                  <a:srgbClr val="0D0D0D"/>
                </a:solidFill>
                <a:highlight>
                  <a:srgbClr val="FFFFFF"/>
                </a:highlight>
                <a:latin typeface="Söhne"/>
                <a:cs typeface="Calibri" panose="020F0502020204030204" pitchFamily="34" charset="0"/>
              </a:rPr>
              <a:t>no thread owns the mutex – </a:t>
            </a:r>
            <a:r>
              <a:rPr lang="en-US" sz="2200" i="1" dirty="0">
                <a:solidFill>
                  <a:srgbClr val="0D0D0D"/>
                </a:solidFill>
                <a:highlight>
                  <a:srgbClr val="FFFFFF"/>
                </a:highlight>
                <a:latin typeface="Söhne"/>
                <a:cs typeface="Calibri" panose="020F0502020204030204" pitchFamily="34" charset="0"/>
              </a:rPr>
              <a:t>mutex is unlocked</a:t>
            </a:r>
          </a:p>
          <a:p>
            <a:pPr marL="1260475" lvl="2" indent="-342900">
              <a:spcBef>
                <a:spcPts val="600"/>
              </a:spcBef>
              <a:buFont typeface="Wingdings" panose="05000000000000000000" pitchFamily="2" charset="2"/>
              <a:buChar char="ü"/>
              <a:defRPr/>
            </a:pPr>
            <a:r>
              <a:rPr lang="en-US" sz="2200" b="0" i="0" dirty="0">
                <a:solidFill>
                  <a:srgbClr val="0D0D0D"/>
                </a:solidFill>
                <a:effectLst/>
                <a:highlight>
                  <a:srgbClr val="FFFFFF"/>
                </a:highlight>
                <a:latin typeface="Söhne"/>
              </a:rPr>
              <a:t>no threads </a:t>
            </a:r>
            <a:r>
              <a:rPr lang="en-US" sz="2200" dirty="0">
                <a:solidFill>
                  <a:srgbClr val="0D0D0D"/>
                </a:solidFill>
                <a:highlight>
                  <a:srgbClr val="FFFFFF"/>
                </a:highlight>
                <a:latin typeface="Söhne"/>
              </a:rPr>
              <a:t>blocked on mutex – </a:t>
            </a:r>
            <a:r>
              <a:rPr lang="en-US" sz="2200" i="1" dirty="0">
                <a:solidFill>
                  <a:srgbClr val="0D0D0D"/>
                </a:solidFill>
                <a:highlight>
                  <a:srgbClr val="FFFFFF"/>
                </a:highlight>
                <a:latin typeface="Söhne"/>
                <a:cs typeface="Calibri" panose="020F0502020204030204" pitchFamily="34" charset="0"/>
              </a:rPr>
              <a:t>waiting to lock it</a:t>
            </a:r>
          </a:p>
        </p:txBody>
      </p:sp>
      <p:sp>
        <p:nvSpPr>
          <p:cNvPr id="2" name="Slide Number Placeholder 3">
            <a:extLst>
              <a:ext uri="{FF2B5EF4-FFF2-40B4-BE49-F238E27FC236}">
                <a16:creationId xmlns:a16="http://schemas.microsoft.com/office/drawing/2014/main" id="{9C08B379-6372-4130-848E-F9C15394CA85}"/>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31</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14348931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p:cNvSpPr>
            <a:spLocks noGrp="1" noChangeArrowheads="1"/>
          </p:cNvSpPr>
          <p:nvPr>
            <p:ph type="title"/>
          </p:nvPr>
        </p:nvSpPr>
        <p:spPr>
          <a:xfrm>
            <a:off x="955040" y="76200"/>
            <a:ext cx="7633789" cy="675640"/>
          </a:xfrm>
        </p:spPr>
        <p:txBody>
          <a:bodyPr>
            <a:noAutofit/>
          </a:bodyPr>
          <a:lstStyle/>
          <a:p>
            <a:r>
              <a:rPr lang="en-US" dirty="0"/>
              <a:t>Use of Mutex - </a:t>
            </a:r>
            <a:r>
              <a:rPr lang="en-US" dirty="0" err="1"/>
              <a:t>pthreads</a:t>
            </a:r>
            <a:endParaRPr lang="en-US" dirty="0"/>
          </a:p>
        </p:txBody>
      </p:sp>
      <p:sp>
        <p:nvSpPr>
          <p:cNvPr id="6" name="Rectangle 3"/>
          <p:cNvSpPr txBox="1">
            <a:spLocks noChangeArrowheads="1"/>
          </p:cNvSpPr>
          <p:nvPr/>
        </p:nvSpPr>
        <p:spPr>
          <a:xfrm>
            <a:off x="347434" y="1132049"/>
            <a:ext cx="8619672" cy="5541530"/>
          </a:xfrm>
          <a:prstGeom prst="rect">
            <a:avLst/>
          </a:prstGeom>
        </p:spPr>
        <p:txBody>
          <a:bodyPr vert="horz" lIns="91440" tIns="45720" rIns="91440" bIns="45720" rtlCol="0">
            <a:noAutofit/>
          </a:bodyPr>
          <a:lstStyle/>
          <a:p>
            <a:pPr marL="342900" indent="-342900">
              <a:spcBef>
                <a:spcPts val="600"/>
              </a:spcBef>
              <a:buFont typeface="Wingdings" panose="05000000000000000000" pitchFamily="2" charset="2"/>
              <a:buChar char="§"/>
            </a:pPr>
            <a:r>
              <a:rPr lang="en-US" sz="2300" dirty="0">
                <a:solidFill>
                  <a:srgbClr val="FF0000"/>
                </a:solidFill>
                <a:latin typeface="Calibri" panose="020F0502020204030204" pitchFamily="34" charset="0"/>
                <a:cs typeface="Calibri" panose="020F0502020204030204" pitchFamily="34" charset="0"/>
              </a:rPr>
              <a:t>Mutex declaration and initialization</a:t>
            </a:r>
          </a:p>
          <a:p>
            <a:pPr marL="346075">
              <a:spcBef>
                <a:spcPts val="1200"/>
              </a:spcBef>
            </a:pPr>
            <a:r>
              <a:rPr lang="en-US" sz="1900" b="1" dirty="0">
                <a:latin typeface="Courier New"/>
                <a:cs typeface="Courier New"/>
              </a:rPr>
              <a:t>static </a:t>
            </a:r>
            <a:r>
              <a:rPr lang="en-US" sz="1900" b="1" dirty="0" err="1">
                <a:latin typeface="Courier New"/>
                <a:cs typeface="Courier New"/>
              </a:rPr>
              <a:t>pthread_mutex_t</a:t>
            </a:r>
            <a:r>
              <a:rPr lang="en-US" sz="1900" b="1" dirty="0">
                <a:latin typeface="Courier New"/>
                <a:cs typeface="Courier New"/>
              </a:rPr>
              <a:t> mut = PTHREAD_MUTEX_INITIALIZER;</a:t>
            </a:r>
          </a:p>
          <a:p>
            <a:pPr marL="342900" indent="-342900" eaLnBrk="1" hangingPunct="1">
              <a:spcBef>
                <a:spcPts val="2400"/>
              </a:spcBef>
              <a:buFont typeface="Wingdings" panose="05000000000000000000" pitchFamily="2" charset="2"/>
              <a:buChar char="§"/>
            </a:pPr>
            <a:r>
              <a:rPr lang="en-US" sz="2300" dirty="0">
                <a:solidFill>
                  <a:srgbClr val="FF0000"/>
                </a:solidFill>
                <a:latin typeface="Calibri" panose="020F0502020204030204" pitchFamily="34" charset="0"/>
                <a:cs typeface="Calibri" panose="020F0502020204030204" pitchFamily="34" charset="0"/>
              </a:rPr>
              <a:t>Request to lock mutex object referenced by </a:t>
            </a:r>
            <a:r>
              <a:rPr lang="en-US" sz="2300" dirty="0" err="1">
                <a:solidFill>
                  <a:srgbClr val="FF0000"/>
                </a:solidFill>
                <a:latin typeface="Calibri" panose="020F0502020204030204" pitchFamily="34" charset="0"/>
                <a:cs typeface="Calibri" panose="020F0502020204030204" pitchFamily="34" charset="0"/>
              </a:rPr>
              <a:t>mptr</a:t>
            </a:r>
            <a:endParaRPr lang="en-US" sz="2300" dirty="0">
              <a:solidFill>
                <a:srgbClr val="FF0000"/>
              </a:solidFill>
              <a:latin typeface="Calibri" panose="020F0502020204030204" pitchFamily="34" charset="0"/>
              <a:cs typeface="Calibri" panose="020F0502020204030204" pitchFamily="34" charset="0"/>
            </a:endParaRPr>
          </a:p>
          <a:p>
            <a:pPr marL="346075" eaLnBrk="1" hangingPunct="1">
              <a:spcBef>
                <a:spcPts val="1200"/>
              </a:spcBef>
            </a:pPr>
            <a:r>
              <a:rPr lang="en-US" sz="1900" b="1" dirty="0">
                <a:latin typeface="Courier New"/>
                <a:cs typeface="Courier New"/>
              </a:rPr>
              <a:t>int </a:t>
            </a:r>
            <a:r>
              <a:rPr lang="en-US" sz="1900" b="1" dirty="0" err="1">
                <a:latin typeface="Courier New"/>
                <a:cs typeface="Courier New"/>
              </a:rPr>
              <a:t>pthread_mutex_lock</a:t>
            </a:r>
            <a:r>
              <a:rPr lang="en-US" sz="1900" b="1" dirty="0">
                <a:latin typeface="Courier New"/>
                <a:cs typeface="Courier New"/>
              </a:rPr>
              <a:t>( </a:t>
            </a:r>
            <a:r>
              <a:rPr lang="en-US" sz="1900" b="1" dirty="0" err="1">
                <a:latin typeface="Courier New"/>
                <a:cs typeface="Courier New"/>
              </a:rPr>
              <a:t>pthread_mutex_t</a:t>
            </a:r>
            <a:r>
              <a:rPr lang="en-US" sz="1900" b="1" dirty="0">
                <a:latin typeface="Courier New"/>
                <a:cs typeface="Courier New"/>
              </a:rPr>
              <a:t> * </a:t>
            </a:r>
            <a:r>
              <a:rPr lang="en-US" sz="1900" b="1" dirty="0" err="1">
                <a:latin typeface="Courier New"/>
                <a:cs typeface="Courier New"/>
              </a:rPr>
              <a:t>mptr</a:t>
            </a:r>
            <a:r>
              <a:rPr lang="en-US" sz="1900" b="1" dirty="0">
                <a:latin typeface="Courier New"/>
                <a:cs typeface="Courier New"/>
              </a:rPr>
              <a:t>); </a:t>
            </a:r>
          </a:p>
          <a:p>
            <a:pPr marL="731520" lvl="1" indent="-274320" eaLnBrk="1" hangingPunct="1">
              <a:spcBef>
                <a:spcPts val="1200"/>
              </a:spcBef>
              <a:buFont typeface="Arial" pitchFamily="34" charset="0"/>
              <a:buChar char="•"/>
            </a:pPr>
            <a:r>
              <a:rPr lang="en-US" sz="2200" dirty="0">
                <a:latin typeface="Calibri" panose="020F0502020204030204" pitchFamily="34" charset="0"/>
                <a:cs typeface="Calibri" panose="020F0502020204030204" pitchFamily="34" charset="0"/>
              </a:rPr>
              <a:t>used when thread wants to enter CS</a:t>
            </a:r>
          </a:p>
          <a:p>
            <a:pPr marL="731520" lvl="1" indent="-274320" eaLnBrk="1" hangingPunct="1">
              <a:spcBef>
                <a:spcPts val="600"/>
              </a:spcBef>
              <a:buFont typeface="Arial" pitchFamily="34" charset="0"/>
              <a:buChar char="•"/>
            </a:pPr>
            <a:r>
              <a:rPr kumimoji="0" lang="en-US" sz="2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if mutex already locked, calling thread enters busy wait, until </a:t>
            </a:r>
            <a:br>
              <a:rPr kumimoji="0" lang="en-US" sz="2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br>
            <a:r>
              <a:rPr kumimoji="0" lang="en-US" sz="2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mutex becomes available</a:t>
            </a:r>
          </a:p>
          <a:p>
            <a:pPr marL="342900" indent="-342900" eaLnBrk="1" hangingPunct="1">
              <a:spcBef>
                <a:spcPts val="2400"/>
              </a:spcBef>
              <a:buFont typeface="Wingdings" panose="05000000000000000000" pitchFamily="2" charset="2"/>
              <a:buChar char="§"/>
            </a:pPr>
            <a:r>
              <a:rPr lang="en-US" sz="2300" dirty="0">
                <a:solidFill>
                  <a:srgbClr val="FF0000"/>
                </a:solidFill>
                <a:latin typeface="Calibri" panose="020F0502020204030204" pitchFamily="34" charset="0"/>
                <a:cs typeface="Calibri" panose="020F0502020204030204" pitchFamily="34" charset="0"/>
              </a:rPr>
              <a:t>Releasing mutex object referenced by </a:t>
            </a:r>
            <a:r>
              <a:rPr lang="en-US" sz="2300" dirty="0" err="1">
                <a:solidFill>
                  <a:srgbClr val="FF0000"/>
                </a:solidFill>
                <a:latin typeface="Calibri" panose="020F0502020204030204" pitchFamily="34" charset="0"/>
                <a:cs typeface="Calibri" panose="020F0502020204030204" pitchFamily="34" charset="0"/>
              </a:rPr>
              <a:t>mptr</a:t>
            </a:r>
            <a:endParaRPr lang="en-US" sz="2300" dirty="0">
              <a:solidFill>
                <a:srgbClr val="FF0000"/>
              </a:solidFill>
              <a:latin typeface="Calibri" panose="020F0502020204030204" pitchFamily="34" charset="0"/>
              <a:cs typeface="Calibri" panose="020F0502020204030204" pitchFamily="34" charset="0"/>
            </a:endParaRPr>
          </a:p>
          <a:p>
            <a:pPr marL="346075" eaLnBrk="1" hangingPunct="1">
              <a:spcBef>
                <a:spcPts val="1200"/>
              </a:spcBef>
            </a:pPr>
            <a:r>
              <a:rPr lang="en-US" sz="1900" b="1" dirty="0">
                <a:latin typeface="Courier New"/>
                <a:cs typeface="Courier New"/>
              </a:rPr>
              <a:t>int </a:t>
            </a:r>
            <a:r>
              <a:rPr lang="en-US" sz="1900" b="1" dirty="0" err="1">
                <a:latin typeface="Courier New"/>
                <a:cs typeface="Courier New"/>
              </a:rPr>
              <a:t>pthread_mutex_unlock</a:t>
            </a:r>
            <a:r>
              <a:rPr lang="en-US" sz="1900" b="1" dirty="0">
                <a:latin typeface="Courier New"/>
                <a:cs typeface="Courier New"/>
              </a:rPr>
              <a:t>( </a:t>
            </a:r>
            <a:r>
              <a:rPr lang="en-US" sz="1900" b="1" dirty="0" err="1">
                <a:latin typeface="Courier New"/>
                <a:cs typeface="Courier New"/>
              </a:rPr>
              <a:t>pthread_mutex_t</a:t>
            </a:r>
            <a:r>
              <a:rPr lang="en-US" sz="1900" b="1" dirty="0">
                <a:latin typeface="Courier New"/>
                <a:cs typeface="Courier New"/>
              </a:rPr>
              <a:t> * </a:t>
            </a:r>
            <a:r>
              <a:rPr lang="en-US" sz="1900" b="1" dirty="0" err="1">
                <a:latin typeface="Courier New"/>
                <a:cs typeface="Courier New"/>
              </a:rPr>
              <a:t>mptr</a:t>
            </a:r>
            <a:r>
              <a:rPr lang="en-US" sz="1900" b="1" dirty="0">
                <a:latin typeface="Courier New"/>
                <a:cs typeface="Courier New"/>
              </a:rPr>
              <a:t>); </a:t>
            </a:r>
          </a:p>
          <a:p>
            <a:pPr marL="731520" lvl="1" indent="-274320" eaLnBrk="1" hangingPunct="1">
              <a:spcBef>
                <a:spcPts val="1200"/>
              </a:spcBef>
              <a:buFont typeface="Arial" pitchFamily="34" charset="0"/>
              <a:buChar char="•"/>
            </a:pPr>
            <a:r>
              <a:rPr lang="en-US" sz="2200" dirty="0">
                <a:latin typeface="Calibri" panose="020F0502020204030204" pitchFamily="34" charset="0"/>
                <a:cs typeface="Calibri" panose="020F0502020204030204" pitchFamily="34" charset="0"/>
              </a:rPr>
              <a:t>used when thread comes out of CS</a:t>
            </a:r>
          </a:p>
          <a:p>
            <a:pPr marL="731520" lvl="1" indent="-274320" eaLnBrk="1" hangingPunct="1">
              <a:spcBef>
                <a:spcPts val="600"/>
              </a:spcBef>
              <a:buFont typeface="Arial" pitchFamily="34" charset="0"/>
              <a:buChar char="•"/>
            </a:pPr>
            <a:r>
              <a:rPr kumimoji="0" lang="en-US" sz="22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call should be made only by owner thread</a:t>
            </a:r>
          </a:p>
          <a:p>
            <a:pPr marR="0" lvl="0" algn="l" defTabSz="914400" rtl="0" eaLnBrk="1" fontAlgn="base" latinLnBrk="0" hangingPunct="1">
              <a:spcBef>
                <a:spcPts val="600"/>
              </a:spcBef>
              <a:spcAft>
                <a:spcPct val="0"/>
              </a:spcAft>
              <a:buClrTx/>
              <a:buSzTx/>
              <a:tabLst/>
            </a:pPr>
            <a:endParaRPr kumimoji="0" lang="en-US" sz="2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a:spcBef>
                <a:spcPts val="600"/>
              </a:spcBef>
            </a:pPr>
            <a:endParaRPr lang="en-US" sz="2200" dirty="0">
              <a:latin typeface="Calibri" panose="020F0502020204030204" pitchFamily="34" charset="0"/>
              <a:cs typeface="Calibri" panose="020F0502020204030204" pitchFamily="34" charset="0"/>
            </a:endParaRPr>
          </a:p>
        </p:txBody>
      </p:sp>
      <p:sp>
        <p:nvSpPr>
          <p:cNvPr id="2" name="Slide Number Placeholder 3">
            <a:extLst>
              <a:ext uri="{FF2B5EF4-FFF2-40B4-BE49-F238E27FC236}">
                <a16:creationId xmlns:a16="http://schemas.microsoft.com/office/drawing/2014/main" id="{9C08B379-6372-4130-848E-F9C15394CA85}"/>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32</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5825405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2"/>
          <p:cNvSpPr>
            <a:spLocks noGrp="1" noChangeArrowheads="1"/>
          </p:cNvSpPr>
          <p:nvPr>
            <p:ph type="title"/>
          </p:nvPr>
        </p:nvSpPr>
        <p:spPr>
          <a:xfrm>
            <a:off x="985520" y="0"/>
            <a:ext cx="8158480" cy="708584"/>
          </a:xfrm>
        </p:spPr>
        <p:txBody>
          <a:bodyPr>
            <a:normAutofit/>
          </a:bodyPr>
          <a:lstStyle/>
          <a:p>
            <a:pPr algn="ctr" eaLnBrk="0" hangingPunct="0">
              <a:spcBef>
                <a:spcPct val="50000"/>
              </a:spcBef>
            </a:pPr>
            <a:r>
              <a:rPr lang="en-US" sz="3200" b="1" dirty="0">
                <a:ea typeface="+mj-ea"/>
                <a:cs typeface="+mj-cs"/>
              </a:rPr>
              <a:t>Example (Race Condition)</a:t>
            </a:r>
          </a:p>
        </p:txBody>
      </p:sp>
      <p:sp>
        <p:nvSpPr>
          <p:cNvPr id="2" name="Slide Number Placeholder 3">
            <a:extLst>
              <a:ext uri="{FF2B5EF4-FFF2-40B4-BE49-F238E27FC236}">
                <a16:creationId xmlns:a16="http://schemas.microsoft.com/office/drawing/2014/main" id="{1DD38CE7-44E1-4AFB-70C2-C0809384E2ED}"/>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33</a:t>
            </a:fld>
            <a:endParaRPr lang="en-US" altLang="en-US" sz="1400" dirty="0">
              <a:solidFill>
                <a:schemeClr val="tx1"/>
              </a:solidFill>
              <a:latin typeface="Tahoma" panose="020B0604030504040204" pitchFamily="34" charset="0"/>
              <a:ea typeface="MS PGothic" panose="020B0600070205080204" pitchFamily="34" charset="-128"/>
            </a:endParaRPr>
          </a:p>
        </p:txBody>
      </p:sp>
      <p:sp>
        <p:nvSpPr>
          <p:cNvPr id="6" name="Rectangle 5">
            <a:extLst>
              <a:ext uri="{FF2B5EF4-FFF2-40B4-BE49-F238E27FC236}">
                <a16:creationId xmlns:a16="http://schemas.microsoft.com/office/drawing/2014/main" id="{C0F9FE7E-E648-F163-6967-11A271A1BD35}"/>
              </a:ext>
            </a:extLst>
          </p:cNvPr>
          <p:cNvSpPr/>
          <p:nvPr/>
        </p:nvSpPr>
        <p:spPr>
          <a:xfrm>
            <a:off x="549366" y="4785360"/>
            <a:ext cx="3992154" cy="1975926"/>
          </a:xfrm>
          <a:prstGeom prst="rect">
            <a:avLst/>
          </a:prstGeom>
          <a:solidFill>
            <a:schemeClr val="bg1">
              <a:lumMod val="95000"/>
            </a:schemeClr>
          </a:solidFill>
          <a:ln w="12700">
            <a:noFill/>
          </a:ln>
        </p:spPr>
        <p:txBody>
          <a:bodyPr wrap="square">
            <a:spAutoFit/>
          </a:bodyPr>
          <a:lstStyle/>
          <a:p>
            <a:pPr marL="342900" lvl="0" indent="-342900">
              <a:spcBef>
                <a:spcPct val="20000"/>
              </a:spcBef>
              <a:defRPr/>
            </a:pPr>
            <a:r>
              <a:rPr lang="en-US" dirty="0">
                <a:latin typeface="Courier New" pitchFamily="49" charset="0"/>
                <a:cs typeface="Courier New" pitchFamily="49" charset="0"/>
              </a:rPr>
              <a:t>void * </a:t>
            </a:r>
            <a:r>
              <a:rPr lang="en-US" dirty="0" err="1">
                <a:latin typeface="Courier New" pitchFamily="49" charset="0"/>
                <a:cs typeface="Courier New" pitchFamily="49" charset="0"/>
              </a:rPr>
              <a:t>inc</a:t>
            </a:r>
            <a:r>
              <a:rPr lang="en-US" dirty="0">
                <a:latin typeface="Courier New" pitchFamily="49" charset="0"/>
                <a:cs typeface="Courier New" pitchFamily="49" charset="0"/>
              </a:rPr>
              <a:t>(void * </a:t>
            </a:r>
            <a:r>
              <a:rPr lang="en-US" dirty="0" err="1">
                <a:latin typeface="Courier New" pitchFamily="49" charset="0"/>
                <a:cs typeface="Courier New" pitchFamily="49" charset="0"/>
              </a:rPr>
              <a:t>arg</a:t>
            </a:r>
            <a:r>
              <a:rPr lang="en-US" dirty="0">
                <a:latin typeface="Courier New" pitchFamily="49" charset="0"/>
                <a:cs typeface="Courier New" pitchFamily="49" charset="0"/>
              </a:rPr>
              <a:t>){   </a:t>
            </a:r>
          </a:p>
          <a:p>
            <a:pPr marL="342900" lvl="0" indent="-342900">
              <a:spcBef>
                <a:spcPct val="20000"/>
              </a:spcBef>
              <a:defRPr/>
            </a:pPr>
            <a:r>
              <a:rPr lang="en-US" dirty="0">
                <a:latin typeface="Courier New" pitchFamily="49" charset="0"/>
                <a:cs typeface="Courier New" pitchFamily="49" charset="0"/>
              </a:rPr>
              <a:t>	for(long </a:t>
            </a:r>
            <a:r>
              <a:rPr lang="en-US" dirty="0" err="1">
                <a:latin typeface="Courier New" pitchFamily="49" charset="0"/>
                <a:cs typeface="Courier New" pitchFamily="49" charset="0"/>
              </a:rPr>
              <a:t>i</a:t>
            </a:r>
            <a:r>
              <a:rPr lang="en-US" dirty="0">
                <a:latin typeface="Courier New" pitchFamily="49" charset="0"/>
                <a:cs typeface="Courier New" pitchFamily="49" charset="0"/>
              </a:rPr>
              <a:t>=0;</a:t>
            </a:r>
            <a:br>
              <a:rPr lang="en-US" dirty="0">
                <a:latin typeface="Courier New" pitchFamily="49" charset="0"/>
                <a:cs typeface="Courier New" pitchFamily="49" charset="0"/>
              </a:rPr>
            </a:br>
            <a:r>
              <a:rPr lang="en-US" dirty="0">
                <a:latin typeface="Courier New" pitchFamily="49" charset="0"/>
                <a:cs typeface="Courier New" pitchFamily="49" charset="0"/>
              </a:rPr>
              <a:t>     </a:t>
            </a:r>
            <a:r>
              <a:rPr lang="en-US" dirty="0" err="1">
                <a:latin typeface="Courier New" pitchFamily="49" charset="0"/>
                <a:cs typeface="Courier New" pitchFamily="49" charset="0"/>
              </a:rPr>
              <a:t>i</a:t>
            </a:r>
            <a:r>
              <a:rPr lang="en-US" dirty="0">
                <a:latin typeface="Courier New" pitchFamily="49" charset="0"/>
                <a:cs typeface="Courier New" pitchFamily="49" charset="0"/>
              </a:rPr>
              <a:t>&lt;1000000; </a:t>
            </a:r>
            <a:r>
              <a:rPr lang="en-US" dirty="0" err="1">
                <a:latin typeface="Courier New" pitchFamily="49" charset="0"/>
                <a:cs typeface="Courier New" pitchFamily="49" charset="0"/>
              </a:rPr>
              <a:t>i</a:t>
            </a:r>
            <a:r>
              <a:rPr lang="en-US" dirty="0">
                <a:latin typeface="Courier New" pitchFamily="49" charset="0"/>
                <a:cs typeface="Courier New" pitchFamily="49" charset="0"/>
              </a:rPr>
              <a:t>++)</a:t>
            </a:r>
          </a:p>
          <a:p>
            <a:pPr marL="342900" lvl="0" indent="-342900">
              <a:spcBef>
                <a:spcPct val="20000"/>
              </a:spcBef>
              <a:defRPr/>
            </a:pPr>
            <a:r>
              <a:rPr lang="en-US" dirty="0">
                <a:latin typeface="Courier New" pitchFamily="49" charset="0"/>
                <a:cs typeface="Courier New" pitchFamily="49" charset="0"/>
              </a:rPr>
              <a:t>		balance++;   </a:t>
            </a:r>
          </a:p>
          <a:p>
            <a:pPr marL="342900" lvl="0" indent="-342900">
              <a:spcBef>
                <a:spcPct val="20000"/>
              </a:spcBef>
              <a:defRPr/>
            </a:pPr>
            <a:r>
              <a:rPr lang="en-US" dirty="0">
                <a:latin typeface="Courier New" pitchFamily="49" charset="0"/>
                <a:cs typeface="Courier New" pitchFamily="49" charset="0"/>
              </a:rPr>
              <a:t>	</a:t>
            </a:r>
            <a:r>
              <a:rPr lang="en-US" dirty="0" err="1">
                <a:latin typeface="Courier New" pitchFamily="49" charset="0"/>
                <a:cs typeface="Courier New" pitchFamily="49" charset="0"/>
              </a:rPr>
              <a:t>pthread_exit</a:t>
            </a:r>
            <a:r>
              <a:rPr lang="en-US" dirty="0">
                <a:latin typeface="Courier New" pitchFamily="49" charset="0"/>
                <a:cs typeface="Courier New" pitchFamily="49" charset="0"/>
              </a:rPr>
              <a:t>(NULL);</a:t>
            </a:r>
          </a:p>
          <a:p>
            <a:pPr marL="342900" lvl="0" indent="-342900">
              <a:spcBef>
                <a:spcPct val="20000"/>
              </a:spcBef>
              <a:defRPr/>
            </a:pPr>
            <a:r>
              <a:rPr lang="en-US" dirty="0">
                <a:latin typeface="Courier New" pitchFamily="49" charset="0"/>
                <a:cs typeface="Courier New" pitchFamily="49" charset="0"/>
              </a:rPr>
              <a:t>}</a:t>
            </a:r>
            <a:endParaRPr lang="en-US" i="1" dirty="0">
              <a:latin typeface="Courier New" pitchFamily="49" charset="0"/>
              <a:cs typeface="Courier New" pitchFamily="49" charset="0"/>
            </a:endParaRPr>
          </a:p>
        </p:txBody>
      </p:sp>
      <p:sp>
        <p:nvSpPr>
          <p:cNvPr id="7" name="Rectangle 6">
            <a:extLst>
              <a:ext uri="{FF2B5EF4-FFF2-40B4-BE49-F238E27FC236}">
                <a16:creationId xmlns:a16="http://schemas.microsoft.com/office/drawing/2014/main" id="{31878365-A954-991F-DBC2-247A08FF75C4}"/>
              </a:ext>
            </a:extLst>
          </p:cNvPr>
          <p:cNvSpPr txBox="1">
            <a:spLocks noChangeArrowheads="1"/>
          </p:cNvSpPr>
          <p:nvPr/>
        </p:nvSpPr>
        <p:spPr>
          <a:xfrm>
            <a:off x="538480" y="1041399"/>
            <a:ext cx="8182429" cy="3601721"/>
          </a:xfrm>
          <a:prstGeom prst="rect">
            <a:avLst/>
          </a:prstGeom>
          <a:solidFill>
            <a:schemeClr val="bg1">
              <a:lumMod val="95000"/>
            </a:schemeClr>
          </a:solidFill>
          <a:ln>
            <a:noFill/>
          </a:ln>
        </p:spPr>
        <p:txBody>
          <a:bodyPr>
            <a:noAutofit/>
          </a:bodyPr>
          <a:lstStyle/>
          <a:p>
            <a:pPr marL="342900" lvl="0" indent="-342900">
              <a:lnSpc>
                <a:spcPct val="80000"/>
              </a:lnSpc>
              <a:spcBef>
                <a:spcPct val="20000"/>
              </a:spcBef>
              <a:defRPr/>
            </a:pPr>
            <a:r>
              <a:rPr lang="en-US" sz="2000" dirty="0">
                <a:latin typeface="Courier New" pitchFamily="49" charset="0"/>
                <a:cs typeface="Courier New" pitchFamily="49" charset="0"/>
              </a:rPr>
              <a:t>long balance = 0;</a:t>
            </a:r>
          </a:p>
          <a:p>
            <a:pPr marL="342900" lvl="0" indent="-342900">
              <a:lnSpc>
                <a:spcPct val="80000"/>
              </a:lnSpc>
              <a:spcBef>
                <a:spcPct val="20000"/>
              </a:spcBef>
              <a:defRPr/>
            </a:pPr>
            <a:r>
              <a:rPr lang="en-US" sz="2000" dirty="0">
                <a:latin typeface="Courier New" pitchFamily="49" charset="0"/>
                <a:cs typeface="Courier New" pitchFamily="49" charset="0"/>
              </a:rPr>
              <a:t>void * </a:t>
            </a:r>
            <a:r>
              <a:rPr lang="en-US" sz="2000" dirty="0" err="1">
                <a:latin typeface="Courier New" pitchFamily="49" charset="0"/>
                <a:cs typeface="Courier New" pitchFamily="49" charset="0"/>
              </a:rPr>
              <a:t>inc</a:t>
            </a:r>
            <a:r>
              <a:rPr lang="en-US" sz="2000" dirty="0">
                <a:latin typeface="Courier New" pitchFamily="49" charset="0"/>
                <a:cs typeface="Courier New" pitchFamily="49" charset="0"/>
              </a:rPr>
              <a:t>(void * </a:t>
            </a:r>
            <a:r>
              <a:rPr lang="en-US" sz="2000" dirty="0" err="1">
                <a:latin typeface="Courier New" pitchFamily="49" charset="0"/>
                <a:cs typeface="Courier New" pitchFamily="49" charset="0"/>
              </a:rPr>
              <a:t>arg</a:t>
            </a:r>
            <a:r>
              <a:rPr lang="en-US" sz="2000" dirty="0">
                <a:latin typeface="Courier New" pitchFamily="49" charset="0"/>
                <a:cs typeface="Courier New" pitchFamily="49" charset="0"/>
              </a:rPr>
              <a:t>);</a:t>
            </a:r>
          </a:p>
          <a:p>
            <a:pPr marL="342900" lvl="0" indent="-342900">
              <a:lnSpc>
                <a:spcPct val="80000"/>
              </a:lnSpc>
              <a:spcBef>
                <a:spcPct val="20000"/>
              </a:spcBef>
              <a:defRPr/>
            </a:pPr>
            <a:r>
              <a:rPr lang="en-US" sz="2000" dirty="0">
                <a:latin typeface="Courier New" pitchFamily="49" charset="0"/>
                <a:cs typeface="Courier New" pitchFamily="49" charset="0"/>
              </a:rPr>
              <a:t>void * </a:t>
            </a:r>
            <a:r>
              <a:rPr lang="en-US" sz="2000" dirty="0" err="1">
                <a:latin typeface="Courier New" pitchFamily="49" charset="0"/>
                <a:cs typeface="Courier New" pitchFamily="49" charset="0"/>
              </a:rPr>
              <a:t>dec</a:t>
            </a:r>
            <a:r>
              <a:rPr lang="en-US" sz="2000" dirty="0">
                <a:latin typeface="Courier New" pitchFamily="49" charset="0"/>
                <a:cs typeface="Courier New" pitchFamily="49" charset="0"/>
              </a:rPr>
              <a:t>(void * </a:t>
            </a:r>
            <a:r>
              <a:rPr lang="en-US" sz="2000" dirty="0" err="1">
                <a:latin typeface="Courier New" pitchFamily="49" charset="0"/>
                <a:cs typeface="Courier New" pitchFamily="49" charset="0"/>
              </a:rPr>
              <a:t>arg</a:t>
            </a:r>
            <a:r>
              <a:rPr lang="en-US" sz="2000" dirty="0">
                <a:latin typeface="Courier New" pitchFamily="49" charset="0"/>
                <a:cs typeface="Courier New" pitchFamily="49" charset="0"/>
              </a:rPr>
              <a:t>);</a:t>
            </a:r>
          </a:p>
          <a:p>
            <a:pPr marL="342900" lvl="0" indent="-342900">
              <a:lnSpc>
                <a:spcPct val="80000"/>
              </a:lnSpc>
              <a:spcBef>
                <a:spcPct val="20000"/>
              </a:spcBef>
              <a:defRPr/>
            </a:pPr>
            <a:r>
              <a:rPr lang="en-US" sz="2000" dirty="0" err="1">
                <a:latin typeface="Courier New" pitchFamily="49" charset="0"/>
                <a:cs typeface="Courier New" pitchFamily="49" charset="0"/>
              </a:rPr>
              <a:t>int</a:t>
            </a:r>
            <a:r>
              <a:rPr lang="en-US" sz="2000" dirty="0">
                <a:latin typeface="Courier New" pitchFamily="49" charset="0"/>
                <a:cs typeface="Courier New" pitchFamily="49" charset="0"/>
              </a:rPr>
              <a:t> main(){   </a:t>
            </a:r>
          </a:p>
          <a:p>
            <a:pPr marL="342900" lvl="0" indent="-342900">
              <a:lnSpc>
                <a:spcPct val="80000"/>
              </a:lnSpc>
              <a:spcBef>
                <a:spcPct val="20000"/>
              </a:spcBef>
              <a:defRPr/>
            </a:pPr>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pthread_t</a:t>
            </a:r>
            <a:r>
              <a:rPr lang="en-US" sz="2000" dirty="0">
                <a:latin typeface="Courier New" pitchFamily="49" charset="0"/>
                <a:cs typeface="Courier New" pitchFamily="49" charset="0"/>
              </a:rPr>
              <a:t> t1, t2;   </a:t>
            </a:r>
          </a:p>
          <a:p>
            <a:pPr marL="342900" lvl="0" indent="-342900">
              <a:spcBef>
                <a:spcPct val="20000"/>
              </a:spcBef>
              <a:defRPr/>
            </a:pPr>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pthread_create</a:t>
            </a:r>
            <a:r>
              <a:rPr lang="en-US" sz="2000" dirty="0">
                <a:latin typeface="Courier New" pitchFamily="49" charset="0"/>
                <a:cs typeface="Courier New" pitchFamily="49" charset="0"/>
              </a:rPr>
              <a:t>(&amp;t1, NULL, </a:t>
            </a:r>
            <a:r>
              <a:rPr lang="en-US" sz="2000" dirty="0" err="1">
                <a:latin typeface="Courier New" pitchFamily="49" charset="0"/>
                <a:cs typeface="Courier New" pitchFamily="49" charset="0"/>
              </a:rPr>
              <a:t>inc</a:t>
            </a:r>
            <a:r>
              <a:rPr lang="en-US" sz="2000" dirty="0">
                <a:latin typeface="Courier New" pitchFamily="49" charset="0"/>
                <a:cs typeface="Courier New" pitchFamily="49" charset="0"/>
              </a:rPr>
              <a:t>, NULL);   </a:t>
            </a:r>
          </a:p>
          <a:p>
            <a:pPr marL="342900" lvl="0" indent="-342900">
              <a:spcBef>
                <a:spcPct val="20000"/>
              </a:spcBef>
              <a:defRPr/>
            </a:pPr>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pthread_create</a:t>
            </a:r>
            <a:r>
              <a:rPr lang="en-US" sz="2000" dirty="0">
                <a:latin typeface="Courier New" pitchFamily="49" charset="0"/>
                <a:cs typeface="Courier New" pitchFamily="49" charset="0"/>
              </a:rPr>
              <a:t>(&amp;t2, NULL, dec, NULL);   </a:t>
            </a:r>
          </a:p>
          <a:p>
            <a:pPr marL="342900" lvl="0" indent="-342900">
              <a:spcBef>
                <a:spcPct val="20000"/>
              </a:spcBef>
              <a:defRPr/>
            </a:pPr>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pthread_join</a:t>
            </a:r>
            <a:r>
              <a:rPr lang="en-US" sz="2000" dirty="0">
                <a:latin typeface="Courier New" pitchFamily="49" charset="0"/>
                <a:cs typeface="Courier New" pitchFamily="49" charset="0"/>
              </a:rPr>
              <a:t>(t1,NULL);   </a:t>
            </a:r>
            <a:r>
              <a:rPr lang="en-US" sz="2000" dirty="0" err="1">
                <a:latin typeface="Courier New" pitchFamily="49" charset="0"/>
                <a:cs typeface="Courier New" pitchFamily="49" charset="0"/>
              </a:rPr>
              <a:t>pthread_join</a:t>
            </a:r>
            <a:r>
              <a:rPr lang="en-US" sz="2000" dirty="0">
                <a:latin typeface="Courier New" pitchFamily="49" charset="0"/>
                <a:cs typeface="Courier New" pitchFamily="49" charset="0"/>
              </a:rPr>
              <a:t>(t2,NULL);   </a:t>
            </a:r>
          </a:p>
          <a:p>
            <a:pPr marL="342900" lvl="0" indent="-342900">
              <a:spcBef>
                <a:spcPct val="20000"/>
              </a:spcBef>
              <a:defRPr/>
            </a:pPr>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printf</a:t>
            </a:r>
            <a:r>
              <a:rPr lang="en-US" sz="2000" dirty="0">
                <a:latin typeface="Courier New" pitchFamily="49" charset="0"/>
                <a:cs typeface="Courier New" pitchFamily="49" charset="0"/>
              </a:rPr>
              <a:t>("Value of balance is :%</a:t>
            </a:r>
            <a:r>
              <a:rPr lang="en-US" sz="2000" dirty="0" err="1">
                <a:latin typeface="Courier New" pitchFamily="49" charset="0"/>
                <a:cs typeface="Courier New" pitchFamily="49" charset="0"/>
              </a:rPr>
              <a:t>ld</a:t>
            </a:r>
            <a:r>
              <a:rPr lang="en-US" sz="2000" dirty="0">
                <a:latin typeface="Courier New" pitchFamily="49" charset="0"/>
                <a:cs typeface="Courier New" pitchFamily="49" charset="0"/>
              </a:rPr>
              <a:t>\n", balance);   </a:t>
            </a:r>
          </a:p>
          <a:p>
            <a:pPr marL="342900" lvl="0" indent="-342900">
              <a:lnSpc>
                <a:spcPct val="80000"/>
              </a:lnSpc>
              <a:spcBef>
                <a:spcPct val="20000"/>
              </a:spcBef>
              <a:defRPr/>
            </a:pPr>
            <a:r>
              <a:rPr lang="en-US" sz="2000" dirty="0">
                <a:latin typeface="Courier New" pitchFamily="49" charset="0"/>
                <a:cs typeface="Courier New" pitchFamily="49" charset="0"/>
              </a:rPr>
              <a:t>	return 0;</a:t>
            </a:r>
          </a:p>
          <a:p>
            <a:pPr marL="342900" lvl="0" indent="-342900">
              <a:lnSpc>
                <a:spcPct val="80000"/>
              </a:lnSpc>
              <a:spcBef>
                <a:spcPct val="20000"/>
              </a:spcBef>
              <a:defRPr/>
            </a:pPr>
            <a:r>
              <a:rPr lang="en-US" sz="2000" dirty="0">
                <a:latin typeface="Courier New" pitchFamily="49" charset="0"/>
                <a:cs typeface="Courier New" pitchFamily="49" charset="0"/>
              </a:rPr>
              <a:t>}</a:t>
            </a:r>
          </a:p>
        </p:txBody>
      </p:sp>
      <p:sp>
        <p:nvSpPr>
          <p:cNvPr id="8" name="Rectangle 7">
            <a:extLst>
              <a:ext uri="{FF2B5EF4-FFF2-40B4-BE49-F238E27FC236}">
                <a16:creationId xmlns:a16="http://schemas.microsoft.com/office/drawing/2014/main" id="{3B3D8EB8-3AC0-3AC5-3B6C-C6759FA35D49}"/>
              </a:ext>
            </a:extLst>
          </p:cNvPr>
          <p:cNvSpPr/>
          <p:nvPr/>
        </p:nvSpPr>
        <p:spPr>
          <a:xfrm>
            <a:off x="4846320" y="4785360"/>
            <a:ext cx="3870234" cy="1975926"/>
          </a:xfrm>
          <a:prstGeom prst="rect">
            <a:avLst/>
          </a:prstGeom>
          <a:solidFill>
            <a:schemeClr val="bg1">
              <a:lumMod val="95000"/>
            </a:schemeClr>
          </a:solidFill>
          <a:ln w="12700">
            <a:noFill/>
          </a:ln>
        </p:spPr>
        <p:txBody>
          <a:bodyPr wrap="square">
            <a:spAutoFit/>
          </a:bodyPr>
          <a:lstStyle/>
          <a:p>
            <a:pPr marL="342900" lvl="0" indent="-342900">
              <a:spcBef>
                <a:spcPct val="20000"/>
              </a:spcBef>
              <a:defRPr/>
            </a:pPr>
            <a:r>
              <a:rPr lang="en-US" dirty="0">
                <a:latin typeface="Courier New" pitchFamily="49" charset="0"/>
                <a:cs typeface="Courier New" pitchFamily="49" charset="0"/>
              </a:rPr>
              <a:t>void * </a:t>
            </a:r>
            <a:r>
              <a:rPr lang="en-US" dirty="0" err="1">
                <a:latin typeface="Courier New" pitchFamily="49" charset="0"/>
                <a:cs typeface="Courier New" pitchFamily="49" charset="0"/>
              </a:rPr>
              <a:t>dec</a:t>
            </a:r>
            <a:r>
              <a:rPr lang="en-US" dirty="0">
                <a:latin typeface="Courier New" pitchFamily="49" charset="0"/>
                <a:cs typeface="Courier New" pitchFamily="49" charset="0"/>
              </a:rPr>
              <a:t>(void * </a:t>
            </a:r>
            <a:r>
              <a:rPr lang="en-US" dirty="0" err="1">
                <a:latin typeface="Courier New" pitchFamily="49" charset="0"/>
                <a:cs typeface="Courier New" pitchFamily="49" charset="0"/>
              </a:rPr>
              <a:t>arg</a:t>
            </a:r>
            <a:r>
              <a:rPr lang="en-US" dirty="0">
                <a:latin typeface="Courier New" pitchFamily="49" charset="0"/>
                <a:cs typeface="Courier New" pitchFamily="49" charset="0"/>
              </a:rPr>
              <a:t>){   </a:t>
            </a:r>
          </a:p>
          <a:p>
            <a:pPr marL="342900" lvl="0" indent="-342900">
              <a:spcBef>
                <a:spcPct val="20000"/>
              </a:spcBef>
              <a:defRPr/>
            </a:pPr>
            <a:r>
              <a:rPr lang="en-US" dirty="0">
                <a:latin typeface="Courier New" pitchFamily="49" charset="0"/>
                <a:cs typeface="Courier New" pitchFamily="49" charset="0"/>
              </a:rPr>
              <a:t>	for(long </a:t>
            </a:r>
            <a:r>
              <a:rPr lang="en-US" dirty="0" err="1">
                <a:latin typeface="Courier New" pitchFamily="49" charset="0"/>
                <a:cs typeface="Courier New" pitchFamily="49" charset="0"/>
              </a:rPr>
              <a:t>i</a:t>
            </a:r>
            <a:r>
              <a:rPr lang="en-US" dirty="0">
                <a:latin typeface="Courier New" pitchFamily="49" charset="0"/>
                <a:cs typeface="Courier New" pitchFamily="49" charset="0"/>
              </a:rPr>
              <a:t>=0;</a:t>
            </a:r>
            <a:br>
              <a:rPr lang="en-US" dirty="0">
                <a:latin typeface="Courier New" pitchFamily="49" charset="0"/>
                <a:cs typeface="Courier New" pitchFamily="49" charset="0"/>
              </a:rPr>
            </a:br>
            <a:r>
              <a:rPr lang="en-US" dirty="0">
                <a:latin typeface="Courier New" pitchFamily="49" charset="0"/>
                <a:cs typeface="Courier New" pitchFamily="49" charset="0"/>
              </a:rPr>
              <a:t>	 </a:t>
            </a:r>
            <a:r>
              <a:rPr lang="en-US" dirty="0" err="1">
                <a:latin typeface="Courier New" pitchFamily="49" charset="0"/>
                <a:cs typeface="Courier New" pitchFamily="49" charset="0"/>
              </a:rPr>
              <a:t>i</a:t>
            </a:r>
            <a:r>
              <a:rPr lang="en-US" dirty="0">
                <a:latin typeface="Courier New" pitchFamily="49" charset="0"/>
                <a:cs typeface="Courier New" pitchFamily="49" charset="0"/>
              </a:rPr>
              <a:t>&lt;1000000; </a:t>
            </a:r>
            <a:r>
              <a:rPr lang="en-US" dirty="0" err="1">
                <a:latin typeface="Courier New" pitchFamily="49" charset="0"/>
                <a:cs typeface="Courier New" pitchFamily="49" charset="0"/>
              </a:rPr>
              <a:t>i</a:t>
            </a:r>
            <a:r>
              <a:rPr lang="en-US" dirty="0">
                <a:latin typeface="Courier New" pitchFamily="49" charset="0"/>
                <a:cs typeface="Courier New" pitchFamily="49" charset="0"/>
              </a:rPr>
              <a:t>++)</a:t>
            </a:r>
          </a:p>
          <a:p>
            <a:pPr marL="342900" lvl="0" indent="-342900">
              <a:spcBef>
                <a:spcPct val="20000"/>
              </a:spcBef>
              <a:defRPr/>
            </a:pPr>
            <a:r>
              <a:rPr lang="en-US" dirty="0">
                <a:latin typeface="Courier New" pitchFamily="49" charset="0"/>
                <a:cs typeface="Courier New" pitchFamily="49" charset="0"/>
              </a:rPr>
              <a:t>		balance--;   </a:t>
            </a:r>
          </a:p>
          <a:p>
            <a:pPr marL="342900" lvl="0" indent="-342900">
              <a:spcBef>
                <a:spcPct val="20000"/>
              </a:spcBef>
              <a:defRPr/>
            </a:pPr>
            <a:r>
              <a:rPr lang="en-US" dirty="0">
                <a:latin typeface="Courier New" pitchFamily="49" charset="0"/>
                <a:cs typeface="Courier New" pitchFamily="49" charset="0"/>
              </a:rPr>
              <a:t>	</a:t>
            </a:r>
            <a:r>
              <a:rPr lang="en-US" dirty="0" err="1">
                <a:latin typeface="Courier New" pitchFamily="49" charset="0"/>
                <a:cs typeface="Courier New" pitchFamily="49" charset="0"/>
              </a:rPr>
              <a:t>pthread_exit</a:t>
            </a:r>
            <a:r>
              <a:rPr lang="en-US" dirty="0">
                <a:latin typeface="Courier New" pitchFamily="49" charset="0"/>
                <a:cs typeface="Courier New" pitchFamily="49" charset="0"/>
              </a:rPr>
              <a:t>(NULL);</a:t>
            </a:r>
          </a:p>
          <a:p>
            <a:pPr marL="342900" lvl="0" indent="-342900">
              <a:spcBef>
                <a:spcPct val="20000"/>
              </a:spcBef>
              <a:defRPr/>
            </a:pPr>
            <a:r>
              <a:rPr lang="en-US" dirty="0">
                <a:latin typeface="Courier New" pitchFamily="49" charset="0"/>
                <a:cs typeface="Courier New" pitchFamily="49" charset="0"/>
              </a:rPr>
              <a:t>}</a:t>
            </a:r>
            <a:endParaRPr lang="en-US" i="1" dirty="0">
              <a:latin typeface="Courier New" pitchFamily="49" charset="0"/>
              <a:cs typeface="Courier New" pitchFamily="49" charset="0"/>
            </a:endParaRPr>
          </a:p>
        </p:txBody>
      </p:sp>
    </p:spTree>
    <p:extLst>
      <p:ext uri="{BB962C8B-B14F-4D97-AF65-F5344CB8AC3E}">
        <p14:creationId xmlns:p14="http://schemas.microsoft.com/office/powerpoint/2010/main" val="4287161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2"/>
          <p:cNvSpPr>
            <a:spLocks noGrp="1" noChangeArrowheads="1"/>
          </p:cNvSpPr>
          <p:nvPr>
            <p:ph type="title"/>
          </p:nvPr>
        </p:nvSpPr>
        <p:spPr>
          <a:xfrm>
            <a:off x="985520" y="0"/>
            <a:ext cx="8158480" cy="708584"/>
          </a:xfrm>
        </p:spPr>
        <p:txBody>
          <a:bodyPr>
            <a:normAutofit/>
          </a:bodyPr>
          <a:lstStyle/>
          <a:p>
            <a:pPr algn="ctr" eaLnBrk="0" hangingPunct="0">
              <a:spcBef>
                <a:spcPct val="50000"/>
              </a:spcBef>
            </a:pPr>
            <a:r>
              <a:rPr lang="en-US" sz="3200" b="1" dirty="0">
                <a:ea typeface="+mj-ea"/>
                <a:cs typeface="+mj-cs"/>
              </a:rPr>
              <a:t>Example (Sol: Race Condition)</a:t>
            </a:r>
          </a:p>
        </p:txBody>
      </p:sp>
      <p:sp>
        <p:nvSpPr>
          <p:cNvPr id="2" name="Slide Number Placeholder 3">
            <a:extLst>
              <a:ext uri="{FF2B5EF4-FFF2-40B4-BE49-F238E27FC236}">
                <a16:creationId xmlns:a16="http://schemas.microsoft.com/office/drawing/2014/main" id="{1DD38CE7-44E1-4AFB-70C2-C0809384E2ED}"/>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34</a:t>
            </a:fld>
            <a:endParaRPr lang="en-US" altLang="en-US" sz="1400" dirty="0">
              <a:solidFill>
                <a:schemeClr val="tx1"/>
              </a:solidFill>
              <a:latin typeface="Tahoma" panose="020B0604030504040204" pitchFamily="34" charset="0"/>
              <a:ea typeface="MS PGothic" panose="020B0600070205080204" pitchFamily="34" charset="-128"/>
            </a:endParaRPr>
          </a:p>
        </p:txBody>
      </p:sp>
      <p:sp>
        <p:nvSpPr>
          <p:cNvPr id="3" name="Rectangle 6">
            <a:extLst>
              <a:ext uri="{FF2B5EF4-FFF2-40B4-BE49-F238E27FC236}">
                <a16:creationId xmlns:a16="http://schemas.microsoft.com/office/drawing/2014/main" id="{42D6BE45-44C0-F525-F9EE-82FC86C3685C}"/>
              </a:ext>
            </a:extLst>
          </p:cNvPr>
          <p:cNvSpPr txBox="1">
            <a:spLocks noChangeArrowheads="1"/>
          </p:cNvSpPr>
          <p:nvPr/>
        </p:nvSpPr>
        <p:spPr>
          <a:xfrm>
            <a:off x="468086" y="833119"/>
            <a:ext cx="8534400" cy="3688081"/>
          </a:xfrm>
          <a:prstGeom prst="rect">
            <a:avLst/>
          </a:prstGeom>
          <a:solidFill>
            <a:schemeClr val="bg1">
              <a:lumMod val="95000"/>
            </a:schemeClr>
          </a:solidFill>
          <a:ln>
            <a:solidFill>
              <a:schemeClr val="tx1"/>
            </a:solidFill>
          </a:ln>
        </p:spPr>
        <p:txBody>
          <a:bodyPr>
            <a:noAutofit/>
          </a:bodyPr>
          <a:lstStyle/>
          <a:p>
            <a:pPr marL="342900" lvl="0" indent="-342900">
              <a:spcBef>
                <a:spcPts val="300"/>
              </a:spcBef>
              <a:defRPr/>
            </a:pPr>
            <a:r>
              <a:rPr lang="en-US" sz="1700" dirty="0">
                <a:latin typeface="Courier New" pitchFamily="49" charset="0"/>
                <a:cs typeface="Courier New" pitchFamily="49" charset="0"/>
              </a:rPr>
              <a:t>long balance = 0;</a:t>
            </a:r>
          </a:p>
          <a:p>
            <a:pPr marL="342900" lvl="0" indent="-342900">
              <a:spcBef>
                <a:spcPts val="300"/>
              </a:spcBef>
              <a:defRPr/>
            </a:pPr>
            <a:r>
              <a:rPr lang="en-US" b="1" dirty="0" err="1">
                <a:solidFill>
                  <a:srgbClr val="FF0000"/>
                </a:solidFill>
                <a:latin typeface="Courier New" pitchFamily="49" charset="0"/>
                <a:cs typeface="Courier New" pitchFamily="49" charset="0"/>
              </a:rPr>
              <a:t>pthread_mutex_t</a:t>
            </a:r>
            <a:r>
              <a:rPr lang="en-US" b="1" dirty="0">
                <a:solidFill>
                  <a:srgbClr val="FF0000"/>
                </a:solidFill>
                <a:latin typeface="Courier New" pitchFamily="49" charset="0"/>
                <a:cs typeface="Courier New" pitchFamily="49" charset="0"/>
              </a:rPr>
              <a:t> mut;</a:t>
            </a:r>
          </a:p>
          <a:p>
            <a:pPr marL="342900" lvl="0" indent="-342900">
              <a:spcBef>
                <a:spcPts val="300"/>
              </a:spcBef>
              <a:defRPr/>
            </a:pPr>
            <a:r>
              <a:rPr lang="en-US" sz="1700" dirty="0" err="1">
                <a:latin typeface="Courier New" pitchFamily="49" charset="0"/>
                <a:cs typeface="Courier New" pitchFamily="49" charset="0"/>
              </a:rPr>
              <a:t>int</a:t>
            </a:r>
            <a:r>
              <a:rPr lang="en-US" sz="1700" dirty="0">
                <a:latin typeface="Courier New" pitchFamily="49" charset="0"/>
                <a:cs typeface="Courier New" pitchFamily="49" charset="0"/>
              </a:rPr>
              <a:t> main(){   </a:t>
            </a:r>
          </a:p>
          <a:p>
            <a:pPr marL="342900" lvl="0" indent="-342900">
              <a:spcBef>
                <a:spcPts val="300"/>
              </a:spcBef>
              <a:defRPr/>
            </a:pPr>
            <a:r>
              <a:rPr lang="en-US" sz="1700" dirty="0">
                <a:latin typeface="Courier New" pitchFamily="49" charset="0"/>
                <a:cs typeface="Courier New" pitchFamily="49" charset="0"/>
              </a:rPr>
              <a:t>	</a:t>
            </a:r>
            <a:r>
              <a:rPr lang="en-US" sz="1700" dirty="0" err="1">
                <a:latin typeface="Courier New" pitchFamily="49" charset="0"/>
                <a:cs typeface="Courier New" pitchFamily="49" charset="0"/>
              </a:rPr>
              <a:t>pthread_t</a:t>
            </a:r>
            <a:r>
              <a:rPr lang="en-US" sz="1700" dirty="0">
                <a:latin typeface="Courier New" pitchFamily="49" charset="0"/>
                <a:cs typeface="Courier New" pitchFamily="49" charset="0"/>
              </a:rPr>
              <a:t> t1, t2; </a:t>
            </a:r>
          </a:p>
          <a:p>
            <a:pPr marL="342900" lvl="0" indent="-342900">
              <a:spcBef>
                <a:spcPts val="300"/>
              </a:spcBef>
              <a:defRPr/>
            </a:pPr>
            <a:r>
              <a:rPr lang="en-US" dirty="0">
                <a:latin typeface="Courier New" pitchFamily="49" charset="0"/>
                <a:cs typeface="Courier New" pitchFamily="49" charset="0"/>
              </a:rPr>
              <a:t>	</a:t>
            </a:r>
            <a:r>
              <a:rPr lang="en-US" b="1" dirty="0" err="1">
                <a:solidFill>
                  <a:srgbClr val="FF0000"/>
                </a:solidFill>
                <a:latin typeface="Courier New" pitchFamily="49" charset="0"/>
                <a:cs typeface="Courier New" pitchFamily="49" charset="0"/>
              </a:rPr>
              <a:t>pthread_mutex_init</a:t>
            </a:r>
            <a:r>
              <a:rPr lang="en-US" b="1" dirty="0">
                <a:solidFill>
                  <a:srgbClr val="FF0000"/>
                </a:solidFill>
                <a:latin typeface="Courier New" pitchFamily="49" charset="0"/>
                <a:cs typeface="Courier New" pitchFamily="49" charset="0"/>
              </a:rPr>
              <a:t>(&amp;</a:t>
            </a:r>
            <a:r>
              <a:rPr lang="en-US" b="1" dirty="0" err="1">
                <a:solidFill>
                  <a:srgbClr val="FF0000"/>
                </a:solidFill>
                <a:latin typeface="Courier New" pitchFamily="49" charset="0"/>
                <a:cs typeface="Courier New" pitchFamily="49" charset="0"/>
              </a:rPr>
              <a:t>mut</a:t>
            </a:r>
            <a:r>
              <a:rPr lang="en-US" b="1" dirty="0">
                <a:solidFill>
                  <a:srgbClr val="FF0000"/>
                </a:solidFill>
                <a:latin typeface="Courier New" pitchFamily="49" charset="0"/>
                <a:cs typeface="Courier New" pitchFamily="49" charset="0"/>
              </a:rPr>
              <a:t>, NULL);  </a:t>
            </a:r>
          </a:p>
          <a:p>
            <a:pPr marL="342900" lvl="0" indent="-342900">
              <a:spcBef>
                <a:spcPts val="300"/>
              </a:spcBef>
              <a:defRPr/>
            </a:pPr>
            <a:r>
              <a:rPr lang="en-US" dirty="0">
                <a:latin typeface="Courier New" pitchFamily="49" charset="0"/>
                <a:cs typeface="Courier New" pitchFamily="49" charset="0"/>
              </a:rPr>
              <a:t>	</a:t>
            </a:r>
            <a:r>
              <a:rPr lang="en-US" sz="1700" dirty="0" err="1">
                <a:latin typeface="Courier New" pitchFamily="49" charset="0"/>
                <a:cs typeface="Courier New" pitchFamily="49" charset="0"/>
              </a:rPr>
              <a:t>pthread_create</a:t>
            </a:r>
            <a:r>
              <a:rPr lang="en-US" sz="1700" dirty="0">
                <a:latin typeface="Courier New" pitchFamily="49" charset="0"/>
                <a:cs typeface="Courier New" pitchFamily="49" charset="0"/>
              </a:rPr>
              <a:t>(&amp;t1, NULL, </a:t>
            </a:r>
            <a:r>
              <a:rPr lang="en-US" sz="1700" dirty="0" err="1">
                <a:latin typeface="Courier New" pitchFamily="49" charset="0"/>
                <a:cs typeface="Courier New" pitchFamily="49" charset="0"/>
              </a:rPr>
              <a:t>inc</a:t>
            </a:r>
            <a:r>
              <a:rPr lang="en-US" sz="1700" dirty="0">
                <a:latin typeface="Courier New" pitchFamily="49" charset="0"/>
                <a:cs typeface="Courier New" pitchFamily="49" charset="0"/>
              </a:rPr>
              <a:t>, NULL);   </a:t>
            </a:r>
          </a:p>
          <a:p>
            <a:pPr marL="342900" lvl="0" indent="-342900">
              <a:spcBef>
                <a:spcPts val="300"/>
              </a:spcBef>
              <a:defRPr/>
            </a:pPr>
            <a:r>
              <a:rPr lang="en-US" sz="1700" dirty="0">
                <a:latin typeface="Courier New" pitchFamily="49" charset="0"/>
                <a:cs typeface="Courier New" pitchFamily="49" charset="0"/>
              </a:rPr>
              <a:t>	</a:t>
            </a:r>
            <a:r>
              <a:rPr lang="en-US" sz="1700" dirty="0" err="1">
                <a:latin typeface="Courier New" pitchFamily="49" charset="0"/>
                <a:cs typeface="Courier New" pitchFamily="49" charset="0"/>
              </a:rPr>
              <a:t>pthread_create</a:t>
            </a:r>
            <a:r>
              <a:rPr lang="en-US" sz="1700" dirty="0">
                <a:latin typeface="Courier New" pitchFamily="49" charset="0"/>
                <a:cs typeface="Courier New" pitchFamily="49" charset="0"/>
              </a:rPr>
              <a:t>(&amp;t2, NULL, dec, NULL);   </a:t>
            </a:r>
          </a:p>
          <a:p>
            <a:pPr marL="342900" lvl="0" indent="-342900">
              <a:spcBef>
                <a:spcPts val="300"/>
              </a:spcBef>
              <a:defRPr/>
            </a:pPr>
            <a:r>
              <a:rPr lang="en-US" sz="1700" dirty="0">
                <a:latin typeface="Courier New" pitchFamily="49" charset="0"/>
                <a:cs typeface="Courier New" pitchFamily="49" charset="0"/>
              </a:rPr>
              <a:t>	</a:t>
            </a:r>
            <a:r>
              <a:rPr lang="en-US" sz="1700" dirty="0" err="1">
                <a:latin typeface="Courier New" pitchFamily="49" charset="0"/>
                <a:cs typeface="Courier New" pitchFamily="49" charset="0"/>
              </a:rPr>
              <a:t>pthread_join</a:t>
            </a:r>
            <a:r>
              <a:rPr lang="en-US" sz="1700" dirty="0">
                <a:latin typeface="Courier New" pitchFamily="49" charset="0"/>
                <a:cs typeface="Courier New" pitchFamily="49" charset="0"/>
              </a:rPr>
              <a:t>(t1,NULL);   </a:t>
            </a:r>
            <a:r>
              <a:rPr lang="en-US" sz="1700" dirty="0" err="1">
                <a:latin typeface="Courier New" pitchFamily="49" charset="0"/>
                <a:cs typeface="Courier New" pitchFamily="49" charset="0"/>
              </a:rPr>
              <a:t>pthread_join</a:t>
            </a:r>
            <a:r>
              <a:rPr lang="en-US" sz="1700" dirty="0">
                <a:latin typeface="Courier New" pitchFamily="49" charset="0"/>
                <a:cs typeface="Courier New" pitchFamily="49" charset="0"/>
              </a:rPr>
              <a:t>(t2,NULL);</a:t>
            </a:r>
          </a:p>
          <a:p>
            <a:pPr marL="342900" lvl="0" indent="-342900">
              <a:spcBef>
                <a:spcPts val="300"/>
              </a:spcBef>
              <a:defRPr/>
            </a:pPr>
            <a:r>
              <a:rPr lang="en-US" dirty="0">
                <a:latin typeface="Courier New" pitchFamily="49" charset="0"/>
                <a:cs typeface="Courier New" pitchFamily="49" charset="0"/>
              </a:rPr>
              <a:t>	</a:t>
            </a:r>
            <a:r>
              <a:rPr lang="en-US" b="1" dirty="0" err="1">
                <a:solidFill>
                  <a:srgbClr val="FF0000"/>
                </a:solidFill>
                <a:latin typeface="Courier New" pitchFamily="49" charset="0"/>
                <a:cs typeface="Courier New" pitchFamily="49" charset="0"/>
              </a:rPr>
              <a:t>pthread_mutex_destroy</a:t>
            </a:r>
            <a:r>
              <a:rPr lang="en-US" b="1" dirty="0">
                <a:solidFill>
                  <a:srgbClr val="FF0000"/>
                </a:solidFill>
                <a:latin typeface="Courier New" pitchFamily="49" charset="0"/>
                <a:cs typeface="Courier New" pitchFamily="49" charset="0"/>
              </a:rPr>
              <a:t>(&amp;</a:t>
            </a:r>
            <a:r>
              <a:rPr lang="en-US" b="1" dirty="0" err="1">
                <a:solidFill>
                  <a:srgbClr val="FF0000"/>
                </a:solidFill>
                <a:latin typeface="Courier New" pitchFamily="49" charset="0"/>
                <a:cs typeface="Courier New" pitchFamily="49" charset="0"/>
              </a:rPr>
              <a:t>mut</a:t>
            </a:r>
            <a:r>
              <a:rPr lang="en-US" b="1" dirty="0">
                <a:solidFill>
                  <a:srgbClr val="FF0000"/>
                </a:solidFill>
                <a:latin typeface="Courier New" pitchFamily="49" charset="0"/>
                <a:cs typeface="Courier New" pitchFamily="49" charset="0"/>
              </a:rPr>
              <a:t>);   </a:t>
            </a:r>
          </a:p>
          <a:p>
            <a:pPr marL="342900" lvl="0" indent="-342900">
              <a:spcBef>
                <a:spcPts val="300"/>
              </a:spcBef>
              <a:defRPr/>
            </a:pPr>
            <a:r>
              <a:rPr lang="en-US" dirty="0">
                <a:latin typeface="Courier New" pitchFamily="49" charset="0"/>
                <a:cs typeface="Courier New" pitchFamily="49" charset="0"/>
              </a:rPr>
              <a:t>	</a:t>
            </a:r>
            <a:r>
              <a:rPr lang="en-US" sz="1700" dirty="0" err="1">
                <a:latin typeface="Courier New" pitchFamily="49" charset="0"/>
                <a:cs typeface="Courier New" pitchFamily="49" charset="0"/>
              </a:rPr>
              <a:t>printf</a:t>
            </a:r>
            <a:r>
              <a:rPr lang="en-US" sz="1700" dirty="0">
                <a:latin typeface="Courier New" pitchFamily="49" charset="0"/>
                <a:cs typeface="Courier New" pitchFamily="49" charset="0"/>
              </a:rPr>
              <a:t>("Value of balance is :%</a:t>
            </a:r>
            <a:r>
              <a:rPr lang="en-US" sz="1700" dirty="0" err="1">
                <a:latin typeface="Courier New" pitchFamily="49" charset="0"/>
                <a:cs typeface="Courier New" pitchFamily="49" charset="0"/>
              </a:rPr>
              <a:t>ld</a:t>
            </a:r>
            <a:r>
              <a:rPr lang="en-US" sz="1700" dirty="0">
                <a:latin typeface="Courier New" pitchFamily="49" charset="0"/>
                <a:cs typeface="Courier New" pitchFamily="49" charset="0"/>
              </a:rPr>
              <a:t>\n", balance);   </a:t>
            </a:r>
          </a:p>
          <a:p>
            <a:pPr marL="342900" lvl="0" indent="-342900">
              <a:spcBef>
                <a:spcPts val="300"/>
              </a:spcBef>
              <a:defRPr/>
            </a:pPr>
            <a:r>
              <a:rPr lang="en-US" sz="1700" dirty="0">
                <a:latin typeface="Courier New" pitchFamily="49" charset="0"/>
                <a:cs typeface="Courier New" pitchFamily="49" charset="0"/>
              </a:rPr>
              <a:t>	return 0;</a:t>
            </a:r>
          </a:p>
          <a:p>
            <a:pPr marL="342900" lvl="0" indent="-342900">
              <a:spcBef>
                <a:spcPts val="300"/>
              </a:spcBef>
              <a:defRPr/>
            </a:pPr>
            <a:r>
              <a:rPr lang="en-US" dirty="0">
                <a:latin typeface="Courier New" pitchFamily="49" charset="0"/>
                <a:cs typeface="Courier New" pitchFamily="49" charset="0"/>
              </a:rPr>
              <a:t>}</a:t>
            </a:r>
          </a:p>
        </p:txBody>
      </p:sp>
      <p:sp>
        <p:nvSpPr>
          <p:cNvPr id="4" name="Rectangle 3">
            <a:extLst>
              <a:ext uri="{FF2B5EF4-FFF2-40B4-BE49-F238E27FC236}">
                <a16:creationId xmlns:a16="http://schemas.microsoft.com/office/drawing/2014/main" id="{C99B5D5C-D79E-E8C0-723E-62CC0CF5A0DE}"/>
              </a:ext>
            </a:extLst>
          </p:cNvPr>
          <p:cNvSpPr/>
          <p:nvPr/>
        </p:nvSpPr>
        <p:spPr>
          <a:xfrm>
            <a:off x="468086" y="4602480"/>
            <a:ext cx="4191000" cy="2198294"/>
          </a:xfrm>
          <a:prstGeom prst="rect">
            <a:avLst/>
          </a:prstGeom>
          <a:solidFill>
            <a:schemeClr val="bg1">
              <a:lumMod val="95000"/>
            </a:schemeClr>
          </a:solidFill>
          <a:ln w="12700">
            <a:solidFill>
              <a:schemeClr val="tx1"/>
            </a:solidFill>
          </a:ln>
        </p:spPr>
        <p:txBody>
          <a:bodyPr wrap="square">
            <a:spAutoFit/>
          </a:bodyPr>
          <a:lstStyle/>
          <a:p>
            <a:pPr marL="342900" lvl="0" indent="-342900">
              <a:spcBef>
                <a:spcPts val="600"/>
              </a:spcBef>
              <a:defRPr/>
            </a:pPr>
            <a:r>
              <a:rPr lang="en-US" sz="1700" dirty="0">
                <a:latin typeface="Courier New" pitchFamily="49" charset="0"/>
                <a:cs typeface="Courier New" pitchFamily="49" charset="0"/>
              </a:rPr>
              <a:t>void * </a:t>
            </a:r>
            <a:r>
              <a:rPr lang="en-US" sz="1700" dirty="0" err="1">
                <a:latin typeface="Courier New" pitchFamily="49" charset="0"/>
                <a:cs typeface="Courier New" pitchFamily="49" charset="0"/>
              </a:rPr>
              <a:t>dec</a:t>
            </a:r>
            <a:r>
              <a:rPr lang="en-US" sz="1700" dirty="0">
                <a:latin typeface="Courier New" pitchFamily="49" charset="0"/>
                <a:cs typeface="Courier New" pitchFamily="49" charset="0"/>
              </a:rPr>
              <a:t>(void * </a:t>
            </a:r>
            <a:r>
              <a:rPr lang="en-US" sz="1700" dirty="0" err="1">
                <a:latin typeface="Courier New" pitchFamily="49" charset="0"/>
                <a:cs typeface="Courier New" pitchFamily="49" charset="0"/>
              </a:rPr>
              <a:t>arg</a:t>
            </a:r>
            <a:r>
              <a:rPr lang="en-US" sz="1700" dirty="0">
                <a:latin typeface="Courier New" pitchFamily="49" charset="0"/>
                <a:cs typeface="Courier New" pitchFamily="49" charset="0"/>
              </a:rPr>
              <a:t>){   </a:t>
            </a:r>
          </a:p>
          <a:p>
            <a:pPr marL="342900" lvl="0" indent="-342900">
              <a:lnSpc>
                <a:spcPct val="80000"/>
              </a:lnSpc>
              <a:spcBef>
                <a:spcPct val="20000"/>
              </a:spcBef>
              <a:defRPr/>
            </a:pPr>
            <a:r>
              <a:rPr lang="en-US" sz="1700" dirty="0">
                <a:latin typeface="Courier New" pitchFamily="49" charset="0"/>
                <a:cs typeface="Courier New" pitchFamily="49" charset="0"/>
              </a:rPr>
              <a:t>  for(long </a:t>
            </a:r>
            <a:r>
              <a:rPr lang="en-US" sz="1700" dirty="0" err="1">
                <a:latin typeface="Courier New" pitchFamily="49" charset="0"/>
                <a:cs typeface="Courier New" pitchFamily="49" charset="0"/>
              </a:rPr>
              <a:t>i</a:t>
            </a:r>
            <a:r>
              <a:rPr lang="en-US" sz="1700" dirty="0">
                <a:latin typeface="Courier New" pitchFamily="49" charset="0"/>
                <a:cs typeface="Courier New" pitchFamily="49" charset="0"/>
              </a:rPr>
              <a:t>=0;i&lt;1000000;i++){</a:t>
            </a:r>
          </a:p>
          <a:p>
            <a:pPr marL="342900" lvl="0" indent="-342900">
              <a:lnSpc>
                <a:spcPct val="80000"/>
              </a:lnSpc>
              <a:spcBef>
                <a:spcPct val="20000"/>
              </a:spcBef>
              <a:defRPr/>
            </a:pPr>
            <a:r>
              <a:rPr lang="en-US" sz="1700" dirty="0">
                <a:latin typeface="Courier New" pitchFamily="49" charset="0"/>
                <a:cs typeface="Courier New" pitchFamily="49" charset="0"/>
              </a:rPr>
              <a:t>	 </a:t>
            </a:r>
            <a:r>
              <a:rPr lang="en-US" sz="1700" b="1" dirty="0" err="1">
                <a:solidFill>
                  <a:srgbClr val="FF0000"/>
                </a:solidFill>
                <a:latin typeface="Courier New" pitchFamily="49" charset="0"/>
                <a:cs typeface="Courier New" pitchFamily="49" charset="0"/>
              </a:rPr>
              <a:t>pthread_mutex_lock</a:t>
            </a:r>
            <a:r>
              <a:rPr lang="en-US" sz="1700" b="1" dirty="0">
                <a:solidFill>
                  <a:srgbClr val="FF0000"/>
                </a:solidFill>
                <a:latin typeface="Courier New" pitchFamily="49" charset="0"/>
                <a:cs typeface="Courier New" pitchFamily="49" charset="0"/>
              </a:rPr>
              <a:t>(&amp;mut);</a:t>
            </a:r>
          </a:p>
          <a:p>
            <a:pPr marL="342900" lvl="0" indent="-342900">
              <a:lnSpc>
                <a:spcPct val="80000"/>
              </a:lnSpc>
              <a:spcBef>
                <a:spcPct val="20000"/>
              </a:spcBef>
              <a:defRPr/>
            </a:pPr>
            <a:r>
              <a:rPr lang="en-US" sz="1700" dirty="0">
                <a:latin typeface="Courier New" pitchFamily="49" charset="0"/>
                <a:cs typeface="Courier New" pitchFamily="49" charset="0"/>
              </a:rPr>
              <a:t>	 balance--;   </a:t>
            </a:r>
          </a:p>
          <a:p>
            <a:pPr marL="342900" indent="-342900">
              <a:lnSpc>
                <a:spcPct val="80000"/>
              </a:lnSpc>
              <a:spcBef>
                <a:spcPct val="20000"/>
              </a:spcBef>
              <a:defRPr/>
            </a:pPr>
            <a:r>
              <a:rPr lang="en-US" sz="1700" dirty="0">
                <a:latin typeface="Courier New" pitchFamily="49" charset="0"/>
                <a:cs typeface="Courier New" pitchFamily="49" charset="0"/>
              </a:rPr>
              <a:t>	 </a:t>
            </a:r>
            <a:r>
              <a:rPr lang="en-US" sz="1700" b="1" dirty="0" err="1">
                <a:solidFill>
                  <a:srgbClr val="FF0000"/>
                </a:solidFill>
                <a:latin typeface="Courier New" pitchFamily="49" charset="0"/>
                <a:cs typeface="Courier New" pitchFamily="49" charset="0"/>
              </a:rPr>
              <a:t>pthread_mutex_unlock</a:t>
            </a:r>
            <a:r>
              <a:rPr lang="en-US" sz="1700" b="1" dirty="0">
                <a:solidFill>
                  <a:srgbClr val="FF0000"/>
                </a:solidFill>
                <a:latin typeface="Courier New" pitchFamily="49" charset="0"/>
                <a:cs typeface="Courier New" pitchFamily="49" charset="0"/>
              </a:rPr>
              <a:t>(&amp;mut);</a:t>
            </a:r>
          </a:p>
          <a:p>
            <a:pPr marL="342900" lvl="0" indent="-342900">
              <a:lnSpc>
                <a:spcPct val="80000"/>
              </a:lnSpc>
              <a:spcBef>
                <a:spcPct val="20000"/>
              </a:spcBef>
              <a:defRPr/>
            </a:pPr>
            <a:r>
              <a:rPr lang="en-US" sz="1700" dirty="0">
                <a:latin typeface="Courier New" pitchFamily="49" charset="0"/>
                <a:cs typeface="Courier New" pitchFamily="49" charset="0"/>
              </a:rPr>
              <a:t>  }</a:t>
            </a:r>
          </a:p>
          <a:p>
            <a:pPr marL="342900" lvl="0" indent="-342900">
              <a:lnSpc>
                <a:spcPct val="80000"/>
              </a:lnSpc>
              <a:spcBef>
                <a:spcPct val="20000"/>
              </a:spcBef>
              <a:defRPr/>
            </a:pPr>
            <a:r>
              <a:rPr lang="en-US" sz="1700" dirty="0">
                <a:latin typeface="Courier New" pitchFamily="49" charset="0"/>
                <a:cs typeface="Courier New" pitchFamily="49" charset="0"/>
              </a:rPr>
              <a:t>  </a:t>
            </a:r>
            <a:r>
              <a:rPr lang="en-US" sz="1700" dirty="0" err="1">
                <a:latin typeface="Courier New" pitchFamily="49" charset="0"/>
                <a:cs typeface="Courier New" pitchFamily="49" charset="0"/>
              </a:rPr>
              <a:t>pthread_exit</a:t>
            </a:r>
            <a:r>
              <a:rPr lang="en-US" sz="1700" dirty="0">
                <a:latin typeface="Courier New" pitchFamily="49" charset="0"/>
                <a:cs typeface="Courier New" pitchFamily="49" charset="0"/>
              </a:rPr>
              <a:t>(NULL);</a:t>
            </a:r>
          </a:p>
          <a:p>
            <a:pPr marL="342900" lvl="0" indent="-342900">
              <a:lnSpc>
                <a:spcPct val="80000"/>
              </a:lnSpc>
              <a:spcBef>
                <a:spcPct val="20000"/>
              </a:spcBef>
              <a:defRPr/>
            </a:pPr>
            <a:r>
              <a:rPr lang="en-US" sz="1700" dirty="0">
                <a:latin typeface="Courier New" pitchFamily="49" charset="0"/>
                <a:cs typeface="Courier New" pitchFamily="49" charset="0"/>
              </a:rPr>
              <a:t>}</a:t>
            </a:r>
            <a:endParaRPr lang="en-US" sz="1700" i="1" dirty="0">
              <a:latin typeface="Courier New" pitchFamily="49" charset="0"/>
              <a:cs typeface="Courier New" pitchFamily="49" charset="0"/>
            </a:endParaRPr>
          </a:p>
        </p:txBody>
      </p:sp>
      <p:sp>
        <p:nvSpPr>
          <p:cNvPr id="5" name="Rectangle 4">
            <a:extLst>
              <a:ext uri="{FF2B5EF4-FFF2-40B4-BE49-F238E27FC236}">
                <a16:creationId xmlns:a16="http://schemas.microsoft.com/office/drawing/2014/main" id="{D25ED3BD-1D7D-1E52-4CE3-88B69392BD7E}"/>
              </a:ext>
            </a:extLst>
          </p:cNvPr>
          <p:cNvSpPr/>
          <p:nvPr/>
        </p:nvSpPr>
        <p:spPr>
          <a:xfrm>
            <a:off x="4729480" y="4602480"/>
            <a:ext cx="4273006" cy="2198294"/>
          </a:xfrm>
          <a:prstGeom prst="rect">
            <a:avLst/>
          </a:prstGeom>
          <a:solidFill>
            <a:schemeClr val="bg1">
              <a:lumMod val="95000"/>
            </a:schemeClr>
          </a:solidFill>
          <a:ln w="12700">
            <a:solidFill>
              <a:schemeClr val="tx1"/>
            </a:solidFill>
          </a:ln>
        </p:spPr>
        <p:txBody>
          <a:bodyPr wrap="square">
            <a:spAutoFit/>
          </a:bodyPr>
          <a:lstStyle/>
          <a:p>
            <a:pPr marL="342900" lvl="0" indent="-342900">
              <a:spcBef>
                <a:spcPct val="20000"/>
              </a:spcBef>
              <a:defRPr/>
            </a:pPr>
            <a:r>
              <a:rPr lang="en-US" sz="1700" dirty="0">
                <a:latin typeface="Courier New" pitchFamily="49" charset="0"/>
                <a:cs typeface="Courier New" pitchFamily="49" charset="0"/>
              </a:rPr>
              <a:t>void * </a:t>
            </a:r>
            <a:r>
              <a:rPr lang="en-US" sz="1700" dirty="0" err="1">
                <a:latin typeface="Courier New" pitchFamily="49" charset="0"/>
                <a:cs typeface="Courier New" pitchFamily="49" charset="0"/>
              </a:rPr>
              <a:t>inc</a:t>
            </a:r>
            <a:r>
              <a:rPr lang="en-US" sz="1700" dirty="0">
                <a:latin typeface="Courier New" pitchFamily="49" charset="0"/>
                <a:cs typeface="Courier New" pitchFamily="49" charset="0"/>
              </a:rPr>
              <a:t>(void * </a:t>
            </a:r>
            <a:r>
              <a:rPr lang="en-US" sz="1700" dirty="0" err="1">
                <a:latin typeface="Courier New" pitchFamily="49" charset="0"/>
                <a:cs typeface="Courier New" pitchFamily="49" charset="0"/>
              </a:rPr>
              <a:t>arg</a:t>
            </a:r>
            <a:r>
              <a:rPr lang="en-US" sz="1700" dirty="0">
                <a:latin typeface="Courier New" pitchFamily="49" charset="0"/>
                <a:cs typeface="Courier New" pitchFamily="49" charset="0"/>
              </a:rPr>
              <a:t>){   </a:t>
            </a:r>
          </a:p>
          <a:p>
            <a:pPr marL="342900" lvl="0" indent="-342900">
              <a:lnSpc>
                <a:spcPct val="80000"/>
              </a:lnSpc>
              <a:spcBef>
                <a:spcPct val="20000"/>
              </a:spcBef>
              <a:defRPr/>
            </a:pPr>
            <a:r>
              <a:rPr lang="en-US" sz="1700" dirty="0">
                <a:latin typeface="Courier New" pitchFamily="49" charset="0"/>
                <a:cs typeface="Courier New" pitchFamily="49" charset="0"/>
              </a:rPr>
              <a:t>  for(long </a:t>
            </a:r>
            <a:r>
              <a:rPr lang="en-US" sz="1700" dirty="0" err="1">
                <a:latin typeface="Courier New" pitchFamily="49" charset="0"/>
                <a:cs typeface="Courier New" pitchFamily="49" charset="0"/>
              </a:rPr>
              <a:t>i</a:t>
            </a:r>
            <a:r>
              <a:rPr lang="en-US" sz="1700" dirty="0">
                <a:latin typeface="Courier New" pitchFamily="49" charset="0"/>
                <a:cs typeface="Courier New" pitchFamily="49" charset="0"/>
              </a:rPr>
              <a:t>=0;i&lt;1000000;i++){</a:t>
            </a:r>
          </a:p>
          <a:p>
            <a:pPr marL="342900" lvl="0" indent="-342900">
              <a:lnSpc>
                <a:spcPct val="80000"/>
              </a:lnSpc>
              <a:spcBef>
                <a:spcPct val="20000"/>
              </a:spcBef>
              <a:defRPr/>
            </a:pPr>
            <a:r>
              <a:rPr lang="en-US" sz="1700" dirty="0">
                <a:latin typeface="Courier New" pitchFamily="49" charset="0"/>
                <a:cs typeface="Courier New" pitchFamily="49" charset="0"/>
              </a:rPr>
              <a:t>	 </a:t>
            </a:r>
            <a:r>
              <a:rPr lang="en-US" sz="1700" b="1" dirty="0" err="1">
                <a:solidFill>
                  <a:srgbClr val="FF0000"/>
                </a:solidFill>
                <a:latin typeface="Courier New" pitchFamily="49" charset="0"/>
                <a:cs typeface="Courier New" pitchFamily="49" charset="0"/>
              </a:rPr>
              <a:t>pthread_mutex_lock</a:t>
            </a:r>
            <a:r>
              <a:rPr lang="en-US" sz="1700" b="1" dirty="0">
                <a:solidFill>
                  <a:srgbClr val="FF0000"/>
                </a:solidFill>
                <a:latin typeface="Courier New" pitchFamily="49" charset="0"/>
                <a:cs typeface="Courier New" pitchFamily="49" charset="0"/>
              </a:rPr>
              <a:t>(&amp;mut);</a:t>
            </a:r>
          </a:p>
          <a:p>
            <a:pPr marL="342900" lvl="0" indent="-342900">
              <a:lnSpc>
                <a:spcPct val="80000"/>
              </a:lnSpc>
              <a:spcBef>
                <a:spcPct val="20000"/>
              </a:spcBef>
              <a:defRPr/>
            </a:pPr>
            <a:r>
              <a:rPr lang="en-US" sz="1700" dirty="0">
                <a:latin typeface="Courier New" pitchFamily="49" charset="0"/>
                <a:cs typeface="Courier New" pitchFamily="49" charset="0"/>
              </a:rPr>
              <a:t>	 balance++;   </a:t>
            </a:r>
          </a:p>
          <a:p>
            <a:pPr marL="342900" indent="-342900">
              <a:lnSpc>
                <a:spcPct val="80000"/>
              </a:lnSpc>
              <a:spcBef>
                <a:spcPct val="20000"/>
              </a:spcBef>
              <a:defRPr/>
            </a:pPr>
            <a:r>
              <a:rPr lang="en-US" sz="1700" dirty="0">
                <a:latin typeface="Courier New" pitchFamily="49" charset="0"/>
                <a:cs typeface="Courier New" pitchFamily="49" charset="0"/>
              </a:rPr>
              <a:t>	 </a:t>
            </a:r>
            <a:r>
              <a:rPr lang="en-US" sz="1700" b="1" dirty="0" err="1">
                <a:solidFill>
                  <a:srgbClr val="FF0000"/>
                </a:solidFill>
                <a:latin typeface="Courier New" pitchFamily="49" charset="0"/>
                <a:cs typeface="Courier New" pitchFamily="49" charset="0"/>
              </a:rPr>
              <a:t>pthread_mutex_unlock</a:t>
            </a:r>
            <a:r>
              <a:rPr lang="en-US" sz="1700" b="1" dirty="0">
                <a:solidFill>
                  <a:srgbClr val="FF0000"/>
                </a:solidFill>
                <a:latin typeface="Courier New" pitchFamily="49" charset="0"/>
                <a:cs typeface="Courier New" pitchFamily="49" charset="0"/>
              </a:rPr>
              <a:t>(&amp;mut);</a:t>
            </a:r>
          </a:p>
          <a:p>
            <a:pPr marL="342900" lvl="0" indent="-342900">
              <a:lnSpc>
                <a:spcPct val="80000"/>
              </a:lnSpc>
              <a:spcBef>
                <a:spcPct val="20000"/>
              </a:spcBef>
              <a:defRPr/>
            </a:pPr>
            <a:r>
              <a:rPr lang="en-US" sz="1700" dirty="0">
                <a:latin typeface="Courier New" pitchFamily="49" charset="0"/>
                <a:cs typeface="Courier New" pitchFamily="49" charset="0"/>
              </a:rPr>
              <a:t>  }</a:t>
            </a:r>
          </a:p>
          <a:p>
            <a:pPr marL="342900" lvl="0" indent="-342900">
              <a:lnSpc>
                <a:spcPct val="80000"/>
              </a:lnSpc>
              <a:spcBef>
                <a:spcPct val="20000"/>
              </a:spcBef>
              <a:defRPr/>
            </a:pPr>
            <a:r>
              <a:rPr lang="en-US" sz="1700" dirty="0">
                <a:latin typeface="Courier New" pitchFamily="49" charset="0"/>
                <a:cs typeface="Courier New" pitchFamily="49" charset="0"/>
              </a:rPr>
              <a:t>  </a:t>
            </a:r>
            <a:r>
              <a:rPr lang="en-US" sz="1700" dirty="0" err="1">
                <a:latin typeface="Courier New" pitchFamily="49" charset="0"/>
                <a:cs typeface="Courier New" pitchFamily="49" charset="0"/>
              </a:rPr>
              <a:t>pthread_exit</a:t>
            </a:r>
            <a:r>
              <a:rPr lang="en-US" sz="1700" dirty="0">
                <a:latin typeface="Courier New" pitchFamily="49" charset="0"/>
                <a:cs typeface="Courier New" pitchFamily="49" charset="0"/>
              </a:rPr>
              <a:t>(NULL);</a:t>
            </a:r>
          </a:p>
          <a:p>
            <a:pPr marL="342900" lvl="0" indent="-342900">
              <a:lnSpc>
                <a:spcPct val="80000"/>
              </a:lnSpc>
              <a:spcBef>
                <a:spcPct val="20000"/>
              </a:spcBef>
              <a:defRPr/>
            </a:pPr>
            <a:r>
              <a:rPr lang="en-US" sz="1700" dirty="0">
                <a:latin typeface="Courier New" pitchFamily="49" charset="0"/>
                <a:cs typeface="Courier New" pitchFamily="49" charset="0"/>
              </a:rPr>
              <a:t>}</a:t>
            </a:r>
            <a:endParaRPr lang="en-US" sz="1700" i="1" dirty="0">
              <a:latin typeface="Courier New" pitchFamily="49" charset="0"/>
              <a:cs typeface="Courier New" pitchFamily="49" charset="0"/>
            </a:endParaRPr>
          </a:p>
        </p:txBody>
      </p:sp>
    </p:spTree>
    <p:extLst>
      <p:ext uri="{BB962C8B-B14F-4D97-AF65-F5344CB8AC3E}">
        <p14:creationId xmlns:p14="http://schemas.microsoft.com/office/powerpoint/2010/main" val="26921446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116418" y="76200"/>
            <a:ext cx="7346862" cy="678712"/>
          </a:xfrm>
          <a:noFill/>
          <a:ln/>
        </p:spPr>
        <p:txBody>
          <a:bodyPr>
            <a:noAutofit/>
          </a:bodyPr>
          <a:lstStyle/>
          <a:p>
            <a:r>
              <a:rPr lang="en-US" sz="2800" dirty="0"/>
              <a:t>Mutex: Pros &amp; Cons</a:t>
            </a:r>
          </a:p>
        </p:txBody>
      </p:sp>
      <p:sp>
        <p:nvSpPr>
          <p:cNvPr id="12291" name="Rectangle 3"/>
          <p:cNvSpPr>
            <a:spLocks noGrp="1" noChangeArrowheads="1"/>
          </p:cNvSpPr>
          <p:nvPr>
            <p:ph idx="1"/>
          </p:nvPr>
        </p:nvSpPr>
        <p:spPr>
          <a:xfrm>
            <a:off x="353712" y="1066800"/>
            <a:ext cx="8648774" cy="5486400"/>
          </a:xfrm>
          <a:noFill/>
          <a:ln/>
        </p:spPr>
        <p:txBody>
          <a:bodyPr/>
          <a:lstStyle/>
          <a:p>
            <a:pPr>
              <a:spcBef>
                <a:spcPts val="600"/>
              </a:spcBef>
              <a:defRPr/>
            </a:pPr>
            <a:r>
              <a:rPr lang="en-US" b="1" dirty="0">
                <a:solidFill>
                  <a:srgbClr val="006699"/>
                </a:solidFill>
              </a:rPr>
              <a:t>Disadvantage:  </a:t>
            </a:r>
            <a:r>
              <a:rPr lang="en-US" dirty="0"/>
              <a:t>Mutex requires </a:t>
            </a:r>
            <a:r>
              <a:rPr lang="en-US" b="1" dirty="0">
                <a:solidFill>
                  <a:srgbClr val="C00000"/>
                </a:solidFill>
              </a:rPr>
              <a:t>busy-waiting</a:t>
            </a:r>
          </a:p>
          <a:p>
            <a:pPr marL="690563" lvl="1" indent="-293688">
              <a:spcBef>
                <a:spcPts val="600"/>
              </a:spcBef>
              <a:defRPr/>
            </a:pPr>
            <a:r>
              <a:rPr lang="en-US" dirty="0"/>
              <a:t>if one process is in CS, and another tries to enter its CS, the second</a:t>
            </a:r>
            <a:br>
              <a:rPr lang="en-US" dirty="0"/>
            </a:br>
            <a:r>
              <a:rPr lang="en-US" dirty="0"/>
              <a:t>process loops continuously in call to acquire()</a:t>
            </a:r>
          </a:p>
          <a:p>
            <a:pPr marL="1033463" lvl="2" indent="-293688">
              <a:spcBef>
                <a:spcPts val="600"/>
              </a:spcBef>
              <a:defRPr/>
            </a:pPr>
            <a:r>
              <a:rPr lang="en-US" dirty="0"/>
              <a:t>process “spins” waiting for lock to be available – </a:t>
            </a:r>
            <a:r>
              <a:rPr lang="en-US" b="1" dirty="0">
                <a:solidFill>
                  <a:srgbClr val="C00000"/>
                </a:solidFill>
              </a:rPr>
              <a:t>spinlock</a:t>
            </a:r>
            <a:r>
              <a:rPr lang="en-US" dirty="0"/>
              <a:t> </a:t>
            </a:r>
          </a:p>
          <a:p>
            <a:pPr marL="690563" lvl="1">
              <a:spcBef>
                <a:spcPts val="600"/>
              </a:spcBef>
              <a:defRPr/>
            </a:pPr>
            <a:r>
              <a:rPr lang="en-US" dirty="0">
                <a:solidFill>
                  <a:srgbClr val="C00000"/>
                </a:solidFill>
              </a:rPr>
              <a:t>busy waiting </a:t>
            </a:r>
            <a:r>
              <a:rPr lang="en-US" dirty="0"/>
              <a:t>is an issue in multiprogramming</a:t>
            </a:r>
          </a:p>
          <a:p>
            <a:pPr marL="1033463" lvl="2" indent="-293688">
              <a:spcBef>
                <a:spcPts val="600"/>
              </a:spcBef>
              <a:defRPr/>
            </a:pPr>
            <a:r>
              <a:rPr lang="en-US" dirty="0"/>
              <a:t>single CPU is shared among many processes</a:t>
            </a:r>
          </a:p>
          <a:p>
            <a:pPr marL="1033463" lvl="2" indent="-293688">
              <a:spcBef>
                <a:spcPts val="600"/>
              </a:spcBef>
              <a:defRPr/>
            </a:pPr>
            <a:r>
              <a:rPr lang="en-US" dirty="0"/>
              <a:t>looping wastes CPU cycles that others may use</a:t>
            </a:r>
          </a:p>
          <a:p>
            <a:pPr>
              <a:spcBef>
                <a:spcPts val="1800"/>
              </a:spcBef>
              <a:defRPr/>
            </a:pPr>
            <a:r>
              <a:rPr lang="en-US" b="1" dirty="0">
                <a:solidFill>
                  <a:srgbClr val="006699"/>
                </a:solidFill>
              </a:rPr>
              <a:t>Advantage:  </a:t>
            </a:r>
            <a:r>
              <a:rPr lang="en-US" dirty="0"/>
              <a:t>no context switching, when process waits on lock</a:t>
            </a:r>
          </a:p>
          <a:p>
            <a:pPr marL="690563" lvl="1">
              <a:spcBef>
                <a:spcPts val="600"/>
              </a:spcBef>
              <a:defRPr/>
            </a:pPr>
            <a:r>
              <a:rPr lang="en-US" dirty="0"/>
              <a:t>context switch takes time</a:t>
            </a:r>
          </a:p>
          <a:p>
            <a:pPr marL="690563" lvl="1">
              <a:spcBef>
                <a:spcPts val="600"/>
              </a:spcBef>
              <a:defRPr/>
            </a:pPr>
            <a:r>
              <a:rPr lang="en-US" dirty="0"/>
              <a:t>when lock expected for short times, </a:t>
            </a:r>
            <a:r>
              <a:rPr lang="en-US" b="1" dirty="0">
                <a:solidFill>
                  <a:srgbClr val="C00000"/>
                </a:solidFill>
              </a:rPr>
              <a:t>spinlock</a:t>
            </a:r>
            <a:r>
              <a:rPr lang="en-US" dirty="0"/>
              <a:t> is useful</a:t>
            </a:r>
          </a:p>
          <a:p>
            <a:pPr marL="690563" lvl="1">
              <a:spcBef>
                <a:spcPts val="600"/>
              </a:spcBef>
              <a:defRPr/>
            </a:pPr>
            <a:r>
              <a:rPr lang="en-US" dirty="0"/>
              <a:t>often employed on multiprocessor systems</a:t>
            </a:r>
          </a:p>
          <a:p>
            <a:pPr marL="1033463" lvl="2">
              <a:spcBef>
                <a:spcPts val="0"/>
              </a:spcBef>
              <a:defRPr/>
            </a:pPr>
            <a:r>
              <a:rPr lang="en-US" dirty="0"/>
              <a:t>one thread spins on one processor</a:t>
            </a:r>
          </a:p>
          <a:p>
            <a:pPr marL="1033463" lvl="2">
              <a:spcBef>
                <a:spcPts val="0"/>
              </a:spcBef>
              <a:defRPr/>
            </a:pPr>
            <a:r>
              <a:rPr lang="en-US" dirty="0"/>
              <a:t>another executes in CS on another processor</a:t>
            </a:r>
          </a:p>
          <a:p>
            <a:pPr>
              <a:spcBef>
                <a:spcPts val="600"/>
              </a:spcBef>
              <a:defRPr/>
            </a:pPr>
            <a:endParaRPr lang="en-US" dirty="0"/>
          </a:p>
        </p:txBody>
      </p:sp>
      <p:sp>
        <p:nvSpPr>
          <p:cNvPr id="2" name="Slide Number Placeholder 3">
            <a:extLst>
              <a:ext uri="{FF2B5EF4-FFF2-40B4-BE49-F238E27FC236}">
                <a16:creationId xmlns:a16="http://schemas.microsoft.com/office/drawing/2014/main" id="{71EBD5CA-6A3A-0805-A997-0DC209C75BBE}"/>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35</a:t>
            </a:fld>
            <a:endParaRPr lang="en-US" altLang="en-US" sz="1400" dirty="0">
              <a:solidFill>
                <a:schemeClr val="tx1"/>
              </a:solidFill>
              <a:latin typeface="Tahoma" panose="020B0604030504040204" pitchFamily="34" charset="0"/>
              <a:ea typeface="MS PGothic" panose="020B0600070205080204" pitchFamily="34" charset="-128"/>
            </a:endParaRPr>
          </a:p>
        </p:txBody>
      </p:sp>
    </p:spTree>
    <p:extLst>
      <p:ext uri="{BB962C8B-B14F-4D97-AF65-F5344CB8AC3E}">
        <p14:creationId xmlns:p14="http://schemas.microsoft.com/office/powerpoint/2010/main" val="29931779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p:cNvSpPr>
            <a:spLocks noGrp="1" noChangeArrowheads="1"/>
          </p:cNvSpPr>
          <p:nvPr>
            <p:ph type="title"/>
          </p:nvPr>
        </p:nvSpPr>
        <p:spPr>
          <a:xfrm>
            <a:off x="1280160" y="70620"/>
            <a:ext cx="7162800" cy="671060"/>
          </a:xfrm>
        </p:spPr>
        <p:txBody>
          <a:bodyPr>
            <a:noAutofit/>
          </a:bodyPr>
          <a:lstStyle/>
          <a:p>
            <a:r>
              <a:rPr lang="en-US" dirty="0"/>
              <a:t>Mutex Mistakes</a:t>
            </a:r>
          </a:p>
        </p:txBody>
      </p:sp>
      <p:sp>
        <p:nvSpPr>
          <p:cNvPr id="6" name="Rectangle 3"/>
          <p:cNvSpPr txBox="1">
            <a:spLocks noChangeArrowheads="1"/>
          </p:cNvSpPr>
          <p:nvPr/>
        </p:nvSpPr>
        <p:spPr>
          <a:xfrm>
            <a:off x="508000" y="1188720"/>
            <a:ext cx="8442960" cy="4968240"/>
          </a:xfrm>
          <a:prstGeom prst="rect">
            <a:avLst/>
          </a:prstGeom>
        </p:spPr>
        <p:txBody>
          <a:bodyPr vert="horz" lIns="91440" tIns="45720" rIns="91440" bIns="45720" rtlCol="0">
            <a:noAutofit/>
          </a:bodyPr>
          <a:lstStyle/>
          <a:p>
            <a:pPr marL="346075" indent="-346075" defTabSz="457200">
              <a:lnSpc>
                <a:spcPct val="150000"/>
              </a:lnSpc>
              <a:buFont typeface="Wingdings" panose="05000000000000000000" pitchFamily="2" charset="2"/>
              <a:buChar char="§"/>
            </a:pPr>
            <a:r>
              <a:rPr lang="en-US" sz="2400" dirty="0">
                <a:latin typeface="Calibri" panose="020F0502020204030204" pitchFamily="34" charset="0"/>
                <a:cs typeface="Calibri" panose="020F0502020204030204" pitchFamily="34" charset="0"/>
              </a:rPr>
              <a:t>Do not lock a mutex that is already locked</a:t>
            </a:r>
          </a:p>
          <a:p>
            <a:pPr marL="346075" indent="-346075" defTabSz="457200">
              <a:lnSpc>
                <a:spcPct val="150000"/>
              </a:lnSpc>
              <a:buFont typeface="Wingdings" panose="05000000000000000000" pitchFamily="2" charset="2"/>
              <a:buChar char="§"/>
            </a:pPr>
            <a:r>
              <a:rPr lang="en-US" sz="2400" dirty="0">
                <a:latin typeface="Calibri" panose="020F0502020204030204" pitchFamily="34" charset="0"/>
                <a:cs typeface="Calibri" panose="020F0502020204030204" pitchFamily="34" charset="0"/>
              </a:rPr>
              <a:t>Do not unlock a mutex that is already unlocked</a:t>
            </a:r>
          </a:p>
          <a:p>
            <a:pPr marL="346075" indent="-346075" defTabSz="457200">
              <a:lnSpc>
                <a:spcPct val="150000"/>
              </a:lnSpc>
              <a:buFont typeface="Wingdings" panose="05000000000000000000" pitchFamily="2" charset="2"/>
              <a:buChar char="§"/>
            </a:pPr>
            <a:r>
              <a:rPr lang="en-US" sz="2400" dirty="0">
                <a:latin typeface="Calibri" panose="020F0502020204030204" pitchFamily="34" charset="0"/>
                <a:cs typeface="Calibri" panose="020F0502020204030204" pitchFamily="34" charset="0"/>
              </a:rPr>
              <a:t>Only the owner of mutex, should unlock the mutex</a:t>
            </a:r>
          </a:p>
          <a:p>
            <a:pPr marL="346075" indent="-346075" defTabSz="457200">
              <a:lnSpc>
                <a:spcPct val="150000"/>
              </a:lnSpc>
              <a:buFont typeface="Wingdings" panose="05000000000000000000" pitchFamily="2" charset="2"/>
              <a:buChar char="§"/>
            </a:pPr>
            <a:r>
              <a:rPr lang="en-US" sz="2400" dirty="0">
                <a:latin typeface="Calibri" panose="020F0502020204030204" pitchFamily="34" charset="0"/>
                <a:cs typeface="Calibri" panose="020F0502020204030204" pitchFamily="34" charset="0"/>
              </a:rPr>
              <a:t>Do not destroy a locked mutex</a:t>
            </a:r>
          </a:p>
        </p:txBody>
      </p:sp>
      <p:sp>
        <p:nvSpPr>
          <p:cNvPr id="2" name="Slide Number Placeholder 3">
            <a:extLst>
              <a:ext uri="{FF2B5EF4-FFF2-40B4-BE49-F238E27FC236}">
                <a16:creationId xmlns:a16="http://schemas.microsoft.com/office/drawing/2014/main" id="{210525A6-E57B-5A68-B4B9-B54E977B1BF0}"/>
              </a:ext>
            </a:extLst>
          </p:cNvPr>
          <p:cNvSpPr txBox="1">
            <a:spLocks/>
          </p:cNvSpPr>
          <p:nvPr/>
        </p:nvSpPr>
        <p:spPr bwMode="auto">
          <a:xfrm>
            <a:off x="8588829" y="6389912"/>
            <a:ext cx="413657" cy="37510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smtClean="0">
                <a:solidFill>
                  <a:srgbClr val="898989"/>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fld id="{E2418860-B345-4524-9314-FE51DF6E4AD1}" type="slidenum">
              <a:rPr lang="en-US" altLang="en-PK" sz="1400" smtClean="0">
                <a:solidFill>
                  <a:schemeClr val="tx1"/>
                </a:solidFill>
              </a:rPr>
              <a:pPr/>
              <a:t>36</a:t>
            </a:fld>
            <a:endParaRPr lang="en-US" altLang="en-US" sz="1400" dirty="0">
              <a:solidFill>
                <a:schemeClr val="tx1"/>
              </a:solidFill>
              <a:latin typeface="Tahoma" panose="020B0604030504040204" pitchFamily="34" charset="0"/>
              <a:ea typeface="MS PGothic" panose="020B0600070205080204" pitchFamily="34" charset="-128"/>
            </a:endParaRP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34400</TotalTime>
  <Words>4078</Words>
  <Application>Microsoft Office PowerPoint</Application>
  <PresentationFormat>On-screen Show (4:3)</PresentationFormat>
  <Paragraphs>573</Paragraphs>
  <Slides>36</Slides>
  <Notes>35</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36</vt:i4>
      </vt:variant>
    </vt:vector>
  </HeadingPairs>
  <TitlesOfParts>
    <vt:vector size="52" baseType="lpstr">
      <vt:lpstr>Abadi</vt:lpstr>
      <vt:lpstr>Arial</vt:lpstr>
      <vt:lpstr>Calibri</vt:lpstr>
      <vt:lpstr>Comic Sans MS</vt:lpstr>
      <vt:lpstr>Courier New</vt:lpstr>
      <vt:lpstr>Gill Sans MT</vt:lpstr>
      <vt:lpstr>Helvetica</vt:lpstr>
      <vt:lpstr>Monotype Sorts</vt:lpstr>
      <vt:lpstr>Söhne</vt:lpstr>
      <vt:lpstr>Tahoma</vt:lpstr>
      <vt:lpstr>Times New Roman</vt:lpstr>
      <vt:lpstr>Verdana</vt:lpstr>
      <vt:lpstr>Webdings</vt:lpstr>
      <vt:lpstr>Wingdings</vt:lpstr>
      <vt:lpstr>Wingdings 2</vt:lpstr>
      <vt:lpstr>os-8</vt:lpstr>
      <vt:lpstr>PowerPoint Presentation</vt:lpstr>
      <vt:lpstr>Objectives</vt:lpstr>
      <vt:lpstr>Cooperating Processes</vt:lpstr>
      <vt:lpstr>Process Synchronization</vt:lpstr>
      <vt:lpstr>Example 1 - Producer Consumer</vt:lpstr>
      <vt:lpstr>Example 1 - Producer Consumer</vt:lpstr>
      <vt:lpstr>Example 1 - Producer Consumer</vt:lpstr>
      <vt:lpstr>Example 2 - Deposit &amp; Withdrawal</vt:lpstr>
      <vt:lpstr>Example 2 - Deposit &amp; Withdrawal</vt:lpstr>
      <vt:lpstr>Example - Race Condition</vt:lpstr>
      <vt:lpstr>Important Concepts</vt:lpstr>
      <vt:lpstr>Important Concepts</vt:lpstr>
      <vt:lpstr>Critical Section Problem</vt:lpstr>
      <vt:lpstr>Structure of CS Solution</vt:lpstr>
      <vt:lpstr>Structure of CS Solution</vt:lpstr>
      <vt:lpstr>Critical Section Timeline - Example</vt:lpstr>
      <vt:lpstr>Solution of CS Problem - Properties</vt:lpstr>
      <vt:lpstr>Solution of CS Problem - Properties</vt:lpstr>
      <vt:lpstr>Solution of CS Problem - Properties</vt:lpstr>
      <vt:lpstr>PowerPoint Presentation</vt:lpstr>
      <vt:lpstr>Algorithm with Strict Alternation</vt:lpstr>
      <vt:lpstr>Algorithm Using Flags</vt:lpstr>
      <vt:lpstr>Peterson’s Algorithm</vt:lpstr>
      <vt:lpstr>Peterson’s Algorithm</vt:lpstr>
      <vt:lpstr>Peterson’s Algorithm</vt:lpstr>
      <vt:lpstr>PowerPoint Presentation</vt:lpstr>
      <vt:lpstr>Solution to CS Problem</vt:lpstr>
      <vt:lpstr>Mutex: Thread Synchronization</vt:lpstr>
      <vt:lpstr>Mutex: Thread Synchronization</vt:lpstr>
      <vt:lpstr>Mutex: Thread Synchronization</vt:lpstr>
      <vt:lpstr>Use of Mutex</vt:lpstr>
      <vt:lpstr>Use of Mutex - pthreads</vt:lpstr>
      <vt:lpstr>Example (Race Condition)</vt:lpstr>
      <vt:lpstr>Example (Sol: Race Condition)</vt:lpstr>
      <vt:lpstr>Mutex: Pros &amp; Cons</vt:lpstr>
      <vt:lpstr>Mutex Mistakes</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Dr Nauman Mazhar</cp:lastModifiedBy>
  <cp:revision>610</cp:revision>
  <cp:lastPrinted>2001-06-14T13:58:17Z</cp:lastPrinted>
  <dcterms:created xsi:type="dcterms:W3CDTF">2011-01-13T23:43:38Z</dcterms:created>
  <dcterms:modified xsi:type="dcterms:W3CDTF">2025-12-11T08:50:56Z</dcterms:modified>
</cp:coreProperties>
</file>