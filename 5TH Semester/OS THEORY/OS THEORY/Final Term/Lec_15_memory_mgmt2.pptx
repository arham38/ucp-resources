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4"/>
  </p:notesMasterIdLst>
  <p:handoutMasterIdLst>
    <p:handoutMasterId r:id="rId35"/>
  </p:handoutMasterIdLst>
  <p:sldIdLst>
    <p:sldId id="256" r:id="rId2"/>
    <p:sldId id="676" r:id="rId3"/>
    <p:sldId id="258" r:id="rId4"/>
    <p:sldId id="259" r:id="rId5"/>
    <p:sldId id="701" r:id="rId6"/>
    <p:sldId id="685" r:id="rId7"/>
    <p:sldId id="261" r:id="rId8"/>
    <p:sldId id="339" r:id="rId9"/>
    <p:sldId id="341" r:id="rId10"/>
    <p:sldId id="342" r:id="rId11"/>
    <p:sldId id="265" r:id="rId12"/>
    <p:sldId id="687" r:id="rId13"/>
    <p:sldId id="270" r:id="rId14"/>
    <p:sldId id="683" r:id="rId15"/>
    <p:sldId id="698" r:id="rId16"/>
    <p:sldId id="325" r:id="rId17"/>
    <p:sldId id="282" r:id="rId18"/>
    <p:sldId id="283" r:id="rId19"/>
    <p:sldId id="281" r:id="rId20"/>
    <p:sldId id="285" r:id="rId21"/>
    <p:sldId id="695" r:id="rId22"/>
    <p:sldId id="689" r:id="rId23"/>
    <p:sldId id="696" r:id="rId24"/>
    <p:sldId id="692" r:id="rId25"/>
    <p:sldId id="292" r:id="rId26"/>
    <p:sldId id="699" r:id="rId27"/>
    <p:sldId id="677" r:id="rId28"/>
    <p:sldId id="688" r:id="rId29"/>
    <p:sldId id="324" r:id="rId30"/>
    <p:sldId id="681" r:id="rId31"/>
    <p:sldId id="684" r:id="rId32"/>
    <p:sldId id="682" r:id="rId33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0000FF"/>
    <a:srgbClr val="0000CC"/>
    <a:srgbClr val="0066FF"/>
    <a:srgbClr val="3366FF"/>
    <a:srgbClr val="CCCCFF"/>
    <a:srgbClr val="6633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88" autoAdjust="0"/>
    <p:restoredTop sz="93792" autoAdjust="0"/>
  </p:normalViewPr>
  <p:slideViewPr>
    <p:cSldViewPr snapToGrid="0">
      <p:cViewPr varScale="1">
        <p:scale>
          <a:sx n="61" d="100"/>
          <a:sy n="61" d="100"/>
        </p:scale>
        <p:origin x="1712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62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6A822E9-8F13-47AB-9E4E-B18AB2E1FD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CCEF3C-8989-4032-A095-D133C1713EDA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520E619-9440-4535-B6E9-BC7E8804B9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55EEC95-E703-4EFF-BB87-4741BBEE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3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22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32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53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en-US" dirty="0">
              <a:latin typeface="Comic Sans MS" pitchFamily="66" charset="0"/>
              <a:sym typeface="Symbol" pitchFamily="18" charset="2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latin typeface="Comic Sans MS" pitchFamily="66" charset="0"/>
                <a:sym typeface="Symbol" pitchFamily="18" charset="2"/>
              </a:rPr>
              <a:t>Lazy Swapper – never swaps a page into memory unless the page will be needed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300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707835-601A-EE09-3D12-7E625DE355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9D6AB3-AB71-4F7A-8C8F-2B9FC1D41536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E96656B-C5B6-2404-60E3-9C5EA794BE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3D1ECF4-2EBF-1DE6-4661-CCCED5958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4B998901-7D39-7619-9797-7DA3DFA3F0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605413-50B2-4AE6-99DB-9252F00AC4C0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FBC9534D-CE72-5BD3-5BA5-EAAA788428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FB7E4661-DA05-2BFB-7F07-37D90569F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5421E18E-E4F5-C3DB-E12E-385BF282A6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1B53312-0D86-45CE-9B12-157A9D6F5018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0F691129-168C-809A-E381-59FADA7503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16F1391D-F203-D5B0-4CDE-C43C0C3DC6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94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4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77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9749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40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226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198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492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365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826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081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341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035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876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9261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664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549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270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433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940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FD141-3CA0-4AB8-9E9E-E6C5C17D54F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2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E29D3E6-430F-439A-B7E4-DBD6A407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EBF474A-C9EA-4112-BDD8-3544E23F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6F57BE7D-8CFC-4E3D-B9D3-E99A00EC1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94A9A856-762E-4DC7-9B2F-F993E5BF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5A080DD-98A5-D4C4-20F8-D9A475979D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8744B61-96D7-4760-03C8-CAB57CC5E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7499E9-0F59-4849-BCBD-ACDEBE48C3F3}" type="datetime1">
              <a:rPr lang="en-US" smtClean="0"/>
              <a:t>05-Jul-2024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478F29-63CB-4AF1-9499-A4907AB6D4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076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8EB374D-FC2E-49AD-94F6-BF0F89E9A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  <p:sldLayoutId id="21474840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2200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2200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2200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2200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5870B4-1ED7-12B7-6AA3-77117E26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4278086"/>
            <a:ext cx="2576512" cy="2373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  <a:t>Operating System Concepts </a:t>
            </a:r>
            <a:b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9</a:t>
            </a:r>
            <a:r>
              <a:rPr lang="en-US" altLang="en-US" sz="1800" baseline="30000" dirty="0">
                <a:solidFill>
                  <a:srgbClr val="008000"/>
                </a:solidFill>
                <a:latin typeface="Gill Sans MT" panose="020B0502020104020203" pitchFamily="34" charset="0"/>
              </a:rPr>
              <a:t>th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 edition 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 err="1">
                <a:solidFill>
                  <a:srgbClr val="008000"/>
                </a:solidFill>
                <a:latin typeface="Gill Sans MT" panose="020B0502020104020203" pitchFamily="34" charset="0"/>
              </a:rPr>
              <a:t>Silberschatz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, Galvin &amp; Gagne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John Wiley &amp; Sons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2013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9F7CCCC7-1A34-2F65-50C6-85CAE622F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19725"/>
            <a:ext cx="41148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174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2200" i="1">
                <a:solidFill>
                  <a:srgbClr val="002060"/>
                </a:solidFill>
              </a:rPr>
              <a:t>Dr Nauman Mazhar</a:t>
            </a:r>
          </a:p>
          <a:p>
            <a:pPr eaLnBrk="1" hangingPunct="1">
              <a:spcBef>
                <a:spcPts val="12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Faculty of Information Technology (FIT)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University of Central Punjab (UCP)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E0C7144-25C9-C5AB-98F9-BA0DEB94097B}"/>
              </a:ext>
            </a:extLst>
          </p:cNvPr>
          <p:cNvSpPr txBox="1">
            <a:spLocks noChangeArrowheads="1"/>
          </p:cNvSpPr>
          <p:nvPr/>
        </p:nvSpPr>
        <p:spPr>
          <a:xfrm>
            <a:off x="930728" y="833438"/>
            <a:ext cx="7282543" cy="1828800"/>
          </a:xfrm>
          <a:prstGeom prst="rect">
            <a:avLst/>
          </a:prstGeo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3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Operating Systems</a:t>
            </a:r>
          </a:p>
          <a:p>
            <a:pPr algn="ctr" eaLnBrk="1" fontAlgn="auto" hangingPunct="1">
              <a:spcBef>
                <a:spcPts val="1200"/>
              </a:spcBef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SENS-3513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BC456DD-7F97-E05E-C599-ED9C715C1840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3352793"/>
            <a:ext cx="5410200" cy="1197429"/>
          </a:xfrm>
          <a:prstGeom prst="rect">
            <a:avLst/>
          </a:prstGeom>
        </p:spPr>
        <p:txBody>
          <a:bodyPr/>
          <a:lstStyle/>
          <a:p>
            <a:pPr marL="290513" indent="-290513" eaLnBrk="1" fontAlgn="auto" hangingPunct="1">
              <a:spcBef>
                <a:spcPts val="75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2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F84B381-6B23-3BBF-67F5-2B4832F9FC4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819394"/>
            <a:ext cx="2819400" cy="533400"/>
          </a:xfrm>
          <a:prstGeom prst="rect">
            <a:avLst/>
          </a:prstGeom>
        </p:spPr>
        <p:txBody>
          <a:bodyPr/>
          <a:lstStyle/>
          <a:p>
            <a:pPr marL="342900" indent="-342900" eaLnBrk="1" fontAlgn="auto" hangingPunct="1">
              <a:spcBef>
                <a:spcPts val="750"/>
              </a:spcBef>
              <a:spcAft>
                <a:spcPts val="0"/>
              </a:spcAft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Week: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6BA1119-0E5B-4C51-B6FA-28152283A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868" y="158511"/>
            <a:ext cx="806608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Agenda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1102DF7-4A96-4DB4-93EE-EFEEB0DC3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0549" y="1182108"/>
            <a:ext cx="7578725" cy="5147572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</a:rPr>
              <a:t>Memory Management-2</a:t>
            </a: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rgbClr val="000000"/>
                </a:solidFill>
              </a:rPr>
              <a:t>Virtual Memory</a:t>
            </a: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rgbClr val="000000"/>
                </a:solidFill>
              </a:rPr>
              <a:t>Demand Paging</a:t>
            </a: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rgbClr val="000000"/>
                </a:solidFill>
              </a:rPr>
              <a:t>Page Faults </a:t>
            </a: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rgbClr val="000000"/>
                </a:solidFill>
              </a:rPr>
              <a:t>Servicing a Page Fault</a:t>
            </a: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rgbClr val="000000"/>
                </a:solidFill>
              </a:rPr>
              <a:t>Page Replacement Algorithms</a:t>
            </a:r>
          </a:p>
          <a:p>
            <a:pPr>
              <a:spcBef>
                <a:spcPts val="1800"/>
              </a:spcBef>
            </a:pPr>
            <a:endParaRPr lang="en-US" b="1" dirty="0">
              <a:solidFill>
                <a:srgbClr val="000000"/>
              </a:solidFill>
            </a:endParaRPr>
          </a:p>
          <a:p>
            <a:endParaRPr lang="en-US" b="1" dirty="0">
              <a:solidFill>
                <a:srgbClr val="000000"/>
              </a:solidFill>
            </a:endParaRPr>
          </a:p>
          <a:p>
            <a:endParaRPr lang="en-US" b="1" dirty="0">
              <a:solidFill>
                <a:srgbClr val="000000"/>
              </a:solidFill>
            </a:endParaRPr>
          </a:p>
          <a:p>
            <a:endParaRPr lang="en-US" b="1" dirty="0">
              <a:solidFill>
                <a:srgbClr val="000000"/>
              </a:solidFill>
            </a:endParaRPr>
          </a:p>
          <a:p>
            <a:pPr lvl="1"/>
            <a:endParaRPr lang="en-US" sz="2400" b="1" dirty="0">
              <a:solidFill>
                <a:srgbClr val="000000"/>
              </a:solidFill>
            </a:endParaRPr>
          </a:p>
          <a:p>
            <a:pPr lvl="1"/>
            <a:endParaRPr lang="en-US" sz="2400" b="1" dirty="0">
              <a:solidFill>
                <a:srgbClr val="000000"/>
              </a:solidFill>
            </a:endParaRPr>
          </a:p>
          <a:p>
            <a:endParaRPr lang="en-US" b="1" dirty="0">
              <a:solidFill>
                <a:srgbClr val="000000"/>
              </a:solidFill>
            </a:endParaRPr>
          </a:p>
          <a:p>
            <a:endParaRPr lang="en-US" b="1" dirty="0">
              <a:solidFill>
                <a:srgbClr val="000000"/>
              </a:solidFill>
            </a:endParaRPr>
          </a:p>
          <a:p>
            <a:pPr lvl="1"/>
            <a:endParaRPr lang="en-US" sz="2400" dirty="0">
              <a:solidFill>
                <a:srgbClr val="000000"/>
              </a:solidFill>
            </a:endParaRPr>
          </a:p>
          <a:p>
            <a:pPr lvl="1"/>
            <a:endParaRPr lang="en-US" sz="2400" b="1" dirty="0">
              <a:solidFill>
                <a:srgbClr val="000000"/>
              </a:solidFill>
            </a:endParaRPr>
          </a:p>
          <a:p>
            <a:pPr lvl="1"/>
            <a:endParaRPr lang="en-US" altLang="en-US" sz="2400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A2626D-782E-33F3-732D-F25625153BF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81113" y="1129510"/>
            <a:ext cx="8621373" cy="5440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Uptil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now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, we have seen that an entire process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 loaded into memory for execution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right from start, all pages were loaded into memory frames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However, at any time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 process is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executing only a small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amount of its total address space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To conserve memory, load only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part of a process in memory</a:t>
            </a:r>
          </a:p>
          <a:p>
            <a:pPr marR="0" lvl="0" algn="ctr" defTabSz="914400" rtl="0" eaLnBrk="0" fontAlgn="base" latinLnBrk="0" hangingPunct="0">
              <a:spcBef>
                <a:spcPts val="18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Virtual </a:t>
            </a:r>
            <a:r>
              <a:rPr lang="en-US" sz="22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kumimoji="0" lang="en-US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emory</a:t>
            </a:r>
            <a:endParaRPr kumimoji="0" lang="en-US" sz="2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ctr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technique used by OS, to allow execution of processes </a:t>
            </a:r>
            <a:b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that are </a:t>
            </a: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completely in memory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allows to execute programs larger in size than physical memory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A1E521-20C3-2F29-701B-DB241662A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226" y="71120"/>
            <a:ext cx="6886575" cy="660718"/>
          </a:xfrm>
          <a:noFill/>
          <a:ln/>
        </p:spPr>
        <p:txBody>
          <a:bodyPr>
            <a:noAutofit/>
          </a:bodyPr>
          <a:lstStyle/>
          <a:p>
            <a:r>
              <a:rPr lang="en-US" altLang="zh-TW" dirty="0"/>
              <a:t>Introduction to Virtual Memory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3E77D-CC90-CF6D-CD5B-DA6157C7F2E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60360" y="1033170"/>
            <a:ext cx="8405269" cy="1583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If entire process (all pages) not loaded for execution</a:t>
            </a:r>
          </a:p>
          <a:p>
            <a:pPr marL="746125" lvl="1" indent="-288925">
              <a:spcBef>
                <a:spcPts val="600"/>
              </a:spcBef>
              <a:buFont typeface="Arial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process might try to access an instruction or data that lies in a page not loaded in memory</a:t>
            </a:r>
          </a:p>
          <a:p>
            <a:pPr lvl="1">
              <a:spcBef>
                <a:spcPts val="600"/>
              </a:spcBef>
              <a:defRPr/>
            </a:pPr>
            <a:r>
              <a:rPr lang="en-US" sz="21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Fault  </a:t>
            </a:r>
            <a:r>
              <a:rPr lang="en-US" sz="21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page still in backing store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E792FD-3F0A-005B-FF4F-814D0C200E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226" y="71120"/>
            <a:ext cx="6886575" cy="660718"/>
          </a:xfrm>
          <a:noFill/>
          <a:ln/>
        </p:spPr>
        <p:txBody>
          <a:bodyPr>
            <a:noAutofit/>
          </a:bodyPr>
          <a:lstStyle/>
          <a:p>
            <a:r>
              <a:rPr lang="en-US" altLang="zh-TW" dirty="0"/>
              <a:t>Introduction to Virtual Memory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1EE3A-3D5F-6D87-1A98-48F66BB9D46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2" name="Picture 5" descr="9">
            <a:extLst>
              <a:ext uri="{FF2B5EF4-FFF2-40B4-BE49-F238E27FC236}">
                <a16:creationId xmlns:a16="http://schemas.microsoft.com/office/drawing/2014/main" id="{119E6722-D09F-B0C0-83B9-2B64508AB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972" y="2711670"/>
            <a:ext cx="5850360" cy="405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E023B71-374E-7CC8-9A1B-F2263DDEB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0" y="2967071"/>
            <a:ext cx="2508964" cy="205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If page fault… </a:t>
            </a:r>
          </a:p>
          <a:p>
            <a:pPr marL="746125" lvl="1" indent="-288925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OS should </a:t>
            </a:r>
            <a:b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bring the </a:t>
            </a:r>
            <a:b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page into memory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91890" y="1085720"/>
            <a:ext cx="8632368" cy="543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When a page is referenced, OS needs to check if page has been loaded in memory, or not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Page table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extended with an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extra bit, “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present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” or “</a:t>
            </a: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 lvl="2" defTabSz="704850">
              <a:spcBef>
                <a:spcPts val="600"/>
              </a:spcBef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	if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 page is loaded 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 can be accessed</a:t>
            </a:r>
          </a:p>
          <a:p>
            <a:pPr lvl="2" defTabSz="704850">
              <a:spcBef>
                <a:spcPts val="600"/>
              </a:spcBef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	else 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not loaded 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need to bring in memory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 load &amp; execute a process, OS needs to pe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rform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two tasks:</a:t>
            </a:r>
          </a:p>
          <a:p>
            <a:pPr marL="346075">
              <a:spcBef>
                <a:spcPts val="1200"/>
              </a:spcBef>
              <a:defRPr/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selection </a:t>
            </a:r>
          </a:p>
          <a:p>
            <a:pPr marL="862013" lvl="1" indent="-290513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which page to bring in memory, &amp; when</a:t>
            </a: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</a:p>
          <a:p>
            <a:pPr marL="346075">
              <a:spcBef>
                <a:spcPts val="1200"/>
              </a:spcBef>
              <a:defRPr/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replacement</a:t>
            </a:r>
          </a:p>
          <a:p>
            <a:pPr marL="862013" lvl="1" indent="-288925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if page fault, and </a:t>
            </a: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free frame available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to store new page</a:t>
            </a:r>
          </a:p>
          <a:p>
            <a:pPr marL="862013" lvl="1" indent="-288925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which page to swap out – </a:t>
            </a: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victim frame</a:t>
            </a:r>
          </a:p>
          <a:p>
            <a:pPr marL="746125" lvl="1" indent="-288925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E792FD-3F0A-005B-FF4F-814D0C200E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226" y="71120"/>
            <a:ext cx="6886575" cy="660718"/>
          </a:xfrm>
          <a:noFill/>
          <a:ln/>
        </p:spPr>
        <p:txBody>
          <a:bodyPr>
            <a:noAutofit/>
          </a:bodyPr>
          <a:lstStyle/>
          <a:p>
            <a:r>
              <a:rPr lang="en-US" altLang="zh-TW" dirty="0"/>
              <a:t>Introduction to Virtual Memory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1EE3A-3D5F-6D87-1A98-48F66BB9D46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458604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89872" y="1028444"/>
            <a:ext cx="8519774" cy="5544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Approaches to Page Selection  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200" b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Demand Paging  </a:t>
            </a: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bring a page in memory </a:t>
            </a:r>
            <a:r>
              <a:rPr 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referenced</a:t>
            </a:r>
          </a:p>
          <a:p>
            <a:pPr marL="1257300" lvl="2" indent="-3429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start </a:t>
            </a:r>
            <a:r>
              <a:rPr kumimoji="0" lang="en-US" sz="21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process with no page loaded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kumimoji="0" lang="en-US" sz="21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load on page fault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 Paging   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bring a page in memory </a:t>
            </a:r>
            <a:r>
              <a:rPr 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before it is referenced</a:t>
            </a:r>
          </a:p>
          <a:p>
            <a:pPr marL="1257300" lvl="2" indent="-3429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when one page is referenced – bring next one too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 Paging    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kumimoji="0" lang="en-US" sz="21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et user say which page is needed </a:t>
            </a:r>
          </a:p>
          <a:p>
            <a:pPr marL="1257300" lvl="2" indent="-3429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but user doesn’t always know best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Approaches to Page Replacement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effective page replacement algorithm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FIFO, Optimal, LRU, LFU 	  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(to be studies…)</a:t>
            </a:r>
          </a:p>
          <a:p>
            <a:pPr marL="1200150" lvl="2" indent="-285750">
              <a:spcBef>
                <a:spcPts val="600"/>
              </a:spcBef>
              <a:buFont typeface="Arial" charset="0"/>
              <a:buChar char="–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E792FD-3F0A-005B-FF4F-814D0C200E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226" y="71120"/>
            <a:ext cx="6886575" cy="660718"/>
          </a:xfrm>
          <a:noFill/>
          <a:ln/>
        </p:spPr>
        <p:txBody>
          <a:bodyPr>
            <a:noAutofit/>
          </a:bodyPr>
          <a:lstStyle/>
          <a:p>
            <a:r>
              <a:rPr lang="en-US" altLang="zh-TW" dirty="0"/>
              <a:t>Introduction to Virtual Memory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1EE3A-3D5F-6D87-1A98-48F66BB9D46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551006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Grp="1"/>
          </p:cNvSpPr>
          <p:nvPr>
            <p:ph type="body" idx="1"/>
          </p:nvPr>
        </p:nvSpPr>
        <p:spPr>
          <a:xfrm>
            <a:off x="447040" y="1183640"/>
            <a:ext cx="8442960" cy="449072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dirty="0"/>
              <a:t>Demand paging…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b="1" i="1" dirty="0">
                <a:solidFill>
                  <a:srgbClr val="C00000"/>
                </a:solidFill>
              </a:rPr>
              <a:t>“bring a page into memory only when it is needed”</a:t>
            </a:r>
          </a:p>
          <a:p>
            <a:pPr>
              <a:spcBef>
                <a:spcPts val="2400"/>
              </a:spcBef>
            </a:pPr>
            <a:r>
              <a:rPr lang="en-US" dirty="0"/>
              <a:t>Advantages of demand paging…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potentially less memory needed for each process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higher degree of multiprogramming</a:t>
            </a:r>
          </a:p>
          <a:p>
            <a:pPr>
              <a:spcBef>
                <a:spcPts val="1200"/>
              </a:spcBef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D1FCA5-4B56-BEB2-5578-7CFC6AA62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226" y="71120"/>
            <a:ext cx="6886575" cy="660718"/>
          </a:xfrm>
          <a:noFill/>
          <a:ln/>
        </p:spPr>
        <p:txBody>
          <a:bodyPr>
            <a:noAutofit/>
          </a:bodyPr>
          <a:lstStyle/>
          <a:p>
            <a:r>
              <a:rPr lang="en-US" altLang="zh-TW" dirty="0"/>
              <a:t>Demand Paging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79B37-FE3A-BC28-3576-A5088C45D34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069E6B5-7E45-8D78-84F1-0F400BCA9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pic>
        <p:nvPicPr>
          <p:cNvPr id="13316" name="Picture 4" descr="9">
            <a:extLst>
              <a:ext uri="{FF2B5EF4-FFF2-40B4-BE49-F238E27FC236}">
                <a16:creationId xmlns:a16="http://schemas.microsoft.com/office/drawing/2014/main" id="{119FC6FE-F894-00A4-EEE8-37999FDD7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967" y="1556074"/>
            <a:ext cx="6406178" cy="4997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39774B27-140E-6363-D6E2-52EC28235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1011219"/>
            <a:ext cx="8229600" cy="429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284163" indent="-284163">
              <a:spcBef>
                <a:spcPts val="1800"/>
              </a:spcBef>
            </a:pPr>
            <a:r>
              <a:rPr lang="en-US" altLang="en-US" sz="2100" dirty="0"/>
              <a:t>Demand paging is similar to paging with swapping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7B35803-B6C1-B508-A729-A21B8FFE42C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0808A227-EDA3-530E-8B71-0F33DF5D8A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6720" y="1081369"/>
            <a:ext cx="6215818" cy="4772221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altLang="en-US" sz="2400" dirty="0"/>
              <a:t>When page is needed, consult the page table </a:t>
            </a:r>
          </a:p>
          <a:p>
            <a:pPr>
              <a:spcBef>
                <a:spcPts val="1800"/>
              </a:spcBef>
            </a:pPr>
            <a:r>
              <a:rPr lang="en-US" altLang="en-US" sz="2300" dirty="0"/>
              <a:t>Each page table entry has a </a:t>
            </a:r>
            <a:r>
              <a:rPr lang="en-US" altLang="en-US" sz="2300" dirty="0">
                <a:solidFill>
                  <a:srgbClr val="FF0000"/>
                </a:solidFill>
              </a:rPr>
              <a:t>valid</a:t>
            </a:r>
            <a:r>
              <a:rPr lang="en-US" altLang="en-US" sz="2300" dirty="0"/>
              <a:t> - </a:t>
            </a:r>
            <a:r>
              <a:rPr lang="en-US" altLang="en-US" sz="2300" dirty="0">
                <a:solidFill>
                  <a:srgbClr val="FF0000"/>
                </a:solidFill>
              </a:rPr>
              <a:t>invalid</a:t>
            </a:r>
            <a:r>
              <a:rPr lang="en-US" altLang="en-US" sz="2300" dirty="0"/>
              <a:t> bit</a:t>
            </a:r>
          </a:p>
          <a:p>
            <a:pPr marL="457200" indent="0">
              <a:spcBef>
                <a:spcPts val="1800"/>
              </a:spcBef>
              <a:buNone/>
            </a:pPr>
            <a:r>
              <a:rPr lang="en-US" altLang="en-US" sz="2300" b="1" dirty="0">
                <a:solidFill>
                  <a:srgbClr val="FF0000"/>
                </a:solidFill>
              </a:rPr>
              <a:t>v</a:t>
            </a:r>
            <a:r>
              <a:rPr lang="en-US" altLang="en-US" sz="2300" dirty="0"/>
              <a:t>  </a:t>
            </a:r>
            <a:r>
              <a:rPr lang="en-US" altLang="en-US" sz="2400" dirty="0">
                <a:latin typeface="Abadi" panose="020B0604020104020204" pitchFamily="34" charset="0"/>
                <a:sym typeface="Symbol" panose="05050102010706020507" pitchFamily="18" charset="2"/>
              </a:rPr>
              <a:t>→</a:t>
            </a:r>
            <a:r>
              <a:rPr lang="en-US" altLang="en-US" sz="2300" dirty="0">
                <a:sym typeface="Symbol" panose="05050102010706020507" pitchFamily="18" charset="2"/>
              </a:rPr>
              <a:t>  page in memory  </a:t>
            </a:r>
            <a:br>
              <a:rPr lang="en-US" altLang="en-US" sz="2300" dirty="0">
                <a:sym typeface="Symbol" panose="05050102010706020507" pitchFamily="18" charset="2"/>
              </a:rPr>
            </a:br>
            <a:r>
              <a:rPr lang="en-US" altLang="en-US" sz="2300" dirty="0">
                <a:sym typeface="Symbol" panose="05050102010706020507" pitchFamily="18" charset="2"/>
              </a:rPr>
              <a:t>	    </a:t>
            </a:r>
            <a:r>
              <a:rPr lang="en-US" altLang="en-US" sz="2300" i="1" dirty="0">
                <a:sym typeface="Symbol" panose="05050102010706020507" pitchFamily="18" charset="2"/>
              </a:rPr>
              <a:t>(memory resident)</a:t>
            </a:r>
          </a:p>
          <a:p>
            <a:pPr marL="457200" indent="0">
              <a:spcBef>
                <a:spcPts val="1800"/>
              </a:spcBef>
              <a:buNone/>
            </a:pPr>
            <a:r>
              <a:rPr lang="en-US" altLang="en-US" sz="2300" b="1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300" dirty="0">
                <a:sym typeface="Symbol" panose="05050102010706020507" pitchFamily="18" charset="2"/>
              </a:rPr>
              <a:t>   </a:t>
            </a:r>
            <a:r>
              <a:rPr lang="en-US" altLang="en-US" sz="2000" dirty="0">
                <a:latin typeface="Abadi" panose="020B0604020104020204" pitchFamily="34" charset="0"/>
                <a:sym typeface="Symbol" panose="05050102010706020507" pitchFamily="18" charset="2"/>
              </a:rPr>
              <a:t>→</a:t>
            </a:r>
            <a:r>
              <a:rPr lang="en-US" altLang="en-US" sz="2300" dirty="0">
                <a:sym typeface="Symbol" panose="05050102010706020507" pitchFamily="18" charset="2"/>
              </a:rPr>
              <a:t>   page not in memory</a:t>
            </a:r>
            <a:br>
              <a:rPr lang="en-US" altLang="en-US" sz="2300" dirty="0">
                <a:sym typeface="Symbol" panose="05050102010706020507" pitchFamily="18" charset="2"/>
              </a:rPr>
            </a:br>
            <a:r>
              <a:rPr lang="en-US" altLang="en-US" sz="2300" dirty="0">
                <a:sym typeface="Symbol" panose="05050102010706020507" pitchFamily="18" charset="2"/>
              </a:rPr>
              <a:t>	</a:t>
            </a:r>
            <a:r>
              <a:rPr lang="en-US" altLang="en-US" sz="2300" i="1" dirty="0">
                <a:sym typeface="Symbol" panose="05050102010706020507" pitchFamily="18" charset="2"/>
              </a:rPr>
              <a:t>    (page fault)</a:t>
            </a:r>
          </a:p>
          <a:p>
            <a:pPr>
              <a:spcBef>
                <a:spcPts val="2400"/>
              </a:spcBef>
            </a:pPr>
            <a:r>
              <a:rPr lang="en-US" altLang="en-US" sz="2300" dirty="0">
                <a:sym typeface="Symbol" panose="05050102010706020507" pitchFamily="18" charset="2"/>
              </a:rPr>
              <a:t>Initially, value of the bit on all </a:t>
            </a:r>
            <a:br>
              <a:rPr lang="en-US" altLang="en-US" sz="2300" dirty="0">
                <a:sym typeface="Symbol" panose="05050102010706020507" pitchFamily="18" charset="2"/>
              </a:rPr>
            </a:br>
            <a:r>
              <a:rPr lang="en-US" altLang="en-US" sz="2300" dirty="0">
                <a:sym typeface="Symbol" panose="05050102010706020507" pitchFamily="18" charset="2"/>
              </a:rPr>
              <a:t>entries is set to</a:t>
            </a:r>
            <a:r>
              <a:rPr lang="en-US" altLang="en-US" sz="23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300" b="1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endParaRPr lang="en-US" altLang="en-US" sz="2300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>
              <a:spcBef>
                <a:spcPts val="1800"/>
              </a:spcBef>
            </a:pPr>
            <a:r>
              <a:rPr lang="en-US" altLang="en-US" sz="2300" dirty="0">
                <a:sym typeface="Symbol" panose="05050102010706020507" pitchFamily="18" charset="2"/>
              </a:rPr>
              <a:t>As pages are loaded, the bit is </a:t>
            </a:r>
            <a:br>
              <a:rPr lang="en-US" altLang="en-US" sz="2300" dirty="0">
                <a:sym typeface="Symbol" panose="05050102010706020507" pitchFamily="18" charset="2"/>
              </a:rPr>
            </a:br>
            <a:r>
              <a:rPr lang="en-US" altLang="en-US" sz="2300" dirty="0">
                <a:sym typeface="Symbol" panose="05050102010706020507" pitchFamily="18" charset="2"/>
              </a:rPr>
              <a:t>set to</a:t>
            </a:r>
            <a:r>
              <a:rPr lang="en-US" altLang="en-US" sz="2300" b="1" dirty="0">
                <a:solidFill>
                  <a:srgbClr val="FF0000"/>
                </a:solidFill>
                <a:sym typeface="Symbol" panose="05050102010706020507" pitchFamily="18" charset="2"/>
              </a:rPr>
              <a:t> v</a:t>
            </a:r>
            <a:endParaRPr lang="en-US" altLang="en-US" sz="2300" dirty="0">
              <a:sym typeface="Symbol" panose="05050102010706020507" pitchFamily="18" charset="2"/>
            </a:endParaRPr>
          </a:p>
        </p:txBody>
      </p:sp>
      <p:pic>
        <p:nvPicPr>
          <p:cNvPr id="15364" name="Picture 1">
            <a:extLst>
              <a:ext uri="{FF2B5EF4-FFF2-40B4-BE49-F238E27FC236}">
                <a16:creationId xmlns:a16="http://schemas.microsoft.com/office/drawing/2014/main" id="{912556DF-85E1-0840-3DF6-FC0081B3E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235" y="2433471"/>
            <a:ext cx="3120070" cy="3599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FC8D0E9-B291-8412-BA47-0051B8C10C2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02147CD-2E2E-363C-708D-713119880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D09EA5D-C608-B2E9-8771-604033F868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2201" y="190500"/>
            <a:ext cx="7960360" cy="501650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Page Table - Some Pages not in Memory</a:t>
            </a:r>
          </a:p>
        </p:txBody>
      </p:sp>
      <p:pic>
        <p:nvPicPr>
          <p:cNvPr id="16387" name="Picture 4" descr="9">
            <a:extLst>
              <a:ext uri="{FF2B5EF4-FFF2-40B4-BE49-F238E27FC236}">
                <a16:creationId xmlns:a16="http://schemas.microsoft.com/office/drawing/2014/main" id="{246445C6-036A-9F9D-B5C9-40703F05E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201" y="1035791"/>
            <a:ext cx="7254240" cy="5733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DAE160A-F93B-8632-1A07-54535C97BC7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9">
            <a:extLst>
              <a:ext uri="{FF2B5EF4-FFF2-40B4-BE49-F238E27FC236}">
                <a16:creationId xmlns:a16="http://schemas.microsoft.com/office/drawing/2014/main" id="{72A9D04E-1133-F271-9F19-4705E8430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821" y="912430"/>
            <a:ext cx="5659145" cy="5602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2" name="Rectangle 2"/>
          <p:cNvSpPr>
            <a:spLocks noGrp="1"/>
          </p:cNvSpPr>
          <p:nvPr>
            <p:ph type="title"/>
          </p:nvPr>
        </p:nvSpPr>
        <p:spPr>
          <a:xfrm>
            <a:off x="1229360" y="0"/>
            <a:ext cx="7273509" cy="766820"/>
          </a:xfrm>
        </p:spPr>
        <p:txBody>
          <a:bodyPr>
            <a:normAutofit/>
          </a:bodyPr>
          <a:lstStyle/>
          <a:p>
            <a:r>
              <a:rPr lang="en-US" altLang="ko-KR" dirty="0"/>
              <a:t>Servicing a Page Fault</a:t>
            </a:r>
            <a:endParaRPr lang="en-US" dirty="0"/>
          </a:p>
        </p:txBody>
      </p:sp>
      <p:sp>
        <p:nvSpPr>
          <p:cNvPr id="107523" name="Text Box 80"/>
          <p:cNvSpPr>
            <a:spLocks noGrp="1" noChangeArrowheads="1"/>
          </p:cNvSpPr>
          <p:nvPr>
            <p:ph type="body" sz="half" idx="1"/>
          </p:nvPr>
        </p:nvSpPr>
        <p:spPr>
          <a:xfrm>
            <a:off x="393790" y="1102062"/>
            <a:ext cx="3200400" cy="5602941"/>
          </a:xfrm>
          <a:noFill/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When page referenced, OS checks to see:</a:t>
            </a:r>
          </a:p>
          <a:p>
            <a:pPr>
              <a:spcBef>
                <a:spcPts val="1200"/>
              </a:spcBef>
              <a:buFont typeface="+mj-lt"/>
              <a:buAutoNum type="arabicPeriod"/>
            </a:pP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If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ref is invalid:</a:t>
            </a:r>
            <a:endParaRPr kumimoji="1" lang="en-US" sz="2100" dirty="0">
              <a:latin typeface="Calibri" panose="020F0502020204030204" pitchFamily="34" charset="0"/>
              <a:cs typeface="Calibri" panose="020F0502020204030204" pitchFamily="34" charset="0"/>
              <a:sym typeface="Symbol" pitchFamily="18" charset="2"/>
            </a:endParaRPr>
          </a:p>
          <a:p>
            <a:pPr marL="568325" lvl="1" indent="-223838">
              <a:spcBef>
                <a:spcPts val="600"/>
              </a:spcBef>
            </a:pP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trap to OS </a:t>
            </a:r>
          </a:p>
          <a:p>
            <a:pPr marL="568325" lvl="1" indent="-223838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abort process</a:t>
            </a:r>
            <a:endParaRPr kumimoji="1" lang="en-US" sz="2100" dirty="0">
              <a:latin typeface="Calibri" panose="020F0502020204030204" pitchFamily="34" charset="0"/>
              <a:cs typeface="Calibri" panose="020F0502020204030204" pitchFamily="34" charset="0"/>
              <a:sym typeface="Symbol" pitchFamily="18" charset="2"/>
            </a:endParaRPr>
          </a:p>
          <a:p>
            <a:pPr>
              <a:spcBef>
                <a:spcPts val="1200"/>
              </a:spcBef>
              <a:buFont typeface="+mj-lt"/>
              <a:buAutoNum type="arabicPeriod"/>
            </a:pP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If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ref is valid:</a:t>
            </a:r>
            <a:endParaRPr kumimoji="1" lang="en-US" sz="2100" dirty="0">
              <a:latin typeface="Calibri" panose="020F0502020204030204" pitchFamily="34" charset="0"/>
              <a:cs typeface="Calibri" panose="020F0502020204030204" pitchFamily="34" charset="0"/>
              <a:sym typeface="Symbol" pitchFamily="18" charset="2"/>
            </a:endParaRPr>
          </a:p>
          <a:p>
            <a:pPr marL="568325" lvl="1" indent="-223838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check valid </a:t>
            </a: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bit of </a:t>
            </a:r>
            <a:b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</a:b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page</a:t>
            </a:r>
          </a:p>
          <a:p>
            <a:pPr marL="568325" lvl="1" indent="-223838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i</a:t>
            </a: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f</a:t>
            </a: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valid bit =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= 0</a:t>
            </a: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page not in </a:t>
            </a:r>
            <a:b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</a:p>
          <a:p>
            <a:pPr marL="568325" lvl="1" indent="-223838">
              <a:spcBef>
                <a:spcPts val="600"/>
              </a:spcBef>
            </a:pP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page fault</a:t>
            </a:r>
          </a:p>
          <a:p>
            <a:pPr marL="568325" lvl="1" indent="-223838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trap to OS</a:t>
            </a:r>
            <a:endParaRPr kumimoji="1"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68325" lvl="1" indent="-223838">
              <a:spcBef>
                <a:spcPts val="600"/>
              </a:spcBef>
            </a:pP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service page fault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F64FAC8-AD83-3BFE-4BBA-64970C34AEC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Text Box 15">
            <a:extLst>
              <a:ext uri="{FF2B5EF4-FFF2-40B4-BE49-F238E27FC236}">
                <a16:creationId xmlns:a16="http://schemas.microsoft.com/office/drawing/2014/main" id="{3446F215-E58A-7895-DDBD-26E2DDFCA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0557" y="5451247"/>
            <a:ext cx="1446083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/>
              <a:t>(may need page</a:t>
            </a:r>
            <a:br>
              <a:rPr lang="en-US" sz="1200" dirty="0"/>
            </a:br>
            <a:r>
              <a:rPr lang="en-US" sz="1200" dirty="0"/>
              <a:t> replacement)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/>
          </p:cNvSpPr>
          <p:nvPr>
            <p:ph type="title"/>
          </p:nvPr>
        </p:nvSpPr>
        <p:spPr>
          <a:xfrm>
            <a:off x="1229360" y="0"/>
            <a:ext cx="7284019" cy="766820"/>
          </a:xfrm>
        </p:spPr>
        <p:txBody>
          <a:bodyPr>
            <a:normAutofit/>
          </a:bodyPr>
          <a:lstStyle/>
          <a:p>
            <a:r>
              <a:rPr lang="en-US" altLang="ko-KR" dirty="0"/>
              <a:t>Servicing a Page Fault</a:t>
            </a:r>
            <a:endParaRPr lang="en-US" dirty="0"/>
          </a:p>
        </p:txBody>
      </p:sp>
      <p:sp>
        <p:nvSpPr>
          <p:cNvPr id="107523" name="Text Box 80"/>
          <p:cNvSpPr>
            <a:spLocks noGrp="1" noChangeArrowheads="1"/>
          </p:cNvSpPr>
          <p:nvPr>
            <p:ph type="body" sz="half" idx="1"/>
          </p:nvPr>
        </p:nvSpPr>
        <p:spPr>
          <a:xfrm>
            <a:off x="375220" y="1051262"/>
            <a:ext cx="3210560" cy="5602941"/>
          </a:xfrm>
          <a:noFill/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400"/>
              </a:spcBef>
              <a:buNone/>
            </a:pPr>
            <a:r>
              <a:rPr kumimoji="1" lang="en-US" sz="21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fault servicing:</a:t>
            </a:r>
          </a:p>
          <a:p>
            <a:pPr marL="233363" indent="-233363">
              <a:lnSpc>
                <a:spcPct val="11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Locate page on disk</a:t>
            </a:r>
          </a:p>
          <a:p>
            <a:pPr marL="233363" indent="-233363">
              <a:lnSpc>
                <a:spcPct val="11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Allocate a </a:t>
            </a:r>
            <a:r>
              <a:rPr kumimoji="1" lang="en-US" sz="21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free</a:t>
            </a:r>
            <a:r>
              <a:rPr kumimoji="1" lang="en-US" sz="2100" b="1" dirty="0">
                <a:solidFill>
                  <a:srgbClr val="C0504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frame</a:t>
            </a: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b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&amp; load the page</a:t>
            </a:r>
          </a:p>
          <a:p>
            <a:pPr marL="233363" indent="-233363">
              <a:lnSpc>
                <a:spcPct val="11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If no free frame, </a:t>
            </a:r>
            <a:b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US" sz="21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victim</a:t>
            </a:r>
            <a:r>
              <a:rPr kumimoji="1" lang="en-US" sz="2100" b="1" dirty="0">
                <a:solidFill>
                  <a:srgbClr val="C0504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frame</a:t>
            </a: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b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&amp; swap out to disk</a:t>
            </a:r>
          </a:p>
          <a:p>
            <a:pPr marL="233363" indent="-233363">
              <a:lnSpc>
                <a:spcPct val="11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wap in desired page </a:t>
            </a:r>
            <a:b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in selected frame</a:t>
            </a:r>
          </a:p>
          <a:p>
            <a:pPr marL="233363" indent="-233363">
              <a:lnSpc>
                <a:spcPct val="11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Store frame number </a:t>
            </a:r>
            <a:b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PTE</a:t>
            </a: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, &amp; set valid bit</a:t>
            </a:r>
          </a:p>
          <a:p>
            <a:pPr marL="233363" indent="-233363">
              <a:lnSpc>
                <a:spcPct val="11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Restart instruction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F64FAC8-AD83-3BFE-4BBA-64970C34AEC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" name="Picture 4" descr="9">
            <a:extLst>
              <a:ext uri="{FF2B5EF4-FFF2-40B4-BE49-F238E27FC236}">
                <a16:creationId xmlns:a16="http://schemas.microsoft.com/office/drawing/2014/main" id="{61577086-1452-A436-BA56-EC4C9E6EB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686" y="912430"/>
            <a:ext cx="5669280" cy="5602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15">
            <a:extLst>
              <a:ext uri="{FF2B5EF4-FFF2-40B4-BE49-F238E27FC236}">
                <a16:creationId xmlns:a16="http://schemas.microsoft.com/office/drawing/2014/main" id="{5BEF75E1-95AD-1F04-D911-130506370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0557" y="5451247"/>
            <a:ext cx="1446083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/>
              <a:t>(may need page</a:t>
            </a:r>
            <a:br>
              <a:rPr lang="en-US" sz="1200" dirty="0"/>
            </a:br>
            <a:r>
              <a:rPr lang="en-US" sz="1200" dirty="0"/>
              <a:t> replacement)</a:t>
            </a:r>
          </a:p>
        </p:txBody>
      </p:sp>
    </p:spTree>
    <p:extLst>
      <p:ext uri="{BB962C8B-B14F-4D97-AF65-F5344CB8AC3E}">
        <p14:creationId xmlns:p14="http://schemas.microsoft.com/office/powerpoint/2010/main" val="346302543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/>
          <p:cNvSpPr>
            <a:spLocks noGrp="1"/>
          </p:cNvSpPr>
          <p:nvPr>
            <p:ph type="body" idx="1"/>
          </p:nvPr>
        </p:nvSpPr>
        <p:spPr>
          <a:xfrm>
            <a:off x="457200" y="1130508"/>
            <a:ext cx="8545286" cy="53340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/>
              <a:t>Page faults negatively impact system performance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want lowest page fault rate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need effective page replacement algo to ensure required pages are available in memory </a:t>
            </a:r>
          </a:p>
          <a:p>
            <a:pPr>
              <a:spcBef>
                <a:spcPts val="1800"/>
              </a:spcBef>
            </a:pPr>
            <a:r>
              <a:rPr lang="en-US" dirty="0"/>
              <a:t>Types of p</a:t>
            </a:r>
            <a:r>
              <a:rPr lang="en-US" sz="2400" dirty="0"/>
              <a:t>age replacements</a:t>
            </a:r>
          </a:p>
          <a:p>
            <a:pPr lvl="1">
              <a:spcBef>
                <a:spcPts val="1200"/>
              </a:spcBef>
            </a:pPr>
            <a:r>
              <a:rPr kumimoji="1" lang="en-US" sz="2200" b="1" dirty="0">
                <a:solidFill>
                  <a:srgbClr val="C00000"/>
                </a:solidFill>
              </a:rPr>
              <a:t>Local replacement</a:t>
            </a:r>
            <a:r>
              <a:rPr kumimoji="1" lang="en-US" sz="2200" dirty="0">
                <a:solidFill>
                  <a:srgbClr val="C00000"/>
                </a:solidFill>
              </a:rPr>
              <a:t>    </a:t>
            </a:r>
          </a:p>
          <a:p>
            <a:pPr lvl="2">
              <a:spcBef>
                <a:spcPts val="1200"/>
              </a:spcBef>
              <a:buFont typeface="Calibri" panose="020F0502020204030204" pitchFamily="34" charset="0"/>
              <a:buChar char="―"/>
            </a:pPr>
            <a:r>
              <a:rPr kumimoji="1" lang="en-US" dirty="0"/>
              <a:t>if process P1 has no free frame, &amp; demands a page </a:t>
            </a:r>
            <a:endParaRPr lang="en-US" dirty="0"/>
          </a:p>
          <a:p>
            <a:pPr lvl="2">
              <a:spcBef>
                <a:spcPts val="600"/>
              </a:spcBef>
              <a:buFont typeface="Calibri" panose="020F0502020204030204" pitchFamily="34" charset="0"/>
              <a:buChar char="―"/>
            </a:pPr>
            <a:r>
              <a:rPr kumimoji="1" lang="en-US" i="1" dirty="0">
                <a:solidFill>
                  <a:srgbClr val="0000CC"/>
                </a:solidFill>
              </a:rPr>
              <a:t>victim frame </a:t>
            </a:r>
            <a:r>
              <a:rPr kumimoji="1" lang="en-US" dirty="0"/>
              <a:t>selected is of the </a:t>
            </a:r>
            <a:r>
              <a:rPr kumimoji="1" lang="en-US" i="1" dirty="0">
                <a:solidFill>
                  <a:srgbClr val="0000CC"/>
                </a:solidFill>
              </a:rPr>
              <a:t>same process P1</a:t>
            </a:r>
          </a:p>
          <a:p>
            <a:pPr lvl="1">
              <a:spcBef>
                <a:spcPts val="1200"/>
              </a:spcBef>
            </a:pPr>
            <a:r>
              <a:rPr kumimoji="1" lang="en-US" sz="2200" b="1" dirty="0">
                <a:solidFill>
                  <a:srgbClr val="C00000"/>
                </a:solidFill>
              </a:rPr>
              <a:t>Global replacement</a:t>
            </a:r>
            <a:r>
              <a:rPr kumimoji="1" lang="en-US" sz="2200" dirty="0">
                <a:solidFill>
                  <a:srgbClr val="C00000"/>
                </a:solidFill>
              </a:rPr>
              <a:t>    </a:t>
            </a:r>
          </a:p>
          <a:p>
            <a:pPr lvl="2">
              <a:spcBef>
                <a:spcPts val="1200"/>
              </a:spcBef>
              <a:buFont typeface="Calibri" panose="020F0502020204030204" pitchFamily="34" charset="0"/>
              <a:buChar char="―"/>
            </a:pPr>
            <a:r>
              <a:rPr kumimoji="1" lang="en-US" dirty="0"/>
              <a:t>if process P1 has no free frame, &amp; demands a page</a:t>
            </a:r>
          </a:p>
          <a:p>
            <a:pPr lvl="2">
              <a:spcBef>
                <a:spcPts val="600"/>
              </a:spcBef>
              <a:buFont typeface="Calibri" panose="020F0502020204030204" pitchFamily="34" charset="0"/>
              <a:buChar char="―"/>
            </a:pPr>
            <a:r>
              <a:rPr lang="en-US" i="1" dirty="0">
                <a:solidFill>
                  <a:srgbClr val="0000CC"/>
                </a:solidFill>
              </a:rPr>
              <a:t>victim frame </a:t>
            </a:r>
            <a:r>
              <a:rPr kumimoji="1" lang="en-US" dirty="0"/>
              <a:t>selected is of </a:t>
            </a:r>
            <a:r>
              <a:rPr lang="en-US" i="1" dirty="0">
                <a:solidFill>
                  <a:srgbClr val="0000CC"/>
                </a:solidFill>
              </a:rPr>
              <a:t>some other process</a:t>
            </a:r>
          </a:p>
          <a:p>
            <a:pPr>
              <a:spcBef>
                <a:spcPts val="1200"/>
              </a:spcBef>
              <a:buFont typeface="Arial" charset="0"/>
              <a:buNone/>
            </a:pPr>
            <a:endParaRPr lang="en-US" sz="2200" dirty="0"/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0" y="3082551"/>
            <a:ext cx="727485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>
              <a:buFont typeface="Arial" pitchFamily="34" charset="0"/>
              <a:buChar char="•"/>
            </a:pPr>
            <a:endParaRPr kumimoji="1" lang="en-US" dirty="0">
              <a:latin typeface="Comic Sans MS" pitchFamily="66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E8A6A8F-0616-57A6-1DD9-E1F84E5C3BF4}"/>
              </a:ext>
            </a:extLst>
          </p:cNvPr>
          <p:cNvSpPr txBox="1">
            <a:spLocks/>
          </p:cNvSpPr>
          <p:nvPr/>
        </p:nvSpPr>
        <p:spPr bwMode="auto">
          <a:xfrm>
            <a:off x="904240" y="0"/>
            <a:ext cx="8239760" cy="782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kern="0" dirty="0"/>
              <a:t>Page Faults &amp; No Free Frame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D328E-03F7-0636-E41A-DED8AB6F8E2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64819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680" y="2479040"/>
            <a:ext cx="8580119" cy="1615439"/>
          </a:xfrm>
        </p:spPr>
        <p:txBody>
          <a:bodyPr/>
          <a:lstStyle/>
          <a:p>
            <a:pPr marL="457200" lvl="1" indent="0" algn="ctr">
              <a:spcBef>
                <a:spcPts val="600"/>
              </a:spcBef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Page Replacement Algorithms</a:t>
            </a:r>
          </a:p>
          <a:p>
            <a:pPr marL="457200" lvl="1" indent="0" algn="ctr">
              <a:spcBef>
                <a:spcPts val="600"/>
              </a:spcBef>
              <a:buNone/>
            </a:pP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2811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/>
          </p:cNvSpPr>
          <p:nvPr>
            <p:ph type="title"/>
          </p:nvPr>
        </p:nvSpPr>
        <p:spPr>
          <a:xfrm>
            <a:off x="1137920" y="0"/>
            <a:ext cx="7450909" cy="762000"/>
          </a:xfrm>
        </p:spPr>
        <p:txBody>
          <a:bodyPr/>
          <a:lstStyle/>
          <a:p>
            <a:r>
              <a:rPr lang="en-US" dirty="0"/>
              <a:t>Page Replacement</a:t>
            </a:r>
          </a:p>
        </p:txBody>
      </p:sp>
      <p:sp>
        <p:nvSpPr>
          <p:cNvPr id="117763" name="Rectangle 3"/>
          <p:cNvSpPr>
            <a:spLocks noGrp="1"/>
          </p:cNvSpPr>
          <p:nvPr>
            <p:ph type="body" idx="1"/>
          </p:nvPr>
        </p:nvSpPr>
        <p:spPr>
          <a:xfrm>
            <a:off x="366810" y="1054192"/>
            <a:ext cx="8667206" cy="5447209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300" dirty="0"/>
              <a:t>OS needs to decide regarding fetch, placement &amp; replacement of pages…</a:t>
            </a:r>
          </a:p>
          <a:p>
            <a:pPr marL="630238" lvl="1" indent="-233363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sz="2300" b="1" dirty="0">
                <a:solidFill>
                  <a:srgbClr val="C00000"/>
                </a:solidFill>
              </a:rPr>
              <a:t>Fetch Strategies  </a:t>
            </a:r>
            <a:r>
              <a:rPr lang="en-US" sz="2300" dirty="0">
                <a:solidFill>
                  <a:srgbClr val="C00000"/>
                </a:solidFill>
              </a:rPr>
              <a:t> </a:t>
            </a:r>
          </a:p>
          <a:p>
            <a:pPr marL="11430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―"/>
            </a:pPr>
            <a:r>
              <a:rPr lang="en-US" dirty="0">
                <a:solidFill>
                  <a:srgbClr val="0000FF"/>
                </a:solidFill>
              </a:rPr>
              <a:t>when</a:t>
            </a:r>
            <a:r>
              <a:rPr lang="en-US" dirty="0"/>
              <a:t> should a page be brought into memory </a:t>
            </a:r>
            <a:br>
              <a:rPr lang="en-US" dirty="0"/>
            </a:br>
            <a:r>
              <a:rPr lang="en-US" i="1" dirty="0"/>
              <a:t>(demand, pre-paging &amp; request)</a:t>
            </a:r>
          </a:p>
          <a:p>
            <a:pPr marL="630238" lvl="1" indent="-233363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sz="2300" b="1" dirty="0">
                <a:solidFill>
                  <a:srgbClr val="C00000"/>
                </a:solidFill>
              </a:rPr>
              <a:t>Placement Strategies   </a:t>
            </a:r>
          </a:p>
          <a:p>
            <a:pPr marL="11430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―"/>
            </a:pPr>
            <a:r>
              <a:rPr lang="en-US" dirty="0">
                <a:solidFill>
                  <a:srgbClr val="0000FF"/>
                </a:solidFill>
              </a:rPr>
              <a:t>where</a:t>
            </a:r>
            <a:r>
              <a:rPr lang="en-US" dirty="0"/>
              <a:t> should a page be placed in main memory</a:t>
            </a:r>
          </a:p>
          <a:p>
            <a:pPr marL="630238" lvl="1" indent="-233363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sz="2300" b="1" dirty="0">
                <a:solidFill>
                  <a:srgbClr val="C00000"/>
                </a:solidFill>
              </a:rPr>
              <a:t>Replacement Strategies   </a:t>
            </a:r>
          </a:p>
          <a:p>
            <a:pPr marL="11430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―"/>
            </a:pPr>
            <a:r>
              <a:rPr lang="en-US" dirty="0">
                <a:solidFill>
                  <a:srgbClr val="0000FF"/>
                </a:solidFill>
              </a:rPr>
              <a:t>which</a:t>
            </a:r>
            <a:r>
              <a:rPr lang="en-US" dirty="0"/>
              <a:t> page be swapped out to disk, if no free frame available </a:t>
            </a:r>
            <a:br>
              <a:rPr lang="en-US" dirty="0"/>
            </a:br>
            <a:r>
              <a:rPr lang="en-US" i="1" dirty="0"/>
              <a:t>(replacement algos; FIFO, Optimal, LRU, …)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D09AE7E-690F-D62B-EAC2-26ECE8B8D5D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896508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3" name="Rectangle 3"/>
          <p:cNvSpPr>
            <a:spLocks noGrp="1"/>
          </p:cNvSpPr>
          <p:nvPr>
            <p:ph type="body" idx="1"/>
          </p:nvPr>
        </p:nvSpPr>
        <p:spPr>
          <a:xfrm>
            <a:off x="406400" y="1099380"/>
            <a:ext cx="8524240" cy="552704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300" dirty="0"/>
              <a:t>Goal of page replacement algo…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reduce page fault rate by selecting the best page to evict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best pages are those that will never be used again</a:t>
            </a:r>
          </a:p>
          <a:p>
            <a:pPr>
              <a:spcBef>
                <a:spcPts val="1800"/>
              </a:spcBef>
              <a:spcAft>
                <a:spcPts val="0"/>
              </a:spcAft>
            </a:pPr>
            <a:r>
              <a:rPr lang="en-US" sz="2300" dirty="0"/>
              <a:t>Principle of Optimality: </a:t>
            </a:r>
          </a:p>
          <a:p>
            <a:pPr marL="0" lvl="1" indent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C00000"/>
                </a:solidFill>
              </a:rPr>
              <a:t>“replace the page that will not be used again </a:t>
            </a:r>
            <a:br>
              <a:rPr lang="en-US" i="1" dirty="0">
                <a:solidFill>
                  <a:srgbClr val="C00000"/>
                </a:solidFill>
              </a:rPr>
            </a:br>
            <a:r>
              <a:rPr lang="en-US" i="1" dirty="0">
                <a:solidFill>
                  <a:srgbClr val="C00000"/>
                </a:solidFill>
              </a:rPr>
              <a:t>the farthest time in future”</a:t>
            </a:r>
          </a:p>
          <a:p>
            <a:pPr marL="1146175" lvl="1" indent="-341313">
              <a:spcBef>
                <a:spcPts val="1200"/>
              </a:spcBef>
              <a:spcAft>
                <a:spcPts val="0"/>
              </a:spcAft>
              <a:buFont typeface="Calibri" panose="020F0502020204030204" pitchFamily="34" charset="0"/>
              <a:buChar char="―"/>
            </a:pPr>
            <a:r>
              <a:rPr lang="en-US" sz="2100" dirty="0"/>
              <a:t>possible only if future access patterns are known</a:t>
            </a:r>
          </a:p>
          <a:p>
            <a:pPr marL="1146175" lvl="1" indent="-341313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―"/>
            </a:pPr>
            <a:r>
              <a:rPr lang="en-US" sz="2100" dirty="0"/>
              <a:t>but generally do not know this…!!!</a:t>
            </a:r>
          </a:p>
          <a:p>
            <a:pPr>
              <a:spcBef>
                <a:spcPts val="1800"/>
              </a:spcBef>
              <a:spcAft>
                <a:spcPts val="0"/>
              </a:spcAft>
            </a:pPr>
            <a:r>
              <a:rPr lang="en-US" sz="2300" dirty="0"/>
              <a:t>Need to evaluate page replacement algo for lowest page fault rate</a:t>
            </a:r>
          </a:p>
          <a:p>
            <a:pPr marL="0" indent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i="1" dirty="0">
                <a:solidFill>
                  <a:srgbClr val="C00000"/>
                </a:solidFill>
              </a:rPr>
              <a:t>“run the algo on a particular string of memory references, </a:t>
            </a:r>
          </a:p>
          <a:p>
            <a:pPr marL="0" indent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i="1" dirty="0">
                <a:solidFill>
                  <a:srgbClr val="C00000"/>
                </a:solidFill>
              </a:rPr>
              <a:t>and compute number of page faults on that string”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sz="26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E8CB8BA-52C7-49FB-2C16-1A92AF070B22}"/>
              </a:ext>
            </a:extLst>
          </p:cNvPr>
          <p:cNvSpPr txBox="1">
            <a:spLocks/>
          </p:cNvSpPr>
          <p:nvPr/>
        </p:nvSpPr>
        <p:spPr bwMode="auto">
          <a:xfrm>
            <a:off x="1137920" y="0"/>
            <a:ext cx="7450909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kern="0" dirty="0"/>
              <a:t>Evicting the Best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A266C-6876-C2F5-D5DE-F8C8FDC9566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7454384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3"/>
          <p:cNvSpPr>
            <a:spLocks noGrp="1"/>
          </p:cNvSpPr>
          <p:nvPr>
            <p:ph type="body" idx="1"/>
          </p:nvPr>
        </p:nvSpPr>
        <p:spPr>
          <a:xfrm>
            <a:off x="461556" y="1184990"/>
            <a:ext cx="8451216" cy="5289002"/>
          </a:xfrm>
        </p:spPr>
        <p:txBody>
          <a:bodyPr>
            <a:noAutofit/>
          </a:bodyPr>
          <a:lstStyle/>
          <a:p>
            <a:pPr>
              <a:spcBef>
                <a:spcPts val="900"/>
              </a:spcBef>
            </a:pPr>
            <a:r>
              <a:rPr lang="en-US" sz="2300" b="1" dirty="0">
                <a:solidFill>
                  <a:srgbClr val="C00000"/>
                </a:solidFill>
              </a:rPr>
              <a:t>FIFO – First in First Out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Replace the page that has been in memory the longest</a:t>
            </a:r>
          </a:p>
          <a:p>
            <a:pPr>
              <a:spcBef>
                <a:spcPts val="1800"/>
              </a:spcBef>
            </a:pPr>
            <a:r>
              <a:rPr lang="en-US" sz="2300" b="1" dirty="0">
                <a:solidFill>
                  <a:srgbClr val="C00000"/>
                </a:solidFill>
              </a:rPr>
              <a:t>Optimal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Replace the page that won’t be used for longest time in future</a:t>
            </a:r>
          </a:p>
          <a:p>
            <a:pPr>
              <a:spcBef>
                <a:spcPts val="1800"/>
              </a:spcBef>
            </a:pPr>
            <a:r>
              <a:rPr lang="en-US" sz="2300" b="1" dirty="0">
                <a:solidFill>
                  <a:srgbClr val="C00000"/>
                </a:solidFill>
              </a:rPr>
              <a:t>LRU – Least Recently Used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Replace the page that has not been used for the longest time</a:t>
            </a:r>
          </a:p>
          <a:p>
            <a:pPr>
              <a:spcBef>
                <a:spcPts val="1800"/>
              </a:spcBef>
            </a:pPr>
            <a:r>
              <a:rPr lang="en-US" sz="2300" b="1" dirty="0">
                <a:solidFill>
                  <a:srgbClr val="C00000"/>
                </a:solidFill>
              </a:rPr>
              <a:t>LFU – Least Frequently Used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Replace the page that has been used least often</a:t>
            </a:r>
          </a:p>
          <a:p>
            <a:pPr>
              <a:spcBef>
                <a:spcPts val="1800"/>
              </a:spcBef>
            </a:pPr>
            <a:r>
              <a:rPr lang="en-US" sz="2300" b="1" dirty="0">
                <a:solidFill>
                  <a:srgbClr val="C00000"/>
                </a:solidFill>
              </a:rPr>
              <a:t>Random Page Replacement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Choose a page randomly</a:t>
            </a:r>
          </a:p>
          <a:p>
            <a:pPr>
              <a:spcBef>
                <a:spcPts val="900"/>
              </a:spcBef>
              <a:buNone/>
            </a:pPr>
            <a:endParaRPr lang="en-US" sz="22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842038A-4FFC-6C08-017A-428ADB9056FB}"/>
              </a:ext>
            </a:extLst>
          </p:cNvPr>
          <p:cNvSpPr txBox="1">
            <a:spLocks/>
          </p:cNvSpPr>
          <p:nvPr/>
        </p:nvSpPr>
        <p:spPr bwMode="auto">
          <a:xfrm>
            <a:off x="1137920" y="0"/>
            <a:ext cx="7450909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kern="0" dirty="0"/>
              <a:t>Page Replacement Algos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7EC0E-413B-E758-6545-0795938BC6C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4457" y="1082466"/>
            <a:ext cx="8144692" cy="4983480"/>
          </a:xfrm>
          <a:noFill/>
        </p:spPr>
        <p:txBody>
          <a:bodyPr/>
          <a:lstStyle/>
          <a:p>
            <a:pPr defTabSz="762000">
              <a:spcBef>
                <a:spcPts val="1800"/>
              </a:spcBef>
            </a:pPr>
            <a:r>
              <a:rPr kumimoji="1" lang="en-US" altLang="ko-KR" dirty="0">
                <a:ea typeface="굴림" charset="-127"/>
              </a:rPr>
              <a:t>Simplest algorithm…</a:t>
            </a:r>
          </a:p>
          <a:p>
            <a:pPr marL="0" indent="0" algn="ctr" defTabSz="762000">
              <a:spcBef>
                <a:spcPts val="600"/>
              </a:spcBef>
              <a:buNone/>
            </a:pPr>
            <a:r>
              <a:rPr lang="en-US" altLang="ko-KR" i="1" dirty="0">
                <a:solidFill>
                  <a:srgbClr val="C00000"/>
                </a:solidFill>
                <a:ea typeface="굴림" charset="-127"/>
              </a:rPr>
              <a:t>“when a page is to be replaced, </a:t>
            </a:r>
            <a:br>
              <a:rPr lang="en-US" altLang="ko-KR" i="1" dirty="0">
                <a:solidFill>
                  <a:srgbClr val="C00000"/>
                </a:solidFill>
                <a:ea typeface="굴림" charset="-127"/>
              </a:rPr>
            </a:br>
            <a:r>
              <a:rPr lang="en-US" altLang="ko-KR" i="1" dirty="0">
                <a:solidFill>
                  <a:srgbClr val="C00000"/>
                </a:solidFill>
                <a:ea typeface="굴림" charset="-127"/>
              </a:rPr>
              <a:t>the oldest one is chosen”</a:t>
            </a:r>
          </a:p>
          <a:p>
            <a:pPr defTabSz="762000">
              <a:spcBef>
                <a:spcPts val="1800"/>
              </a:spcBef>
            </a:pPr>
            <a:r>
              <a:rPr kumimoji="1" lang="en-US" altLang="ko-KR" dirty="0">
                <a:ea typeface="굴림" charset="-127"/>
              </a:rPr>
              <a:t>Instead of recording the time when a page is brought in, we use a FIFO queue</a:t>
            </a:r>
          </a:p>
          <a:p>
            <a:pPr defTabSz="762000">
              <a:spcBef>
                <a:spcPts val="1800"/>
              </a:spcBef>
            </a:pPr>
            <a:r>
              <a:rPr kumimoji="1" lang="en-US" altLang="ko-KR" dirty="0">
                <a:ea typeface="굴림" charset="-127"/>
              </a:rPr>
              <a:t>Suffers from Belady’s anomaly:</a:t>
            </a:r>
          </a:p>
          <a:p>
            <a:pPr marL="0" indent="0" algn="ctr" defTabSz="762000">
              <a:spcBef>
                <a:spcPts val="1200"/>
              </a:spcBef>
              <a:buNone/>
            </a:pPr>
            <a:r>
              <a:rPr kumimoji="1" lang="en-US" altLang="ko-KR" sz="2300" i="1" dirty="0">
                <a:solidFill>
                  <a:srgbClr val="C00000"/>
                </a:solidFill>
                <a:ea typeface="굴림" charset="-127"/>
              </a:rPr>
              <a:t>“for some page replacement algorithms, </a:t>
            </a:r>
            <a:br>
              <a:rPr kumimoji="1" lang="en-US" altLang="ko-KR" sz="2300" i="1" dirty="0">
                <a:solidFill>
                  <a:srgbClr val="C00000"/>
                </a:solidFill>
                <a:ea typeface="굴림" charset="-127"/>
              </a:rPr>
            </a:br>
            <a:r>
              <a:rPr kumimoji="1" lang="en-US" altLang="ko-KR" sz="2300" i="1" dirty="0">
                <a:solidFill>
                  <a:srgbClr val="C00000"/>
                </a:solidFill>
                <a:ea typeface="굴림" charset="-127"/>
              </a:rPr>
              <a:t>by increasing the number of </a:t>
            </a:r>
            <a:r>
              <a:rPr lang="en-US" altLang="ko-KR" sz="2300" i="1" dirty="0">
                <a:solidFill>
                  <a:srgbClr val="C00000"/>
                </a:solidFill>
                <a:ea typeface="굴림" charset="-127"/>
              </a:rPr>
              <a:t>frames </a:t>
            </a:r>
            <a:r>
              <a:rPr kumimoji="1" lang="en-US" altLang="ko-KR" sz="2300" i="1" dirty="0">
                <a:solidFill>
                  <a:srgbClr val="C00000"/>
                </a:solidFill>
                <a:ea typeface="굴림" charset="-127"/>
              </a:rPr>
              <a:t>allocated to a process, </a:t>
            </a:r>
            <a:br>
              <a:rPr kumimoji="1" lang="en-US" altLang="ko-KR" sz="2300" i="1" dirty="0">
                <a:solidFill>
                  <a:srgbClr val="C00000"/>
                </a:solidFill>
                <a:ea typeface="굴림" charset="-127"/>
              </a:rPr>
            </a:br>
            <a:r>
              <a:rPr kumimoji="1" lang="en-US" altLang="ko-KR" sz="2300" i="1" dirty="0">
                <a:solidFill>
                  <a:srgbClr val="C00000"/>
                </a:solidFill>
                <a:ea typeface="굴림" charset="-127"/>
              </a:rPr>
              <a:t>page fault rate may increase”</a:t>
            </a:r>
          </a:p>
          <a:p>
            <a:pPr defTabSz="762000">
              <a:spcBef>
                <a:spcPts val="1800"/>
              </a:spcBef>
              <a:buFontTx/>
              <a:buNone/>
            </a:pPr>
            <a:endParaRPr kumimoji="1" lang="en-US" altLang="ko-KR" u="sng" dirty="0">
              <a:ea typeface="굴림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9815C5-465D-817B-6343-6647FE77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920" y="0"/>
            <a:ext cx="7450909" cy="762000"/>
          </a:xfrm>
        </p:spPr>
        <p:txBody>
          <a:bodyPr/>
          <a:lstStyle/>
          <a:p>
            <a:r>
              <a:rPr lang="en-US" dirty="0"/>
              <a:t>First in First 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B82CB-E78D-F70E-B274-C8A67041460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l="2744" t="12727" r="1289" b="12070"/>
          <a:stretch>
            <a:fillRect/>
          </a:stretch>
        </p:blipFill>
        <p:spPr>
          <a:xfrm>
            <a:off x="5111011" y="2618754"/>
            <a:ext cx="3819396" cy="2673057"/>
          </a:xfrm>
          <a:noFill/>
          <a:ln w="57150" cmpd="thickThin">
            <a:noFill/>
          </a:ln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65760" y="1056105"/>
            <a:ext cx="8585926" cy="13117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620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kumimoji="1" lang="en-US" altLang="ko-KR" sz="2200" dirty="0"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  <a:t>Given a reference string, it would be natural to assume that: </a:t>
            </a:r>
          </a:p>
          <a:p>
            <a:pPr marL="0" indent="0" algn="ctr" defTabSz="762000">
              <a:spcBef>
                <a:spcPts val="1200"/>
              </a:spcBef>
              <a:buNone/>
            </a:pPr>
            <a:r>
              <a:rPr kumimoji="1" lang="en-US" altLang="ko-KR" sz="2200" i="1" dirty="0">
                <a:solidFill>
                  <a:srgbClr val="C00000"/>
                </a:solidFill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  <a:t>the more the total number of frames in main memory, </a:t>
            </a:r>
            <a:br>
              <a:rPr kumimoji="1" lang="en-US" altLang="ko-KR" sz="2200" i="1" dirty="0">
                <a:solidFill>
                  <a:srgbClr val="C00000"/>
                </a:solidFill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</a:br>
            <a:r>
              <a:rPr kumimoji="1" lang="en-US" altLang="ko-KR" sz="2200" i="1" dirty="0">
                <a:solidFill>
                  <a:srgbClr val="C00000"/>
                </a:solidFill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  <a:t>the fewer the number of page faults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1CB182-0D11-0657-5235-2CA1183ADCD4}"/>
              </a:ext>
            </a:extLst>
          </p:cNvPr>
          <p:cNvSpPr txBox="1">
            <a:spLocks/>
          </p:cNvSpPr>
          <p:nvPr/>
        </p:nvSpPr>
        <p:spPr bwMode="auto">
          <a:xfrm>
            <a:off x="1137920" y="0"/>
            <a:ext cx="7450909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kern="0" dirty="0"/>
              <a:t>Belady’s Anomaly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D72F5-7CE9-A8C6-21FA-5A5438E372F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4B3A82-663B-590B-2CEE-44C10C819755}"/>
              </a:ext>
            </a:extLst>
          </p:cNvPr>
          <p:cNvSpPr txBox="1">
            <a:spLocks noChangeArrowheads="1"/>
          </p:cNvSpPr>
          <p:nvPr/>
        </p:nvSpPr>
        <p:spPr>
          <a:xfrm>
            <a:off x="365759" y="2891082"/>
            <a:ext cx="4745255" cy="323757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620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kumimoji="1" lang="en-US" altLang="ko-KR" sz="2200" dirty="0"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  <a:t>Not true for some algos, </a:t>
            </a:r>
            <a:br>
              <a:rPr kumimoji="1" lang="en-US" altLang="ko-KR" sz="2200" dirty="0"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</a:br>
            <a:r>
              <a:rPr kumimoji="1" lang="en-US" altLang="ko-KR" sz="2200" dirty="0"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  <a:t>like FIFO</a:t>
            </a:r>
          </a:p>
          <a:p>
            <a:pPr defTabSz="762000">
              <a:spcBef>
                <a:spcPts val="3000"/>
              </a:spcBef>
              <a:buFont typeface="Wingdings" panose="05000000000000000000" pitchFamily="2" charset="2"/>
              <a:buChar char="§"/>
            </a:pPr>
            <a:r>
              <a:rPr kumimoji="1" lang="en-US" altLang="ko-KR" sz="2200" dirty="0" err="1"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  <a:t>Belady’s</a:t>
            </a:r>
            <a:r>
              <a:rPr kumimoji="1" lang="en-US" altLang="ko-KR" sz="2200" dirty="0"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  <a:t> anomaly:  </a:t>
            </a:r>
          </a:p>
          <a:p>
            <a:pPr marL="346075" indent="0" algn="ctr" defTabSz="762000">
              <a:spcBef>
                <a:spcPts val="1200"/>
              </a:spcBef>
              <a:buNone/>
            </a:pPr>
            <a:r>
              <a:rPr kumimoji="1" lang="en-US" altLang="ko-KR" sz="2200" i="1" dirty="0">
                <a:solidFill>
                  <a:srgbClr val="C00000"/>
                </a:solidFill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  <a:t>for some page replacement algos, </a:t>
            </a:r>
            <a:br>
              <a:rPr kumimoji="1" lang="en-US" altLang="ko-KR" sz="2200" i="1" dirty="0">
                <a:solidFill>
                  <a:srgbClr val="C00000"/>
                </a:solidFill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</a:br>
            <a:r>
              <a:rPr kumimoji="1" lang="en-US" altLang="ko-KR" sz="2200" i="1" dirty="0">
                <a:solidFill>
                  <a:srgbClr val="C00000"/>
                </a:solidFill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  <a:t>by increasing the number of frames</a:t>
            </a:r>
            <a:br>
              <a:rPr kumimoji="1" lang="en-US" altLang="ko-KR" sz="2200" i="1" dirty="0">
                <a:solidFill>
                  <a:srgbClr val="C00000"/>
                </a:solidFill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</a:br>
            <a:r>
              <a:rPr kumimoji="1" lang="en-US" altLang="ko-KR" sz="2200" i="1" dirty="0">
                <a:solidFill>
                  <a:srgbClr val="C00000"/>
                </a:solidFill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  <a:t>allocated to a process, </a:t>
            </a:r>
            <a:br>
              <a:rPr kumimoji="1" lang="en-US" altLang="ko-KR" sz="2200" i="1" dirty="0">
                <a:solidFill>
                  <a:srgbClr val="C00000"/>
                </a:solidFill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</a:br>
            <a:r>
              <a:rPr kumimoji="1" lang="en-US" altLang="ko-KR" sz="2200" i="1" dirty="0">
                <a:solidFill>
                  <a:srgbClr val="C00000"/>
                </a:solidFill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  <a:t>page fault rate may increase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CE1C3-0C21-E7F0-FA76-9DBA9F766FD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07A231F-8444-7815-2F56-3BEC09E65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920" y="244547"/>
            <a:ext cx="7450909" cy="541216"/>
          </a:xfrm>
        </p:spPr>
        <p:txBody>
          <a:bodyPr/>
          <a:lstStyle/>
          <a:p>
            <a:r>
              <a:rPr lang="en-US" dirty="0"/>
              <a:t>First in First Out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07487F2-497A-276C-EC52-C9E6DA28D609}"/>
              </a:ext>
            </a:extLst>
          </p:cNvPr>
          <p:cNvSpPr txBox="1">
            <a:spLocks/>
          </p:cNvSpPr>
          <p:nvPr/>
        </p:nvSpPr>
        <p:spPr bwMode="auto">
          <a:xfrm>
            <a:off x="416560" y="1014206"/>
            <a:ext cx="4297680" cy="2585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sz="2200" kern="0" dirty="0"/>
              <a:t>A sample string showing </a:t>
            </a:r>
            <a:r>
              <a:rPr lang="en-US" sz="2200" kern="0" dirty="0" err="1"/>
              <a:t>Belady’s</a:t>
            </a:r>
            <a:r>
              <a:rPr lang="en-US" sz="2200" kern="0" dirty="0"/>
              <a:t> anomaly in FIFO algorithm</a:t>
            </a:r>
          </a:p>
          <a:p>
            <a:pPr>
              <a:spcBef>
                <a:spcPts val="1800"/>
              </a:spcBef>
            </a:pPr>
            <a:r>
              <a:rPr lang="en-US" sz="2200" kern="0" dirty="0"/>
              <a:t>Number of frames allocated = 3</a:t>
            </a:r>
          </a:p>
          <a:p>
            <a:pPr>
              <a:spcBef>
                <a:spcPts val="600"/>
              </a:spcBef>
            </a:pPr>
            <a:r>
              <a:rPr lang="en-US" sz="2200" kern="0" dirty="0"/>
              <a:t>Reference string: </a:t>
            </a:r>
          </a:p>
          <a:p>
            <a:pPr marL="0" indent="0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sz="2200" kern="0" dirty="0"/>
              <a:t>     1, 2, 3, 4, 1, 2, 5, 1, 2, 3, 4, 5</a:t>
            </a:r>
          </a:p>
          <a:p>
            <a:pPr>
              <a:spcBef>
                <a:spcPts val="600"/>
              </a:spcBef>
            </a:pPr>
            <a:r>
              <a:rPr lang="en-US" sz="2200" kern="0" dirty="0"/>
              <a:t>Number of page faults = 9</a:t>
            </a:r>
          </a:p>
        </p:txBody>
      </p:sp>
      <p:graphicFrame>
        <p:nvGraphicFramePr>
          <p:cNvPr id="8" name="Group 113">
            <a:extLst>
              <a:ext uri="{FF2B5EF4-FFF2-40B4-BE49-F238E27FC236}">
                <a16:creationId xmlns:a16="http://schemas.microsoft.com/office/drawing/2014/main" id="{6F42498D-9F01-3E06-3D82-C900EFC04C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1750468"/>
              </p:ext>
            </p:extLst>
          </p:nvPr>
        </p:nvGraphicFramePr>
        <p:xfrm>
          <a:off x="4789842" y="1295400"/>
          <a:ext cx="4049358" cy="1371600"/>
        </p:xfrm>
        <a:graphic>
          <a:graphicData uri="http://schemas.openxmlformats.org/drawingml/2006/table">
            <a:tbl>
              <a:tblPr/>
              <a:tblGrid>
                <a:gridCol w="450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8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88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4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04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04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95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5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5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Group 115">
            <a:extLst>
              <a:ext uri="{FF2B5EF4-FFF2-40B4-BE49-F238E27FC236}">
                <a16:creationId xmlns:a16="http://schemas.microsoft.com/office/drawing/2014/main" id="{FB2548F9-F0FD-69A0-9797-A388732DD5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020599"/>
              </p:ext>
            </p:extLst>
          </p:nvPr>
        </p:nvGraphicFramePr>
        <p:xfrm>
          <a:off x="4789844" y="4104640"/>
          <a:ext cx="4049356" cy="1828800"/>
        </p:xfrm>
        <a:graphic>
          <a:graphicData uri="http://schemas.openxmlformats.org/drawingml/2006/table">
            <a:tbl>
              <a:tblPr/>
              <a:tblGrid>
                <a:gridCol w="405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2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5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2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2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58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2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95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5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5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5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C7724F1A-9FE2-3C0A-96CC-4C3DA2E280FC}"/>
              </a:ext>
            </a:extLst>
          </p:cNvPr>
          <p:cNvSpPr txBox="1">
            <a:spLocks/>
          </p:cNvSpPr>
          <p:nvPr/>
        </p:nvSpPr>
        <p:spPr bwMode="auto">
          <a:xfrm>
            <a:off x="416560" y="3931920"/>
            <a:ext cx="429768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46075" indent="-34607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kumimoji="1"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Number of frames allocated = 4</a:t>
            </a:r>
          </a:p>
          <a:p>
            <a:pPr marL="346075" indent="-34607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kumimoji="1"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Reference string: 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1"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   1, 2, 3, 4, 1, 2, 5, 1, 2, 3, 4, 5</a:t>
            </a:r>
          </a:p>
          <a:p>
            <a:pPr marL="346075" indent="-34607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kumimoji="1"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Number of page faults = 10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sz="2200" i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increased frame allocation, </a:t>
            </a:r>
            <a:br>
              <a:rPr lang="en-US" sz="2200" i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i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increased page faults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/>
          <p:cNvSpPr>
            <a:spLocks noGrp="1"/>
          </p:cNvSpPr>
          <p:nvPr>
            <p:ph type="body" idx="1"/>
          </p:nvPr>
        </p:nvSpPr>
        <p:spPr>
          <a:xfrm>
            <a:off x="429558" y="1056639"/>
            <a:ext cx="8572928" cy="5564877"/>
          </a:xfrm>
        </p:spPr>
        <p:txBody>
          <a:bodyPr>
            <a:noAutofit/>
          </a:bodyPr>
          <a:lstStyle/>
          <a:p>
            <a:pPr defTabSz="762000">
              <a:spcBef>
                <a:spcPts val="1200"/>
              </a:spcBef>
            </a:pPr>
            <a:r>
              <a:rPr kumimoji="1" lang="en-US" altLang="ko-KR" dirty="0">
                <a:ea typeface="굴림" charset="-127"/>
              </a:rPr>
              <a:t>Best possible algo, but impossible to implement</a:t>
            </a:r>
          </a:p>
          <a:p>
            <a:pPr marL="0" indent="0" algn="ctr" defTabSz="762000">
              <a:spcBef>
                <a:spcPts val="1200"/>
              </a:spcBef>
              <a:buNone/>
            </a:pPr>
            <a:r>
              <a:rPr lang="en-US" altLang="ko-KR" i="1" dirty="0">
                <a:solidFill>
                  <a:srgbClr val="C00000"/>
                </a:solidFill>
                <a:ea typeface="굴림" charset="-127"/>
              </a:rPr>
              <a:t>“Replace the page that will not be used</a:t>
            </a:r>
            <a:br>
              <a:rPr lang="en-US" altLang="ko-KR" i="1" dirty="0">
                <a:solidFill>
                  <a:srgbClr val="C00000"/>
                </a:solidFill>
                <a:ea typeface="굴림" charset="-127"/>
              </a:rPr>
            </a:br>
            <a:r>
              <a:rPr lang="en-US" altLang="ko-KR" i="1" dirty="0">
                <a:solidFill>
                  <a:srgbClr val="C00000"/>
                </a:solidFill>
                <a:ea typeface="굴림" charset="-127"/>
              </a:rPr>
              <a:t>for the longest period of time”</a:t>
            </a:r>
          </a:p>
          <a:p>
            <a:pPr defTabSz="762000">
              <a:spcBef>
                <a:spcPts val="1800"/>
              </a:spcBef>
            </a:pPr>
            <a:r>
              <a:rPr kumimoji="1" lang="en-US" altLang="ko-KR" dirty="0">
                <a:ea typeface="굴림" charset="-127"/>
              </a:rPr>
              <a:t>Has the lowest page fault rate</a:t>
            </a:r>
          </a:p>
          <a:p>
            <a:pPr defTabSz="762000">
              <a:spcBef>
                <a:spcPts val="600"/>
              </a:spcBef>
            </a:pPr>
            <a:r>
              <a:rPr lang="en-US" altLang="ko-KR" dirty="0">
                <a:ea typeface="굴림" charset="-127"/>
              </a:rPr>
              <a:t>Does not</a:t>
            </a:r>
            <a:r>
              <a:rPr kumimoji="1" lang="en-US" altLang="ko-KR" dirty="0">
                <a:ea typeface="굴림" charset="-127"/>
              </a:rPr>
              <a:t> suffer from Belady’s anomaly</a:t>
            </a:r>
          </a:p>
          <a:p>
            <a:pPr defTabSz="762000">
              <a:spcBef>
                <a:spcPts val="600"/>
              </a:spcBef>
            </a:pPr>
            <a:r>
              <a:rPr kumimoji="1" lang="en-US" altLang="ko-KR" dirty="0">
                <a:ea typeface="굴림" charset="-127"/>
              </a:rPr>
              <a:t>But is unrealizable…  </a:t>
            </a:r>
          </a:p>
          <a:p>
            <a:pPr marL="0" indent="0" algn="ctr" defTabSz="762000">
              <a:spcBef>
                <a:spcPts val="1200"/>
              </a:spcBef>
              <a:buNone/>
            </a:pPr>
            <a:r>
              <a:rPr kumimoji="1" lang="en-US" altLang="ko-KR" sz="2200" i="1" dirty="0">
                <a:solidFill>
                  <a:srgbClr val="C00000"/>
                </a:solidFill>
                <a:ea typeface="굴림" charset="-127"/>
              </a:rPr>
              <a:t>at the time of page fault, OS has no way of knowing </a:t>
            </a:r>
            <a:br>
              <a:rPr kumimoji="1" lang="en-US" altLang="ko-KR" sz="2200" i="1" dirty="0">
                <a:solidFill>
                  <a:srgbClr val="C00000"/>
                </a:solidFill>
                <a:ea typeface="굴림" charset="-127"/>
              </a:rPr>
            </a:br>
            <a:r>
              <a:rPr kumimoji="1" lang="en-US" altLang="ko-KR" sz="2200" i="1" dirty="0">
                <a:solidFill>
                  <a:srgbClr val="C00000"/>
                </a:solidFill>
                <a:ea typeface="굴림" charset="-127"/>
              </a:rPr>
              <a:t>when a page would be referenced next</a:t>
            </a:r>
          </a:p>
          <a:p>
            <a:pPr defTabSz="762000">
              <a:spcBef>
                <a:spcPts val="1800"/>
              </a:spcBef>
            </a:pPr>
            <a:r>
              <a:rPr kumimoji="1" lang="en-US" altLang="ko-KR" dirty="0">
                <a:ea typeface="굴림" charset="-127"/>
              </a:rPr>
              <a:t>Used as bench mark… </a:t>
            </a:r>
          </a:p>
          <a:p>
            <a:pPr lvl="1" defTabSz="762000">
              <a:spcBef>
                <a:spcPts val="600"/>
              </a:spcBef>
            </a:pPr>
            <a:r>
              <a:rPr kumimoji="1" lang="en-US" altLang="ko-KR" dirty="0">
                <a:ea typeface="굴림" charset="-127"/>
              </a:rPr>
              <a:t>to evaluate a page replacement algo, its performance is compared with that of </a:t>
            </a:r>
            <a:r>
              <a:rPr lang="en-US" altLang="ko-KR" dirty="0">
                <a:ea typeface="굴림" charset="-127"/>
              </a:rPr>
              <a:t>o</a:t>
            </a:r>
            <a:r>
              <a:rPr kumimoji="1" lang="en-US" altLang="ko-KR" dirty="0">
                <a:ea typeface="굴림" charset="-127"/>
              </a:rPr>
              <a:t>ptimal </a:t>
            </a:r>
          </a:p>
          <a:p>
            <a:pPr>
              <a:spcBef>
                <a:spcPts val="1200"/>
              </a:spcBef>
              <a:buFontTx/>
              <a:buNone/>
            </a:pPr>
            <a:endParaRPr kumimoji="1" lang="en-US" altLang="ko-KR" u="sng" dirty="0">
              <a:ea typeface="굴림" charset="-127"/>
            </a:endParaRPr>
          </a:p>
          <a:p>
            <a:pPr>
              <a:spcBef>
                <a:spcPts val="1200"/>
              </a:spcBef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B0FD58-FFE2-48BF-A9DE-4D23B5E0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920" y="92980"/>
            <a:ext cx="7380438" cy="669019"/>
          </a:xfrm>
        </p:spPr>
        <p:txBody>
          <a:bodyPr/>
          <a:lstStyle/>
          <a:p>
            <a:r>
              <a:rPr lang="en-US" dirty="0"/>
              <a:t>Optimal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CE1C3-0C21-E7F0-FA76-9DBA9F766FD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448124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/>
          <a:srcRect l="471" t="32074" r="781" b="32076"/>
          <a:stretch>
            <a:fillRect/>
          </a:stretch>
        </p:blipFill>
        <p:spPr>
          <a:xfrm>
            <a:off x="416560" y="2782123"/>
            <a:ext cx="8585926" cy="2425629"/>
          </a:xfrm>
          <a:prstGeom prst="rect">
            <a:avLst/>
          </a:prstGeom>
          <a:noFill/>
          <a:ln w="38100" cmpd="dbl">
            <a:solidFill>
              <a:srgbClr val="CC6600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EB0FD58-FFE2-48BF-A9DE-4D23B5E0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920" y="0"/>
            <a:ext cx="7372051" cy="762000"/>
          </a:xfrm>
        </p:spPr>
        <p:txBody>
          <a:bodyPr/>
          <a:lstStyle/>
          <a:p>
            <a:r>
              <a:rPr lang="en-US" dirty="0"/>
              <a:t>Optimal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CE1C3-0C21-E7F0-FA76-9DBA9F766FD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F61F6DA-2828-3275-1309-2DDA22EEAD3E}"/>
              </a:ext>
            </a:extLst>
          </p:cNvPr>
          <p:cNvSpPr txBox="1">
            <a:spLocks noChangeArrowheads="1"/>
          </p:cNvSpPr>
          <p:nvPr/>
        </p:nvSpPr>
        <p:spPr>
          <a:xfrm>
            <a:off x="365760" y="1056105"/>
            <a:ext cx="8585926" cy="143191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620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kumimoji="1" lang="en-US" altLang="ko-KR" sz="2400" dirty="0"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  <a:t>Given the reference string, compute number of page faults for Optimal replacement algo</a:t>
            </a:r>
          </a:p>
          <a:p>
            <a:pPr defTabSz="7620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kumimoji="1" lang="en-US" altLang="ko-KR" sz="2400" dirty="0">
                <a:latin typeface="Calibri" panose="020F0502020204030204" pitchFamily="34" charset="0"/>
                <a:ea typeface="굴림" charset="-127"/>
                <a:cs typeface="Calibri" panose="020F0502020204030204" pitchFamily="34" charset="0"/>
              </a:rPr>
              <a:t>Number of frames allocated is 03</a:t>
            </a:r>
          </a:p>
        </p:txBody>
      </p:sp>
    </p:spTree>
    <p:extLst>
      <p:ext uri="{BB962C8B-B14F-4D97-AF65-F5344CB8AC3E}">
        <p14:creationId xmlns:p14="http://schemas.microsoft.com/office/powerpoint/2010/main" val="25558974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CE1C3-0C21-E7F0-FA76-9DBA9F766FD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633E6F-4927-FF12-50D7-DE7401F04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920" y="92980"/>
            <a:ext cx="7450909" cy="669019"/>
          </a:xfrm>
        </p:spPr>
        <p:txBody>
          <a:bodyPr/>
          <a:lstStyle/>
          <a:p>
            <a:r>
              <a:rPr lang="en-US" dirty="0"/>
              <a:t>Least Recently Used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C582DF1-CAF0-785A-1044-69B777F293C2}"/>
              </a:ext>
            </a:extLst>
          </p:cNvPr>
          <p:cNvSpPr txBox="1">
            <a:spLocks/>
          </p:cNvSpPr>
          <p:nvPr/>
        </p:nvSpPr>
        <p:spPr bwMode="auto">
          <a:xfrm>
            <a:off x="345440" y="1069250"/>
            <a:ext cx="8504270" cy="3220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46075" indent="-346075"/>
            <a:r>
              <a:rPr lang="en-US" altLang="ko-KR" sz="2300" kern="0" dirty="0">
                <a:ea typeface="굴림" charset="-127"/>
              </a:rPr>
              <a:t>Approximation of Optimal algo  </a:t>
            </a:r>
          </a:p>
          <a:p>
            <a:pPr marL="682625" lvl="1" indent="-282575"/>
            <a:r>
              <a:rPr lang="en-US" altLang="ko-KR" kern="0" dirty="0">
                <a:ea typeface="굴림" charset="-127"/>
              </a:rPr>
              <a:t>assumes pages not used for ages, will probably remain unused for a long time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ko-KR" sz="2300" i="1" kern="0" dirty="0">
                <a:solidFill>
                  <a:srgbClr val="C00000"/>
                </a:solidFill>
                <a:ea typeface="굴림" charset="-127"/>
              </a:rPr>
              <a:t>“replace the page not been referenced for the longest time”</a:t>
            </a:r>
          </a:p>
          <a:p>
            <a:pPr marL="346075" indent="-346075">
              <a:spcBef>
                <a:spcPts val="1800"/>
              </a:spcBef>
            </a:pPr>
            <a:r>
              <a:rPr lang="en-US" sz="2200" kern="0" dirty="0"/>
              <a:t>Example: </a:t>
            </a:r>
          </a:p>
          <a:p>
            <a:pPr marL="690563" lvl="1" indent="-290513">
              <a:spcBef>
                <a:spcPts val="600"/>
              </a:spcBef>
            </a:pPr>
            <a:r>
              <a:rPr lang="en-US" kern="0" dirty="0"/>
              <a:t>Number of frames allocated = 3</a:t>
            </a:r>
          </a:p>
          <a:p>
            <a:pPr marL="690563" lvl="1" indent="-290513">
              <a:spcBef>
                <a:spcPts val="600"/>
              </a:spcBef>
            </a:pPr>
            <a:r>
              <a:rPr lang="en-US" kern="0" dirty="0"/>
              <a:t>Reference string: 	  1, 2, 3, 4, 1, 2, 5, 1, 2, 3, 4, 5</a:t>
            </a:r>
          </a:p>
          <a:p>
            <a:pPr marL="690563" lvl="1" indent="-290513">
              <a:spcBef>
                <a:spcPts val="600"/>
              </a:spcBef>
            </a:pPr>
            <a:r>
              <a:rPr lang="en-US" kern="0" dirty="0"/>
              <a:t>Number of page faults = 10</a:t>
            </a:r>
          </a:p>
          <a:p>
            <a:pPr marL="609600" indent="-609600"/>
            <a:endParaRPr lang="en-US" sz="2200" kern="0" dirty="0"/>
          </a:p>
        </p:txBody>
      </p:sp>
      <p:graphicFrame>
        <p:nvGraphicFramePr>
          <p:cNvPr id="11" name="Group 52">
            <a:extLst>
              <a:ext uri="{FF2B5EF4-FFF2-40B4-BE49-F238E27FC236}">
                <a16:creationId xmlns:a16="http://schemas.microsoft.com/office/drawing/2014/main" id="{F8356A6E-A681-8E41-1252-35A88BC209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9434128"/>
              </p:ext>
            </p:extLst>
          </p:nvPr>
        </p:nvGraphicFramePr>
        <p:xfrm>
          <a:off x="1137920" y="4729272"/>
          <a:ext cx="7148040" cy="1767840"/>
        </p:xfrm>
        <a:graphic>
          <a:graphicData uri="http://schemas.openxmlformats.org/drawingml/2006/table">
            <a:tbl>
              <a:tblPr/>
              <a:tblGrid>
                <a:gridCol w="596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5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65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18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7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65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65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654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0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68928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3"/>
          <p:cNvSpPr>
            <a:spLocks noGrp="1"/>
          </p:cNvSpPr>
          <p:nvPr>
            <p:ph type="body" idx="1"/>
          </p:nvPr>
        </p:nvSpPr>
        <p:spPr>
          <a:xfrm>
            <a:off x="416560" y="1066800"/>
            <a:ext cx="8503920" cy="5679440"/>
          </a:xfrm>
        </p:spPr>
        <p:txBody>
          <a:bodyPr>
            <a:noAutofit/>
          </a:bodyPr>
          <a:lstStyle/>
          <a:p>
            <a:pPr defTabSz="762000">
              <a:spcBef>
                <a:spcPts val="600"/>
              </a:spcBef>
              <a:buFontTx/>
              <a:buNone/>
            </a:pPr>
            <a:r>
              <a:rPr kumimoji="1" lang="en-US" altLang="ko-KR" sz="2400" b="1" dirty="0">
                <a:solidFill>
                  <a:srgbClr val="C00000"/>
                </a:solidFill>
                <a:ea typeface="굴림" charset="-127"/>
              </a:rPr>
              <a:t>Drawbacks of FIFO</a:t>
            </a:r>
          </a:p>
          <a:p>
            <a:pPr defTabSz="762000" eaLnBrk="0" hangingPunct="0">
              <a:spcBef>
                <a:spcPts val="600"/>
              </a:spcBef>
            </a:pPr>
            <a:r>
              <a:rPr kumimoji="1" lang="en-US" altLang="ko-KR" sz="2300" dirty="0">
                <a:ea typeface="굴림" charset="-127"/>
              </a:rPr>
              <a:t>A page being accessed quite often, may also get replaced </a:t>
            </a:r>
          </a:p>
          <a:p>
            <a:pPr lvl="1" defTabSz="762000">
              <a:spcBef>
                <a:spcPts val="600"/>
              </a:spcBef>
            </a:pPr>
            <a:r>
              <a:rPr lang="en-US" altLang="ko-KR" dirty="0">
                <a:ea typeface="굴림" charset="-127"/>
              </a:rPr>
              <a:t>as it arrived earlier than those present</a:t>
            </a:r>
          </a:p>
          <a:p>
            <a:pPr defTabSz="762000">
              <a:spcBef>
                <a:spcPts val="600"/>
              </a:spcBef>
            </a:pPr>
            <a:r>
              <a:rPr lang="en-US" altLang="ko-KR" sz="2300" dirty="0">
                <a:ea typeface="굴림" charset="-127"/>
              </a:rPr>
              <a:t>Ignores locality of reference </a:t>
            </a:r>
          </a:p>
          <a:p>
            <a:pPr lvl="1" defTabSz="762000">
              <a:spcBef>
                <a:spcPts val="600"/>
              </a:spcBef>
            </a:pPr>
            <a:r>
              <a:rPr lang="en-US" altLang="ko-KR" dirty="0">
                <a:ea typeface="굴림" charset="-127"/>
              </a:rPr>
              <a:t>recently referenced page may also get replaced</a:t>
            </a:r>
          </a:p>
          <a:p>
            <a:pPr lvl="1" defTabSz="762000">
              <a:spcBef>
                <a:spcPts val="600"/>
              </a:spcBef>
            </a:pPr>
            <a:r>
              <a:rPr lang="en-US" altLang="ko-KR" dirty="0">
                <a:ea typeface="굴림" charset="-127"/>
              </a:rPr>
              <a:t>although probability is high same page may be needed again</a:t>
            </a:r>
          </a:p>
          <a:p>
            <a:pPr defTabSz="762000">
              <a:spcBef>
                <a:spcPts val="1800"/>
              </a:spcBef>
              <a:buNone/>
            </a:pPr>
            <a:r>
              <a:rPr kumimoji="1" lang="en-US" altLang="ko-KR" sz="2400" b="1" dirty="0">
                <a:solidFill>
                  <a:srgbClr val="C00000"/>
                </a:solidFill>
                <a:ea typeface="굴림" charset="-127"/>
              </a:rPr>
              <a:t>Drawbacks of LRU</a:t>
            </a:r>
          </a:p>
          <a:p>
            <a:pPr defTabSz="762000">
              <a:spcBef>
                <a:spcPts val="600"/>
              </a:spcBef>
            </a:pPr>
            <a:r>
              <a:rPr kumimoji="1" lang="en-US" altLang="ko-KR" sz="2300" dirty="0">
                <a:ea typeface="굴림" charset="-127"/>
              </a:rPr>
              <a:t>Scheme </a:t>
            </a:r>
            <a:r>
              <a:rPr lang="en-US" altLang="ko-KR" sz="2300" dirty="0">
                <a:ea typeface="굴림" charset="-127"/>
              </a:rPr>
              <a:t>takes care of locality of reference, and </a:t>
            </a:r>
            <a:r>
              <a:rPr kumimoji="1" lang="en-US" altLang="ko-KR" sz="2300" dirty="0">
                <a:ea typeface="굴림" charset="-127"/>
              </a:rPr>
              <a:t>replaces dormant pages</a:t>
            </a:r>
          </a:p>
          <a:p>
            <a:pPr defTabSz="762000">
              <a:spcBef>
                <a:spcPts val="600"/>
              </a:spcBef>
            </a:pPr>
            <a:r>
              <a:rPr kumimoji="1" lang="en-US" altLang="ko-KR" sz="2300" dirty="0">
                <a:ea typeface="굴림" charset="-127"/>
              </a:rPr>
              <a:t>But a frequently accessed page may also get replaced </a:t>
            </a:r>
          </a:p>
          <a:p>
            <a:pPr lvl="1" defTabSz="762000">
              <a:spcBef>
                <a:spcPts val="600"/>
              </a:spcBef>
            </a:pPr>
            <a:r>
              <a:rPr lang="en-US" altLang="ko-KR" dirty="0">
                <a:ea typeface="굴림" charset="-127"/>
              </a:rPr>
              <a:t>due to not being accessed for some time</a:t>
            </a:r>
          </a:p>
          <a:p>
            <a:pPr lvl="1" defTabSz="762000">
              <a:spcBef>
                <a:spcPts val="600"/>
              </a:spcBef>
            </a:pPr>
            <a:r>
              <a:rPr kumimoji="1" lang="en-US" altLang="ko-KR" dirty="0">
                <a:ea typeface="굴림" charset="-127"/>
              </a:rPr>
              <a:t>being a significant page, may be needed in the very next access</a:t>
            </a:r>
          </a:p>
          <a:p>
            <a:pPr defTabSz="762000">
              <a:spcBef>
                <a:spcPts val="600"/>
              </a:spcBef>
              <a:buFontTx/>
              <a:buNone/>
            </a:pPr>
            <a:endParaRPr kumimoji="1" lang="en-US" altLang="ko-KR" sz="2400" b="1" dirty="0">
              <a:ea typeface="굴림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943A481-26FD-C4F3-ACCA-CBAA39681482}"/>
              </a:ext>
            </a:extLst>
          </p:cNvPr>
          <p:cNvSpPr txBox="1">
            <a:spLocks/>
          </p:cNvSpPr>
          <p:nvPr/>
        </p:nvSpPr>
        <p:spPr bwMode="auto">
          <a:xfrm>
            <a:off x="1137920" y="0"/>
            <a:ext cx="7537994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kern="0" dirty="0"/>
              <a:t>Page Replacement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5D814-1F49-CE61-B031-34C32D91A82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877379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Rectangle 3"/>
          <p:cNvSpPr>
            <a:spLocks noGrp="1"/>
          </p:cNvSpPr>
          <p:nvPr>
            <p:ph type="body" idx="1"/>
          </p:nvPr>
        </p:nvSpPr>
        <p:spPr>
          <a:xfrm>
            <a:off x="365760" y="1078496"/>
            <a:ext cx="8544560" cy="5564042"/>
          </a:xfrm>
        </p:spPr>
        <p:txBody>
          <a:bodyPr>
            <a:noAutofit/>
          </a:bodyPr>
          <a:lstStyle/>
          <a:p>
            <a:pPr marL="0" indent="0">
              <a:buFont typeface="Arial" charset="0"/>
              <a:buNone/>
            </a:pPr>
            <a:r>
              <a:rPr lang="en-US" sz="2100" b="1" u="sng" dirty="0">
                <a:solidFill>
                  <a:srgbClr val="C00000"/>
                </a:solidFill>
              </a:rPr>
              <a:t>Problem:</a:t>
            </a:r>
            <a:r>
              <a:rPr lang="en-US" sz="2100" dirty="0">
                <a:solidFill>
                  <a:srgbClr val="C00000"/>
                </a:solidFill>
              </a:rPr>
              <a:t>   </a:t>
            </a:r>
            <a:r>
              <a:rPr lang="en-US" sz="2100" dirty="0"/>
              <a:t>Compute total page faults for the given page Trace for 4 frames, using following algorithms:</a:t>
            </a:r>
          </a:p>
          <a:p>
            <a:pPr marL="517525" lvl="1"/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FIFO,</a:t>
            </a:r>
            <a:r>
              <a:rPr kumimoji="0" lang="en-US" sz="21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 Optimal, and LRU </a:t>
            </a:r>
          </a:p>
          <a:p>
            <a:pPr marL="517525" lvl="1"/>
            <a:r>
              <a:rPr lang="en-US" sz="2100" dirty="0"/>
              <a:t>Page Trace/Reference String is given  below:</a:t>
            </a:r>
          </a:p>
          <a:p>
            <a:pPr marL="231775" lvl="1" indent="0">
              <a:buNone/>
            </a:pPr>
            <a:r>
              <a:rPr lang="en-US" sz="2100" dirty="0"/>
              <a:t>	2, 3, 4, 5, 6, 4, 5, 2, 7, 8, 9, 4, 9, 0, 8, 9, 1, 6, 5, 6, 5, 3</a:t>
            </a:r>
          </a:p>
          <a:p>
            <a:pPr algn="ctr">
              <a:buFont typeface="Arial" charset="0"/>
              <a:buNone/>
            </a:pPr>
            <a:endParaRPr lang="en-US" sz="2100" dirty="0"/>
          </a:p>
          <a:p>
            <a:pPr marL="0" marR="0" lvl="0" indent="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1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</a:rPr>
              <a:t>Problem:</a:t>
            </a:r>
            <a:r>
              <a:rPr kumimoji="0" lang="en-US" sz="2100" b="0" i="0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</a:rPr>
              <a:t>   </a:t>
            </a:r>
            <a:r>
              <a:rPr kumimoji="0" lang="en-US" sz="2100" b="0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Compute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 total page faults for the given page Trace for 3 frames using FIFO,</a:t>
            </a:r>
            <a:r>
              <a:rPr kumimoji="0" lang="en-US" sz="21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 Optimal, and LRU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algorithm with:</a:t>
            </a:r>
          </a:p>
          <a:p>
            <a:pPr marL="225425" lvl="1" indent="0" eaLnBrk="1" fontAlgn="auto" hangingPunct="1"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kumimoji="0" lang="en-US" sz="2100" kern="1200" dirty="0">
                <a:ea typeface="+mn-ea"/>
              </a:rPr>
              <a:t>	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6, 5, 4, 3, 0, 6, 5, 1, 3, 2, 5, 6, 4, 3, 2, 1, 6, 0, 3, 4, 1, 6</a:t>
            </a:r>
          </a:p>
          <a:p>
            <a:pPr marL="568325" lvl="1" indent="-34290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</a:endParaRPr>
          </a:p>
          <a:p>
            <a:pPr marL="0" marR="0" lvl="0" indent="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1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</a:rPr>
              <a:t>Problem:</a:t>
            </a:r>
            <a:r>
              <a:rPr kumimoji="0" lang="en-US" sz="2100" b="1" i="0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</a:rPr>
              <a:t>   </a:t>
            </a:r>
            <a:r>
              <a:rPr kumimoji="0" lang="en-US" sz="2100" b="0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Compute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 total page faults for the given page Trace, using FIFO,</a:t>
            </a:r>
            <a:r>
              <a:rPr kumimoji="0" lang="en-US" sz="21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 Optimal, and LRU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algorithm :</a:t>
            </a:r>
          </a:p>
          <a:p>
            <a:pPr marL="342900" marR="0" lvl="0" indent="-34290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100" kern="1200" dirty="0">
                <a:ea typeface="+mn-ea"/>
              </a:rPr>
              <a:t>		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8, 9, 0, 1, 2, 0, 1, 8, 3, 4, 5, 0, 5, 6, 4, 5, 7, 2, 1, 2, 1,9</a:t>
            </a:r>
          </a:p>
          <a:p>
            <a:pPr marL="225425" lvl="1" indent="0" eaLnBrk="1" fontAlgn="auto" hangingPunct="1"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  	Do it using 4 frames and then using 3 frames</a:t>
            </a:r>
          </a:p>
          <a:p>
            <a:pPr marL="0" indent="0">
              <a:buNone/>
            </a:pPr>
            <a:endParaRPr lang="en-US" sz="2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EEDFCD-3AA8-1FA9-E923-56D970739919}"/>
              </a:ext>
            </a:extLst>
          </p:cNvPr>
          <p:cNvSpPr txBox="1">
            <a:spLocks/>
          </p:cNvSpPr>
          <p:nvPr/>
        </p:nvSpPr>
        <p:spPr bwMode="auto">
          <a:xfrm>
            <a:off x="1137920" y="0"/>
            <a:ext cx="7450909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kern="0" dirty="0"/>
              <a:t>Sample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D2AFD-101B-9612-3A59-DF845A02BE9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/>
          </p:cNvSpPr>
          <p:nvPr>
            <p:ph type="title"/>
          </p:nvPr>
        </p:nvSpPr>
        <p:spPr>
          <a:xfrm>
            <a:off x="1137920" y="0"/>
            <a:ext cx="7450909" cy="762000"/>
          </a:xfrm>
        </p:spPr>
        <p:txBody>
          <a:bodyPr/>
          <a:lstStyle/>
          <a:p>
            <a:r>
              <a:rPr lang="en-US" dirty="0"/>
              <a:t>Use of “dirty bit” in PTE</a:t>
            </a:r>
          </a:p>
        </p:txBody>
      </p:sp>
      <p:sp>
        <p:nvSpPr>
          <p:cNvPr id="117763" name="Rectangle 3"/>
          <p:cNvSpPr>
            <a:spLocks noGrp="1"/>
          </p:cNvSpPr>
          <p:nvPr>
            <p:ph type="body" idx="1"/>
          </p:nvPr>
        </p:nvSpPr>
        <p:spPr>
          <a:xfrm>
            <a:off x="471910" y="1187294"/>
            <a:ext cx="8253549" cy="5181598"/>
          </a:xfrm>
        </p:spPr>
        <p:txBody>
          <a:bodyPr>
            <a:noAutofit/>
          </a:bodyPr>
          <a:lstStyle/>
          <a:p>
            <a:pPr marL="346075"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Page Table Entry has a “</a:t>
            </a:r>
            <a:r>
              <a:rPr lang="en-US" b="1" dirty="0">
                <a:solidFill>
                  <a:srgbClr val="FF0000"/>
                </a:solidFill>
              </a:rPr>
              <a:t>dirty bit</a:t>
            </a:r>
            <a:r>
              <a:rPr lang="en-US" b="1" dirty="0"/>
              <a:t>”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  </a:t>
            </a:r>
          </a:p>
          <a:p>
            <a:pPr marL="746125" lvl="1"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used to reduce the overhead of page transfers, when a page is to be swapped out to hard disk</a:t>
            </a:r>
          </a:p>
          <a:p>
            <a:pPr marL="346075">
              <a:spcBef>
                <a:spcPts val="1800"/>
              </a:spcBef>
              <a:spcAft>
                <a:spcPts val="0"/>
              </a:spcAft>
            </a:pPr>
            <a:r>
              <a:rPr lang="en-US" sz="2500" b="1" dirty="0">
                <a:solidFill>
                  <a:srgbClr val="C00000"/>
                </a:solidFill>
              </a:rPr>
              <a:t>Dirty bit</a:t>
            </a:r>
          </a:p>
          <a:p>
            <a:pPr marL="746125" lvl="1">
              <a:spcBef>
                <a:spcPts val="600"/>
              </a:spcBef>
              <a:spcAft>
                <a:spcPts val="0"/>
              </a:spcAft>
            </a:pPr>
            <a:r>
              <a:rPr lang="en-US" sz="2300" dirty="0"/>
              <a:t>set by hardware  –  when data is written to a page</a:t>
            </a:r>
          </a:p>
          <a:p>
            <a:pPr marL="746125" lvl="1">
              <a:spcBef>
                <a:spcPts val="600"/>
              </a:spcBef>
              <a:spcAft>
                <a:spcPts val="0"/>
              </a:spcAft>
            </a:pPr>
            <a:r>
              <a:rPr lang="en-US" sz="2300" dirty="0"/>
              <a:t>checked by OS     –  at page replacement time</a:t>
            </a:r>
          </a:p>
          <a:p>
            <a:pPr marL="346075">
              <a:spcBef>
                <a:spcPts val="1800"/>
              </a:spcBef>
              <a:spcAft>
                <a:spcPts val="0"/>
              </a:spcAft>
            </a:pPr>
            <a:r>
              <a:rPr lang="en-US" sz="2500" dirty="0"/>
              <a:t>When page is to be swapped out </a:t>
            </a:r>
          </a:p>
          <a:p>
            <a:pPr marL="746125" lvl="1">
              <a:spcBef>
                <a:spcPts val="600"/>
              </a:spcBef>
              <a:spcAft>
                <a:spcPts val="0"/>
              </a:spcAft>
            </a:pPr>
            <a:r>
              <a:rPr lang="en-US" sz="2300" dirty="0"/>
              <a:t>only the modified pages are written back to disk</a:t>
            </a:r>
          </a:p>
          <a:p>
            <a:pPr marL="746125" lvl="1">
              <a:spcBef>
                <a:spcPts val="600"/>
              </a:spcBef>
              <a:spcAft>
                <a:spcPts val="0"/>
              </a:spcAft>
            </a:pPr>
            <a:endParaRPr lang="en-US" sz="2300" dirty="0"/>
          </a:p>
          <a:p>
            <a:pPr marL="682625" lvl="1">
              <a:spcBef>
                <a:spcPts val="600"/>
              </a:spcBef>
              <a:spcAft>
                <a:spcPts val="0"/>
              </a:spcAft>
            </a:pPr>
            <a:endParaRPr lang="en-US" dirty="0"/>
          </a:p>
          <a:p>
            <a:pPr lvl="2">
              <a:spcBef>
                <a:spcPts val="600"/>
              </a:spcBef>
              <a:spcAft>
                <a:spcPts val="0"/>
              </a:spcAft>
            </a:pPr>
            <a:endParaRPr lang="en-US" sz="2400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D09AE7E-690F-D62B-EAC2-26ECE8B8D5D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946916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/>
          </p:cNvSpPr>
          <p:nvPr>
            <p:ph type="title"/>
          </p:nvPr>
        </p:nvSpPr>
        <p:spPr>
          <a:xfrm>
            <a:off x="904240" y="0"/>
            <a:ext cx="8239760" cy="782320"/>
          </a:xfrm>
        </p:spPr>
        <p:txBody>
          <a:bodyPr>
            <a:noAutofit/>
          </a:bodyPr>
          <a:lstStyle/>
          <a:p>
            <a:r>
              <a:rPr lang="en-US" dirty="0"/>
              <a:t>Performance of Demand Paging</a:t>
            </a:r>
          </a:p>
        </p:txBody>
      </p:sp>
      <p:sp>
        <p:nvSpPr>
          <p:cNvPr id="108547" name="Rectangle 3"/>
          <p:cNvSpPr>
            <a:spLocks noGrp="1"/>
          </p:cNvSpPr>
          <p:nvPr>
            <p:ph type="body" idx="1"/>
          </p:nvPr>
        </p:nvSpPr>
        <p:spPr>
          <a:xfrm>
            <a:off x="416560" y="1150258"/>
            <a:ext cx="8514080" cy="2714171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dirty="0"/>
              <a:t>Consider that </a:t>
            </a: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dirty="0"/>
              <a:t> is the probability of page fault occurring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sz="2300" dirty="0"/>
              <a:t>page fault rate will lie between,  </a:t>
            </a:r>
            <a:r>
              <a:rPr lang="en-US" sz="2300" dirty="0">
                <a:solidFill>
                  <a:srgbClr val="FF0000"/>
                </a:solidFill>
              </a:rPr>
              <a:t>0  </a:t>
            </a:r>
            <a:r>
              <a:rPr lang="en-US" sz="2300" dirty="0">
                <a:solidFill>
                  <a:srgbClr val="FF0000"/>
                </a:solidFill>
                <a:sym typeface="Symbol" pitchFamily="18" charset="2"/>
              </a:rPr>
              <a:t>  p    1</a:t>
            </a:r>
          </a:p>
          <a:p>
            <a:pPr marL="857250" lvl="2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300" dirty="0">
                <a:sym typeface="Symbol" pitchFamily="18" charset="2"/>
              </a:rPr>
              <a:t>	  if  </a:t>
            </a:r>
            <a:r>
              <a:rPr lang="en-US" sz="2300" dirty="0">
                <a:solidFill>
                  <a:srgbClr val="FF0000"/>
                </a:solidFill>
                <a:sym typeface="Symbol" pitchFamily="18" charset="2"/>
              </a:rPr>
              <a:t>p = 0       </a:t>
            </a:r>
            <a:r>
              <a:rPr lang="en-US" sz="2300" dirty="0">
                <a:sym typeface="Symbol" pitchFamily="18" charset="2"/>
              </a:rPr>
              <a:t>no page faults </a:t>
            </a:r>
          </a:p>
          <a:p>
            <a:pPr marL="857250" lvl="2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300" dirty="0">
                <a:sym typeface="Symbol" pitchFamily="18" charset="2"/>
              </a:rPr>
              <a:t>	  if  </a:t>
            </a:r>
            <a:r>
              <a:rPr lang="en-US" sz="2300" dirty="0">
                <a:solidFill>
                  <a:srgbClr val="FF0000"/>
                </a:solidFill>
                <a:sym typeface="Symbol" pitchFamily="18" charset="2"/>
              </a:rPr>
              <a:t>p = 1</a:t>
            </a:r>
            <a:r>
              <a:rPr lang="en-US" sz="2300" dirty="0">
                <a:sym typeface="Symbol" pitchFamily="18" charset="2"/>
              </a:rPr>
              <a:t>       every reference is a fault</a:t>
            </a:r>
          </a:p>
          <a:p>
            <a:pPr>
              <a:spcBef>
                <a:spcPts val="2400"/>
              </a:spcBef>
            </a:pPr>
            <a:r>
              <a:rPr lang="en-US" b="1" dirty="0">
                <a:sym typeface="Symbol" pitchFamily="18" charset="2"/>
              </a:rPr>
              <a:t>Effective Access Time (EAT)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BF21CF1-C43C-E441-084F-6504AA54231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85B569E-D9D1-35E2-FAA0-4B16D2D9AE1E}"/>
              </a:ext>
            </a:extLst>
          </p:cNvPr>
          <p:cNvGrpSpPr/>
          <p:nvPr/>
        </p:nvGrpSpPr>
        <p:grpSpPr>
          <a:xfrm>
            <a:off x="1078411" y="3907972"/>
            <a:ext cx="7162076" cy="2333289"/>
            <a:chOff x="1078411" y="3907972"/>
            <a:chExt cx="7162076" cy="233328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C9739BA-25F9-D215-14ED-A346C0EF2000}"/>
                </a:ext>
              </a:extLst>
            </p:cNvPr>
            <p:cNvSpPr txBox="1"/>
            <p:nvPr/>
          </p:nvSpPr>
          <p:spPr>
            <a:xfrm>
              <a:off x="1078411" y="3907972"/>
              <a:ext cx="973531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700" dirty="0">
                  <a:sym typeface="Symbol" pitchFamily="18" charset="2"/>
                </a:rPr>
                <a:t>EAT  = </a:t>
              </a:r>
              <a:endParaRPr lang="en-US" sz="17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30B974-D6B8-C87C-4F14-D08020AB49D4}"/>
                </a:ext>
              </a:extLst>
            </p:cNvPr>
            <p:cNvSpPr txBox="1"/>
            <p:nvPr/>
          </p:nvSpPr>
          <p:spPr>
            <a:xfrm>
              <a:off x="1928039" y="3907972"/>
              <a:ext cx="1498427" cy="8771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700" dirty="0">
                  <a:sym typeface="Symbol" pitchFamily="18" charset="2"/>
                </a:rPr>
                <a:t>(probability of no page fault) </a:t>
              </a:r>
              <a:endParaRPr lang="en-US" sz="17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A196B1-257E-EFAC-5000-156090F3A364}"/>
                </a:ext>
              </a:extLst>
            </p:cNvPr>
            <p:cNvSpPr txBox="1"/>
            <p:nvPr/>
          </p:nvSpPr>
          <p:spPr>
            <a:xfrm>
              <a:off x="3622396" y="3907972"/>
              <a:ext cx="1253401" cy="8771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700" dirty="0">
                  <a:sym typeface="Symbol" pitchFamily="18" charset="2"/>
                </a:rPr>
                <a:t>(memory access time) </a:t>
              </a:r>
              <a:endParaRPr lang="en-US" sz="17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7352AF0-7E85-8DDA-E1E4-9FA69E589AB8}"/>
                </a:ext>
              </a:extLst>
            </p:cNvPr>
            <p:cNvSpPr txBox="1"/>
            <p:nvPr/>
          </p:nvSpPr>
          <p:spPr>
            <a:xfrm>
              <a:off x="3341910" y="3954138"/>
              <a:ext cx="28206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700" dirty="0">
                  <a:sym typeface="Symbol" pitchFamily="18" charset="2"/>
                </a:rPr>
                <a:t>* </a:t>
              </a:r>
              <a:endParaRPr lang="en-US" sz="17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2850FFA-01A3-49A9-A5F6-0737D2D2DB7E}"/>
                </a:ext>
              </a:extLst>
            </p:cNvPr>
            <p:cNvSpPr txBox="1"/>
            <p:nvPr/>
          </p:nvSpPr>
          <p:spPr>
            <a:xfrm>
              <a:off x="5097767" y="3907972"/>
              <a:ext cx="1530885" cy="8771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700" dirty="0">
                  <a:sym typeface="Symbol" pitchFamily="18" charset="2"/>
                </a:rPr>
                <a:t>(probability of page fault)</a:t>
              </a:r>
              <a:endParaRPr lang="en-US" sz="17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F89A653-2132-923F-01CF-1BB9DEC5863B}"/>
                </a:ext>
              </a:extLst>
            </p:cNvPr>
            <p:cNvSpPr txBox="1"/>
            <p:nvPr/>
          </p:nvSpPr>
          <p:spPr>
            <a:xfrm>
              <a:off x="6852196" y="3915954"/>
              <a:ext cx="1388291" cy="8771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700" dirty="0">
                  <a:sym typeface="Symbol" pitchFamily="18" charset="2"/>
                </a:rPr>
                <a:t>(page fault service time)</a:t>
              </a:r>
              <a:endParaRPr lang="en-US" sz="17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9DC81D-F74D-BBA0-9795-6E652CBE272C}"/>
                </a:ext>
              </a:extLst>
            </p:cNvPr>
            <p:cNvSpPr txBox="1"/>
            <p:nvPr/>
          </p:nvSpPr>
          <p:spPr>
            <a:xfrm flipH="1">
              <a:off x="6514739" y="3969527"/>
              <a:ext cx="295562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700" dirty="0">
                  <a:sym typeface="Symbol" pitchFamily="18" charset="2"/>
                </a:rPr>
                <a:t>* </a:t>
              </a:r>
              <a:endParaRPr lang="en-US" sz="17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D486DC-A884-776E-4331-2B8626E00AA9}"/>
                </a:ext>
              </a:extLst>
            </p:cNvPr>
            <p:cNvSpPr txBox="1"/>
            <p:nvPr/>
          </p:nvSpPr>
          <p:spPr>
            <a:xfrm>
              <a:off x="4817281" y="3921480"/>
              <a:ext cx="28206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700" dirty="0">
                  <a:sym typeface="Symbol" pitchFamily="18" charset="2"/>
                </a:rPr>
                <a:t>+ </a:t>
              </a:r>
              <a:endParaRPr lang="en-US" sz="17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3FB9F8-2CD1-6F37-8417-0BD66B683CEA}"/>
                </a:ext>
              </a:extLst>
            </p:cNvPr>
            <p:cNvSpPr txBox="1"/>
            <p:nvPr/>
          </p:nvSpPr>
          <p:spPr>
            <a:xfrm>
              <a:off x="1089293" y="5094506"/>
              <a:ext cx="973531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700" dirty="0">
                  <a:sym typeface="Symbol" pitchFamily="18" charset="2"/>
                </a:rPr>
                <a:t>EAT  = </a:t>
              </a:r>
              <a:endParaRPr lang="en-US" sz="17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9DCFA4-4F6F-131F-3DFE-72C6B5539C5F}"/>
                </a:ext>
              </a:extLst>
            </p:cNvPr>
            <p:cNvSpPr txBox="1"/>
            <p:nvPr/>
          </p:nvSpPr>
          <p:spPr>
            <a:xfrm>
              <a:off x="1960686" y="5094506"/>
              <a:ext cx="953877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700" dirty="0">
                  <a:sym typeface="Symbol" pitchFamily="18" charset="2"/>
                </a:rPr>
                <a:t>(1 - p) </a:t>
              </a:r>
              <a:endParaRPr lang="en-US" sz="17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8E2CF8-B88E-0EB5-008D-32386BB3091E}"/>
                </a:ext>
              </a:extLst>
            </p:cNvPr>
            <p:cNvSpPr txBox="1"/>
            <p:nvPr/>
          </p:nvSpPr>
          <p:spPr>
            <a:xfrm>
              <a:off x="3088988" y="5094506"/>
              <a:ext cx="879197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700" dirty="0">
                  <a:sym typeface="Symbol" pitchFamily="18" charset="2"/>
                </a:rPr>
                <a:t>(MAT) </a:t>
              </a:r>
              <a:endParaRPr lang="en-US" sz="17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910A9AA-DB52-9BD5-C0FE-DCEA59C63BD4}"/>
                </a:ext>
              </a:extLst>
            </p:cNvPr>
            <p:cNvSpPr txBox="1"/>
            <p:nvPr/>
          </p:nvSpPr>
          <p:spPr>
            <a:xfrm>
              <a:off x="2830268" y="5140672"/>
              <a:ext cx="28206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700" dirty="0">
                  <a:sym typeface="Symbol" pitchFamily="18" charset="2"/>
                </a:rPr>
                <a:t>* </a:t>
              </a:r>
              <a:endParaRPr lang="en-US" sz="17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8D75EB2-8BF9-2140-2F36-6085E535771F}"/>
                </a:ext>
              </a:extLst>
            </p:cNvPr>
            <p:cNvSpPr txBox="1"/>
            <p:nvPr/>
          </p:nvSpPr>
          <p:spPr>
            <a:xfrm>
              <a:off x="4216016" y="5094506"/>
              <a:ext cx="591919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700" dirty="0">
                  <a:sym typeface="Symbol" pitchFamily="18" charset="2"/>
                </a:rPr>
                <a:t>(p)</a:t>
              </a:r>
              <a:endParaRPr lang="en-US" sz="17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CE74C5B-E1FB-3837-CDCF-63911F1C7AC5}"/>
                </a:ext>
              </a:extLst>
            </p:cNvPr>
            <p:cNvSpPr txBox="1"/>
            <p:nvPr/>
          </p:nvSpPr>
          <p:spPr>
            <a:xfrm>
              <a:off x="5166545" y="5102488"/>
              <a:ext cx="2790914" cy="11387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700" dirty="0">
                  <a:sym typeface="Symbol" pitchFamily="18" charset="2"/>
                </a:rPr>
                <a:t>(page fault overhead + </a:t>
              </a:r>
              <a:br>
                <a:rPr lang="en-US" sz="1700" dirty="0">
                  <a:sym typeface="Symbol" pitchFamily="18" charset="2"/>
                </a:rPr>
              </a:br>
              <a:r>
                <a:rPr lang="en-US" sz="1700" dirty="0">
                  <a:sym typeface="Symbol" pitchFamily="18" charset="2"/>
                </a:rPr>
                <a:t>swap out time + </a:t>
              </a:r>
              <a:br>
                <a:rPr lang="en-US" sz="1700" dirty="0">
                  <a:sym typeface="Symbol" pitchFamily="18" charset="2"/>
                </a:rPr>
              </a:br>
              <a:r>
                <a:rPr lang="en-US" sz="1700" dirty="0">
                  <a:sym typeface="Symbol" pitchFamily="18" charset="2"/>
                </a:rPr>
                <a:t>swap in time + </a:t>
              </a:r>
              <a:br>
                <a:rPr lang="en-US" sz="1700" dirty="0">
                  <a:sym typeface="Symbol" pitchFamily="18" charset="2"/>
                </a:rPr>
              </a:br>
              <a:r>
                <a:rPr lang="en-US" sz="1700" dirty="0">
                  <a:sym typeface="Symbol" pitchFamily="18" charset="2"/>
                </a:rPr>
                <a:t>restart overhead)</a:t>
              </a:r>
              <a:endParaRPr lang="en-US" sz="17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61B8C70-8FB6-8060-5F40-5DFDE615029C}"/>
                </a:ext>
              </a:extLst>
            </p:cNvPr>
            <p:cNvSpPr txBox="1"/>
            <p:nvPr/>
          </p:nvSpPr>
          <p:spPr>
            <a:xfrm flipH="1">
              <a:off x="4773012" y="5156061"/>
              <a:ext cx="295562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700" dirty="0">
                  <a:sym typeface="Symbol" pitchFamily="18" charset="2"/>
                </a:rPr>
                <a:t>* </a:t>
              </a:r>
              <a:endParaRPr lang="en-US" sz="17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652D9E9-FA06-54A8-25D7-20153FB52867}"/>
                </a:ext>
              </a:extLst>
            </p:cNvPr>
            <p:cNvSpPr txBox="1"/>
            <p:nvPr/>
          </p:nvSpPr>
          <p:spPr>
            <a:xfrm>
              <a:off x="3913755" y="5108014"/>
              <a:ext cx="28206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700" dirty="0">
                  <a:sym typeface="Symbol" pitchFamily="18" charset="2"/>
                </a:rPr>
                <a:t>+ </a:t>
              </a:r>
              <a:endParaRPr lang="en-US" sz="1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08006693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/>
          </p:cNvSpPr>
          <p:nvPr>
            <p:ph type="title"/>
          </p:nvPr>
        </p:nvSpPr>
        <p:spPr>
          <a:xfrm>
            <a:off x="904240" y="0"/>
            <a:ext cx="8239760" cy="782320"/>
          </a:xfrm>
        </p:spPr>
        <p:txBody>
          <a:bodyPr>
            <a:noAutofit/>
          </a:bodyPr>
          <a:lstStyle/>
          <a:p>
            <a:r>
              <a:rPr lang="en-US" dirty="0"/>
              <a:t>Performance of Demand Paging</a:t>
            </a:r>
          </a:p>
        </p:txBody>
      </p:sp>
      <p:sp>
        <p:nvSpPr>
          <p:cNvPr id="108547" name="Rectangle 3"/>
          <p:cNvSpPr>
            <a:spLocks noGrp="1"/>
          </p:cNvSpPr>
          <p:nvPr>
            <p:ph type="body" idx="1"/>
          </p:nvPr>
        </p:nvSpPr>
        <p:spPr>
          <a:xfrm>
            <a:off x="398340" y="983069"/>
            <a:ext cx="8377798" cy="5781949"/>
          </a:xfrm>
        </p:spPr>
        <p:txBody>
          <a:bodyPr>
            <a:noAutofit/>
          </a:bodyPr>
          <a:lstStyle/>
          <a:p>
            <a:pPr>
              <a:buFont typeface="Arial" charset="0"/>
              <a:buNone/>
            </a:pPr>
            <a:r>
              <a:rPr lang="en-US" b="1" u="sng" dirty="0">
                <a:solidFill>
                  <a:srgbClr val="C00000"/>
                </a:solidFill>
                <a:sym typeface="Symbol" pitchFamily="18" charset="2"/>
              </a:rPr>
              <a:t>Problem</a:t>
            </a:r>
          </a:p>
          <a:p>
            <a:pPr marL="0" indent="346075">
              <a:lnSpc>
                <a:spcPct val="110000"/>
              </a:lnSpc>
              <a:spcBef>
                <a:spcPts val="600"/>
              </a:spcBef>
              <a:buFont typeface="Arial" charset="0"/>
              <a:buNone/>
            </a:pPr>
            <a:r>
              <a:rPr lang="en-US" sz="2100" dirty="0">
                <a:sym typeface="Symbol" pitchFamily="18" charset="2"/>
              </a:rPr>
              <a:t>Consider a system with Memory Access Time of 100 nanosecond. One out of 1000 accesses causes a Page Fault </a:t>
            </a:r>
            <a:r>
              <a:rPr lang="en-US" sz="2100" i="1" dirty="0">
                <a:solidFill>
                  <a:srgbClr val="0066FF"/>
                </a:solidFill>
                <a:sym typeface="Symbol" pitchFamily="18" charset="2"/>
              </a:rPr>
              <a:t>(p = 1/1000)</a:t>
            </a:r>
            <a:r>
              <a:rPr lang="en-US" sz="2100" dirty="0">
                <a:sym typeface="Symbol" pitchFamily="18" charset="2"/>
              </a:rPr>
              <a:t>, and total Page Fault Service Time is 25 millisecond. Calculate Effective Access Time. Discuss how much the system will be slowed down. </a:t>
            </a:r>
            <a:endParaRPr lang="en-US" sz="2100" i="1" dirty="0">
              <a:sym typeface="Symbol" pitchFamily="18" charset="2"/>
            </a:endParaRPr>
          </a:p>
          <a:p>
            <a:pPr>
              <a:spcBef>
                <a:spcPts val="1500"/>
              </a:spcBef>
              <a:buFont typeface="Arial" charset="0"/>
              <a:buNone/>
            </a:pPr>
            <a:r>
              <a:rPr lang="en-US" sz="2200" dirty="0">
                <a:solidFill>
                  <a:srgbClr val="FF0000"/>
                </a:solidFill>
                <a:sym typeface="Symbol" pitchFamily="18" charset="2"/>
              </a:rPr>
              <a:t>		</a:t>
            </a:r>
            <a:r>
              <a:rPr lang="en-US" sz="2200" dirty="0" err="1">
                <a:solidFill>
                  <a:srgbClr val="FF0000"/>
                </a:solidFill>
                <a:sym typeface="Symbol" pitchFamily="18" charset="2"/>
              </a:rPr>
              <a:t>T</a:t>
            </a:r>
            <a:r>
              <a:rPr lang="en-US" sz="2200" baseline="-30000" dirty="0" err="1">
                <a:solidFill>
                  <a:srgbClr val="FF0000"/>
                </a:solidFill>
                <a:sym typeface="Symbol" pitchFamily="18" charset="2"/>
              </a:rPr>
              <a:t>effective</a:t>
            </a:r>
            <a:r>
              <a:rPr lang="en-US" sz="2200" baseline="-30000" dirty="0">
                <a:solidFill>
                  <a:srgbClr val="FF0000"/>
                </a:solidFill>
                <a:sym typeface="Symbol" pitchFamily="18" charset="2"/>
              </a:rPr>
              <a:t>   </a:t>
            </a:r>
            <a:r>
              <a:rPr lang="en-US" sz="2200" dirty="0">
                <a:solidFill>
                  <a:srgbClr val="FF0000"/>
                </a:solidFill>
                <a:sym typeface="Symbol" pitchFamily="18" charset="2"/>
              </a:rPr>
              <a:t>=  (1 - p) * 100   +  p (25 x 10</a:t>
            </a:r>
            <a:r>
              <a:rPr lang="en-US" sz="2200" baseline="40000" dirty="0">
                <a:solidFill>
                  <a:srgbClr val="FF0000"/>
                </a:solidFill>
                <a:sym typeface="Symbol" pitchFamily="18" charset="2"/>
              </a:rPr>
              <a:t>-3</a:t>
            </a:r>
            <a:r>
              <a:rPr lang="en-US" sz="2200" dirty="0">
                <a:solidFill>
                  <a:srgbClr val="FF0000"/>
                </a:solidFill>
                <a:sym typeface="Symbol" pitchFamily="18" charset="2"/>
              </a:rPr>
              <a:t>)</a:t>
            </a:r>
          </a:p>
          <a:p>
            <a:pPr>
              <a:spcBef>
                <a:spcPts val="1500"/>
              </a:spcBef>
              <a:buFont typeface="Arial" charset="0"/>
              <a:buNone/>
            </a:pPr>
            <a:r>
              <a:rPr lang="en-US" sz="2200" dirty="0">
                <a:solidFill>
                  <a:srgbClr val="FF0000"/>
                </a:solidFill>
                <a:sym typeface="Symbol" pitchFamily="18" charset="2"/>
              </a:rPr>
              <a:t>			=  (1 - 1/1000) * 100 ns  +  1/1000 * 25 </a:t>
            </a:r>
            <a:r>
              <a:rPr lang="en-US" sz="2200" dirty="0" err="1">
                <a:solidFill>
                  <a:srgbClr val="FF0000"/>
                </a:solidFill>
                <a:sym typeface="Symbol" pitchFamily="18" charset="2"/>
              </a:rPr>
              <a:t>ms</a:t>
            </a:r>
            <a:endParaRPr lang="en-US" sz="2200" dirty="0">
              <a:solidFill>
                <a:srgbClr val="FF0000"/>
              </a:solidFill>
              <a:sym typeface="Symbol" pitchFamily="18" charset="2"/>
            </a:endParaRPr>
          </a:p>
          <a:p>
            <a:pPr>
              <a:spcBef>
                <a:spcPts val="1500"/>
              </a:spcBef>
              <a:buNone/>
            </a:pPr>
            <a:r>
              <a:rPr lang="en-US" sz="2200" dirty="0">
                <a:solidFill>
                  <a:srgbClr val="FF0000"/>
                </a:solidFill>
                <a:sym typeface="Symbol" pitchFamily="18" charset="2"/>
              </a:rPr>
              <a:t>			=  (1 - 1/1000) * 100 ns  +  1/1000 * (25 x 10</a:t>
            </a:r>
            <a:r>
              <a:rPr lang="en-US" sz="2200" baseline="40000" dirty="0">
                <a:solidFill>
                  <a:srgbClr val="FF0000"/>
                </a:solidFill>
                <a:sym typeface="Symbol" pitchFamily="18" charset="2"/>
              </a:rPr>
              <a:t>-3</a:t>
            </a:r>
            <a:r>
              <a:rPr lang="en-US" sz="2200" dirty="0">
                <a:solidFill>
                  <a:srgbClr val="FF0000"/>
                </a:solidFill>
                <a:sym typeface="Symbol" pitchFamily="18" charset="2"/>
              </a:rPr>
              <a:t>)</a:t>
            </a:r>
          </a:p>
          <a:p>
            <a:pPr>
              <a:spcBef>
                <a:spcPts val="1500"/>
              </a:spcBef>
              <a:buNone/>
            </a:pPr>
            <a:r>
              <a:rPr lang="en-US" sz="2200" dirty="0">
                <a:solidFill>
                  <a:srgbClr val="FF0000"/>
                </a:solidFill>
                <a:sym typeface="Symbol" pitchFamily="18" charset="2"/>
              </a:rPr>
              <a:t>			=         99.9 ns       +    25000 ns</a:t>
            </a:r>
          </a:p>
          <a:p>
            <a:pPr>
              <a:spcBef>
                <a:spcPts val="1500"/>
              </a:spcBef>
              <a:buFont typeface="Arial" charset="0"/>
              <a:buNone/>
            </a:pPr>
            <a:r>
              <a:rPr lang="en-US" sz="2200" dirty="0">
                <a:solidFill>
                  <a:srgbClr val="FF0000"/>
                </a:solidFill>
                <a:sym typeface="Symbol" pitchFamily="18" charset="2"/>
              </a:rPr>
              <a:t>			=   25099.9 ns          25000 ns</a:t>
            </a:r>
          </a:p>
          <a:p>
            <a:pPr algn="ctr">
              <a:spcBef>
                <a:spcPts val="1500"/>
              </a:spcBef>
              <a:buFont typeface="Arial" charset="0"/>
              <a:buNone/>
            </a:pPr>
            <a:r>
              <a:rPr lang="en-US" sz="2100" i="1" dirty="0">
                <a:solidFill>
                  <a:srgbClr val="0066FF"/>
                </a:solidFill>
                <a:sym typeface="Symbol" pitchFamily="18" charset="2"/>
              </a:rPr>
              <a:t>system is slowed down 250 times, </a:t>
            </a:r>
            <a:br>
              <a:rPr lang="en-US" sz="2100" i="1" dirty="0">
                <a:solidFill>
                  <a:srgbClr val="0066FF"/>
                </a:solidFill>
                <a:sym typeface="Symbol" pitchFamily="18" charset="2"/>
              </a:rPr>
            </a:br>
            <a:r>
              <a:rPr lang="en-US" sz="2100" i="1" dirty="0">
                <a:solidFill>
                  <a:srgbClr val="0066FF"/>
                </a:solidFill>
                <a:sym typeface="Symbol" pitchFamily="18" charset="2"/>
              </a:rPr>
              <a:t>by just one page fault out of 1000 page accesses</a:t>
            </a:r>
          </a:p>
          <a:p>
            <a:pPr>
              <a:lnSpc>
                <a:spcPct val="80000"/>
              </a:lnSpc>
            </a:pPr>
            <a:endParaRPr lang="en-US" sz="2200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BF21CF1-C43C-E441-084F-6504AA54231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710430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3" name="Rectangle 3"/>
          <p:cNvSpPr>
            <a:spLocks noGrp="1"/>
          </p:cNvSpPr>
          <p:nvPr>
            <p:ph type="body" idx="1"/>
          </p:nvPr>
        </p:nvSpPr>
        <p:spPr>
          <a:xfrm>
            <a:off x="386080" y="1172950"/>
            <a:ext cx="8534636" cy="54356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C00000"/>
                </a:solidFill>
              </a:rPr>
              <a:t>Temporal Locality</a:t>
            </a:r>
            <a:r>
              <a:rPr lang="en-US" dirty="0">
                <a:solidFill>
                  <a:srgbClr val="C00000"/>
                </a:solidFill>
              </a:rPr>
              <a:t>   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memory locations accessed </a:t>
            </a:r>
            <a:r>
              <a:rPr lang="en-US" dirty="0">
                <a:solidFill>
                  <a:srgbClr val="0000CC"/>
                </a:solidFill>
              </a:rPr>
              <a:t>recently,</a:t>
            </a:r>
            <a:r>
              <a:rPr lang="en-US" dirty="0"/>
              <a:t> likely to be accessed again soon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1" dirty="0">
                <a:solidFill>
                  <a:srgbClr val="C00000"/>
                </a:solidFill>
              </a:rPr>
              <a:t>Spatial Locality   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memory locations </a:t>
            </a:r>
            <a:r>
              <a:rPr lang="en-US" dirty="0">
                <a:solidFill>
                  <a:srgbClr val="0000CC"/>
                </a:solidFill>
              </a:rPr>
              <a:t>near</a:t>
            </a:r>
            <a:r>
              <a:rPr lang="en-US" dirty="0"/>
              <a:t> recently accessed memory locations, likely to be accessed soon</a:t>
            </a:r>
          </a:p>
          <a:p>
            <a:pPr>
              <a:spcBef>
                <a:spcPts val="2400"/>
              </a:spcBef>
              <a:spcAft>
                <a:spcPts val="0"/>
              </a:spcAft>
            </a:pPr>
            <a:r>
              <a:rPr lang="en-US" dirty="0"/>
              <a:t>Locality helps keep subset of data in more accessible location</a:t>
            </a:r>
            <a:endParaRPr lang="en-US" i="1" dirty="0">
              <a:solidFill>
                <a:srgbClr val="0000CC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i="1" dirty="0">
                <a:solidFill>
                  <a:srgbClr val="0000CC"/>
                </a:solidFill>
              </a:rPr>
              <a:t>caching – </a:t>
            </a:r>
            <a:r>
              <a:rPr lang="en-US" dirty="0"/>
              <a:t>reduces frequency of page swapping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once something is in memory, should be used many times</a:t>
            </a:r>
          </a:p>
          <a:p>
            <a:pPr>
              <a:spcBef>
                <a:spcPts val="1800"/>
              </a:spcBef>
              <a:spcAft>
                <a:spcPts val="0"/>
              </a:spcAft>
            </a:pPr>
            <a:r>
              <a:rPr lang="en-US" sz="2300" dirty="0">
                <a:solidFill>
                  <a:srgbClr val="0000CC"/>
                </a:solidFill>
              </a:rPr>
              <a:t>Key goal:   </a:t>
            </a:r>
            <a:r>
              <a:rPr lang="en-US" sz="2300" dirty="0"/>
              <a:t>maximize cache hit rate, minimize page fault rate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3ABCE-F08B-7220-6AC9-75BE157F6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920" y="0"/>
            <a:ext cx="7450909" cy="762000"/>
          </a:xfrm>
        </p:spPr>
        <p:txBody>
          <a:bodyPr/>
          <a:lstStyle/>
          <a:p>
            <a:r>
              <a:rPr lang="en-US" dirty="0"/>
              <a:t>Exploiting Locality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73A77-8400-E14D-0A97-FC6061919BF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697324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4688E2C-4F85-14AA-82C3-EE35D9F168E8}"/>
              </a:ext>
            </a:extLst>
          </p:cNvPr>
          <p:cNvSpPr txBox="1">
            <a:spLocks/>
          </p:cNvSpPr>
          <p:nvPr/>
        </p:nvSpPr>
        <p:spPr bwMode="auto">
          <a:xfrm>
            <a:off x="1137920" y="0"/>
            <a:ext cx="7450909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kern="0" dirty="0"/>
              <a:t>Thrashing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B5F850-0780-2282-CD99-8995BF85C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1" y="1016000"/>
            <a:ext cx="8615679" cy="2694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285750" indent="-285750" defTabSz="762000">
              <a:spcBef>
                <a:spcPts val="600"/>
              </a:spcBef>
            </a:pPr>
            <a:r>
              <a:rPr lang="en-US" sz="2200" kern="0" dirty="0"/>
              <a:t>If a process does not have “enough” frames, page-fault rate is high</a:t>
            </a:r>
          </a:p>
          <a:p>
            <a:pPr marL="685800" lvl="1" indent="-228600" algn="just" defTabSz="762000">
              <a:spcBef>
                <a:spcPts val="600"/>
              </a:spcBef>
            </a:pPr>
            <a:r>
              <a:rPr lang="en-US" sz="2100" kern="0" dirty="0"/>
              <a:t>low CPU utilization</a:t>
            </a:r>
          </a:p>
          <a:p>
            <a:pPr marL="285750" indent="-228600" algn="just" defTabSz="762000">
              <a:spcBef>
                <a:spcPts val="1200"/>
              </a:spcBef>
            </a:pPr>
            <a:r>
              <a:rPr lang="en-US" sz="2200" kern="0" dirty="0"/>
              <a:t>OS thinks, it needs to increase degree of multi-programming</a:t>
            </a:r>
          </a:p>
          <a:p>
            <a:pPr marL="685800" lvl="1" indent="-228600" algn="just" defTabSz="762000">
              <a:spcBef>
                <a:spcPts val="600"/>
              </a:spcBef>
            </a:pPr>
            <a:r>
              <a:rPr lang="en-US" sz="2100" kern="0" dirty="0"/>
              <a:t>another process is added to system, causing further problems</a:t>
            </a:r>
          </a:p>
          <a:p>
            <a:pPr marL="0" indent="0" algn="ctr" defTabSz="762000">
              <a:spcBef>
                <a:spcPts val="1200"/>
              </a:spcBef>
              <a:buNone/>
            </a:pPr>
            <a:r>
              <a:rPr lang="en-US" sz="2200" i="1" kern="0" dirty="0">
                <a:solidFill>
                  <a:srgbClr val="C00000"/>
                </a:solidFill>
              </a:rPr>
              <a:t>Thrashing – when CPU spends much of its time </a:t>
            </a:r>
            <a:br>
              <a:rPr lang="en-US" sz="2200" i="1" kern="0" dirty="0">
                <a:solidFill>
                  <a:srgbClr val="C00000"/>
                </a:solidFill>
              </a:rPr>
            </a:br>
            <a:r>
              <a:rPr lang="en-US" sz="2200" i="1" kern="0" dirty="0">
                <a:solidFill>
                  <a:srgbClr val="C00000"/>
                </a:solidFill>
              </a:rPr>
              <a:t>swapping pages in and out, rather than executing instructions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02289A-73D4-EA7B-85E7-5E48839B7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60" t="14096" r="562" b="14427"/>
          <a:stretch>
            <a:fillRect/>
          </a:stretch>
        </p:blipFill>
        <p:spPr>
          <a:xfrm>
            <a:off x="2343397" y="3964152"/>
            <a:ext cx="4640086" cy="2269299"/>
          </a:xfrm>
          <a:prstGeom prst="rect">
            <a:avLst/>
          </a:prstGeom>
          <a:noFill/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6D567C8-22B3-BE64-CE20-29527F7BBC3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048754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4688E2C-4F85-14AA-82C3-EE35D9F168E8}"/>
              </a:ext>
            </a:extLst>
          </p:cNvPr>
          <p:cNvSpPr txBox="1">
            <a:spLocks/>
          </p:cNvSpPr>
          <p:nvPr/>
        </p:nvSpPr>
        <p:spPr bwMode="auto">
          <a:xfrm>
            <a:off x="1137920" y="0"/>
            <a:ext cx="7450909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kern="0" dirty="0"/>
              <a:t>Thrashing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B5F850-0780-2282-CD99-8995BF85C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1" y="1056640"/>
            <a:ext cx="8615679" cy="557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285750" indent="-285750" defTabSz="762000"/>
            <a:r>
              <a:rPr lang="en-US" sz="2300" kern="0" dirty="0"/>
              <a:t>To prevent thrashing:</a:t>
            </a:r>
          </a:p>
          <a:p>
            <a:pPr marL="685800" lvl="1" indent="-228600" defTabSz="762000"/>
            <a:r>
              <a:rPr lang="en-US" sz="2300" kern="0" dirty="0"/>
              <a:t>degree of multiprogramming needs to be reduced</a:t>
            </a:r>
          </a:p>
          <a:p>
            <a:pPr marL="285750" indent="-228600" defTabSz="762000">
              <a:spcBef>
                <a:spcPts val="2400"/>
              </a:spcBef>
            </a:pPr>
            <a:r>
              <a:rPr lang="en-US" sz="2300" kern="0" dirty="0"/>
              <a:t>Thrashing can also be reduced by using local page replacement</a:t>
            </a:r>
          </a:p>
          <a:p>
            <a:pPr marL="685800" lvl="1" defTabSz="762000"/>
            <a:r>
              <a:rPr lang="en-US" sz="2300" kern="0" dirty="0"/>
              <a:t>if one process starts thrashing, it cannot steal frames from another process, &amp; cause it to thrash too</a:t>
            </a:r>
          </a:p>
          <a:p>
            <a:pPr marL="285750" indent="-285750" defTabSz="762000">
              <a:spcBef>
                <a:spcPts val="2400"/>
              </a:spcBef>
            </a:pPr>
            <a:r>
              <a:rPr lang="en-US" sz="2300" kern="0" dirty="0"/>
              <a:t>Thrashing results in severe performance problems:</a:t>
            </a:r>
          </a:p>
          <a:p>
            <a:pPr marL="685800" lvl="1" indent="-228600" defTabSz="762000"/>
            <a:r>
              <a:rPr lang="en-US" kern="0" dirty="0"/>
              <a:t>low CPU utilization</a:t>
            </a:r>
          </a:p>
          <a:p>
            <a:pPr marL="685800" lvl="1" indent="-228600" defTabSz="762000"/>
            <a:r>
              <a:rPr lang="en-US" kern="0" dirty="0"/>
              <a:t>high disk utilization</a:t>
            </a:r>
          </a:p>
          <a:p>
            <a:pPr marL="685800" lvl="1" indent="-228600" defTabSz="762000"/>
            <a:r>
              <a:rPr lang="en-US" kern="0" dirty="0"/>
              <a:t>low utilization of other </a:t>
            </a:r>
            <a:br>
              <a:rPr lang="en-US" kern="0" dirty="0"/>
            </a:br>
            <a:r>
              <a:rPr lang="en-US" kern="0" dirty="0"/>
              <a:t>I/O devices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02289A-73D4-EA7B-85E7-5E48839B7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60" t="14096" r="562" b="14427"/>
          <a:stretch>
            <a:fillRect/>
          </a:stretch>
        </p:blipFill>
        <p:spPr>
          <a:xfrm>
            <a:off x="4863374" y="4422666"/>
            <a:ext cx="3415423" cy="1872793"/>
          </a:xfrm>
          <a:prstGeom prst="rect">
            <a:avLst/>
          </a:prstGeom>
          <a:noFill/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6D567C8-22B3-BE64-CE20-29527F7BBC3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9534089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4688E2C-4F85-14AA-82C3-EE35D9F168E8}"/>
              </a:ext>
            </a:extLst>
          </p:cNvPr>
          <p:cNvSpPr txBox="1">
            <a:spLocks/>
          </p:cNvSpPr>
          <p:nvPr/>
        </p:nvSpPr>
        <p:spPr bwMode="auto">
          <a:xfrm>
            <a:off x="1137920" y="0"/>
            <a:ext cx="7357494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kern="0" dirty="0"/>
              <a:t>Thrashing Example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F04B905-5687-45D7-41AB-BDE521FE0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566" y="1088019"/>
            <a:ext cx="8551717" cy="535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285750" indent="-285750" defTabSz="762000">
              <a:spcBef>
                <a:spcPts val="1200"/>
              </a:spcBef>
            </a:pPr>
            <a:r>
              <a:rPr lang="en-US" sz="2200" kern="0" dirty="0"/>
              <a:t>Consider a process using LRU page replacement, with 3 frames</a:t>
            </a:r>
          </a:p>
          <a:p>
            <a:pPr marL="0" indent="0" defTabSz="573088">
              <a:spcBef>
                <a:spcPts val="1200"/>
              </a:spcBef>
              <a:buNone/>
            </a:pPr>
            <a:r>
              <a:rPr lang="en-US" sz="2200" kern="0" dirty="0"/>
              <a:t>		</a:t>
            </a:r>
            <a:r>
              <a:rPr lang="en-US" sz="2100" kern="0" dirty="0"/>
              <a:t>Ref string is:   1234123412341234………..</a:t>
            </a:r>
            <a:br>
              <a:rPr lang="en-US" sz="2100" kern="0" dirty="0"/>
            </a:br>
            <a:r>
              <a:rPr lang="en-US" sz="2100" kern="0" dirty="0"/>
              <a:t>		4</a:t>
            </a:r>
            <a:r>
              <a:rPr lang="en-US" sz="2100" kern="0" baseline="30000" dirty="0"/>
              <a:t>th</a:t>
            </a:r>
            <a:r>
              <a:rPr lang="en-US" sz="2100" kern="0" dirty="0"/>
              <a:t> access onwards, all cause page fault</a:t>
            </a:r>
          </a:p>
          <a:p>
            <a:pPr marL="285750" indent="-285750" defTabSz="762000">
              <a:spcBef>
                <a:spcPts val="1800"/>
              </a:spcBef>
              <a:buSzPct val="100000"/>
              <a:defRPr/>
            </a:pPr>
            <a:r>
              <a:rPr lang="en-US" sz="2200" b="1" kern="0" dirty="0"/>
              <a:t>What do humans do when thrashing</a:t>
            </a:r>
          </a:p>
          <a:p>
            <a:pPr marL="630238" lvl="1" defTabSz="762000">
              <a:spcBef>
                <a:spcPts val="600"/>
              </a:spcBef>
              <a:buSzPct val="100000"/>
              <a:defRPr/>
            </a:pPr>
            <a:r>
              <a:rPr lang="en-US" kern="0" dirty="0"/>
              <a:t>if flunking all courses at midterm time, withdraw one or two</a:t>
            </a:r>
          </a:p>
          <a:p>
            <a:pPr marL="228600" indent="-228600" defTabSz="762000">
              <a:spcBef>
                <a:spcPts val="1200"/>
              </a:spcBef>
              <a:buSzPct val="100000"/>
              <a:defRPr/>
            </a:pPr>
            <a:r>
              <a:rPr lang="en-US" sz="2200" b="1" kern="0" dirty="0"/>
              <a:t>What does OS do</a:t>
            </a:r>
          </a:p>
          <a:p>
            <a:pPr marL="630238" lvl="1" defTabSz="762000">
              <a:spcBef>
                <a:spcPts val="1200"/>
              </a:spcBef>
              <a:buSzPct val="100000"/>
              <a:defRPr/>
            </a:pPr>
            <a:r>
              <a:rPr lang="en-US" kern="0" dirty="0"/>
              <a:t>if a single process is too large for memory, there is nothing OS can do, &amp; process will simply thrash</a:t>
            </a:r>
          </a:p>
          <a:p>
            <a:pPr marL="630238" lvl="1" defTabSz="762000">
              <a:spcBef>
                <a:spcPts val="1200"/>
              </a:spcBef>
              <a:buSzPct val="100000"/>
              <a:defRPr/>
            </a:pPr>
            <a:r>
              <a:rPr lang="en-US" kern="0" dirty="0"/>
              <a:t>if problem arises because of sum of several processes</a:t>
            </a:r>
          </a:p>
          <a:p>
            <a:pPr marL="1030288" lvl="2" indent="-344488" defTabSz="762000">
              <a:spcBef>
                <a:spcPts val="600"/>
              </a:spcBef>
              <a:buSzPct val="100000"/>
              <a:buFont typeface="Calibri" panose="020F0502020204030204" pitchFamily="34" charset="0"/>
              <a:buChar char="―"/>
              <a:defRPr/>
            </a:pPr>
            <a:r>
              <a:rPr lang="en-US" kern="0" dirty="0"/>
              <a:t>figure out how much memory each process needs</a:t>
            </a:r>
          </a:p>
          <a:p>
            <a:pPr marL="1030288" lvl="2" indent="-344488" defTabSz="762000">
              <a:spcBef>
                <a:spcPts val="600"/>
              </a:spcBef>
              <a:buSzPct val="100000"/>
              <a:buFont typeface="Calibri" panose="020F0502020204030204" pitchFamily="34" charset="0"/>
              <a:buChar char="―"/>
              <a:defRPr/>
            </a:pPr>
            <a:r>
              <a:rPr lang="en-US" kern="0" dirty="0"/>
              <a:t>change scheduling priorities to run processes in groups, such that memory needs can be satisfied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A17AA06-51C5-4F5D-031A-985F4CE373C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593432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29407</TotalTime>
  <Words>2532</Words>
  <Application>Microsoft Office PowerPoint</Application>
  <PresentationFormat>On-screen Show (4:3)</PresentationFormat>
  <Paragraphs>451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7" baseType="lpstr">
      <vt:lpstr>굴림</vt:lpstr>
      <vt:lpstr>Abadi</vt:lpstr>
      <vt:lpstr>Arial</vt:lpstr>
      <vt:lpstr>Calibri</vt:lpstr>
      <vt:lpstr>Comic Sans MS</vt:lpstr>
      <vt:lpstr>Gill Sans MT</vt:lpstr>
      <vt:lpstr>Helvetica</vt:lpstr>
      <vt:lpstr>Symbol</vt:lpstr>
      <vt:lpstr>Tahoma</vt:lpstr>
      <vt:lpstr>Times New Roman</vt:lpstr>
      <vt:lpstr>Verdana</vt:lpstr>
      <vt:lpstr>Webdings</vt:lpstr>
      <vt:lpstr>Wingdings</vt:lpstr>
      <vt:lpstr>Wingdings 2</vt:lpstr>
      <vt:lpstr>os-8</vt:lpstr>
      <vt:lpstr>PowerPoint Presentation</vt:lpstr>
      <vt:lpstr>Agenda</vt:lpstr>
      <vt:lpstr>Introduction to Virtual Memory</vt:lpstr>
      <vt:lpstr>Introduction to Virtual Memory</vt:lpstr>
      <vt:lpstr>Introduction to Virtual Memory</vt:lpstr>
      <vt:lpstr>Introduction to Virtual Memory</vt:lpstr>
      <vt:lpstr>Demand Paging</vt:lpstr>
      <vt:lpstr>Demand Paging</vt:lpstr>
      <vt:lpstr>Demand Paging</vt:lpstr>
      <vt:lpstr>Page Table - Some Pages not in Memory</vt:lpstr>
      <vt:lpstr>Servicing a Page Fault</vt:lpstr>
      <vt:lpstr>Servicing a Page Fault</vt:lpstr>
      <vt:lpstr>PowerPoint Presentation</vt:lpstr>
      <vt:lpstr>PowerPoint Presentation</vt:lpstr>
      <vt:lpstr>Page Replacement</vt:lpstr>
      <vt:lpstr>PowerPoint Presentation</vt:lpstr>
      <vt:lpstr>PowerPoint Presentation</vt:lpstr>
      <vt:lpstr>First in First Out</vt:lpstr>
      <vt:lpstr>PowerPoint Presentation</vt:lpstr>
      <vt:lpstr>First in First Out</vt:lpstr>
      <vt:lpstr>Optimal</vt:lpstr>
      <vt:lpstr>Optimal</vt:lpstr>
      <vt:lpstr>Least Recently Used</vt:lpstr>
      <vt:lpstr>PowerPoint Presentation</vt:lpstr>
      <vt:lpstr>PowerPoint Presentation</vt:lpstr>
      <vt:lpstr>Use of “dirty bit” in PTE</vt:lpstr>
      <vt:lpstr>Performance of Demand Paging</vt:lpstr>
      <vt:lpstr>Performance of Demand Paging</vt:lpstr>
      <vt:lpstr>Exploiting Locality</vt:lpstr>
      <vt:lpstr>PowerPoint Presentation</vt:lpstr>
      <vt:lpstr>PowerPoint Presentation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Dr Nauman Mazhar</cp:lastModifiedBy>
  <cp:revision>619</cp:revision>
  <cp:lastPrinted>2001-06-14T13:58:17Z</cp:lastPrinted>
  <dcterms:created xsi:type="dcterms:W3CDTF">2011-01-13T23:43:38Z</dcterms:created>
  <dcterms:modified xsi:type="dcterms:W3CDTF">2024-07-05T03:32:36Z</dcterms:modified>
</cp:coreProperties>
</file>