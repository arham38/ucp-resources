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81" r:id="rId2"/>
    <p:sldId id="257" r:id="rId3"/>
    <p:sldId id="258" r:id="rId4"/>
    <p:sldId id="286" r:id="rId5"/>
    <p:sldId id="259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3" r:id="rId16"/>
    <p:sldId id="274" r:id="rId17"/>
    <p:sldId id="277" r:id="rId18"/>
    <p:sldId id="279" r:id="rId19"/>
    <p:sldId id="282" r:id="rId20"/>
    <p:sldId id="283" r:id="rId21"/>
    <p:sldId id="284" r:id="rId22"/>
    <p:sldId id="285" r:id="rId23"/>
    <p:sldId id="287" r:id="rId24"/>
    <p:sldId id="288" r:id="rId25"/>
    <p:sldId id="28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63" autoAdjust="0"/>
  </p:normalViewPr>
  <p:slideViewPr>
    <p:cSldViewPr snapToGrid="0" snapToObjects="1">
      <p:cViewPr>
        <p:scale>
          <a:sx n="85" d="100"/>
          <a:sy n="85" d="100"/>
        </p:scale>
        <p:origin x="740" y="1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6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9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81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1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2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44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8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9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60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29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1078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3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94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63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9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8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19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6972"/>
            <a:ext cx="8229600" cy="203509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4800" b="1" dirty="0"/>
              <a:t>Week 15:</a:t>
            </a:r>
            <a:br>
              <a:rPr lang="en-US" sz="4800" dirty="0"/>
            </a:br>
            <a:r>
              <a:rPr lang="en-US" sz="4800" b="1" dirty="0"/>
              <a:t>HTTP Cookies in Authentication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2943259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is a Cookie?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cookie is small data stored in the browser</a:t>
            </a:r>
          </a:p>
          <a:p>
            <a:r>
              <a:t>Sent automatically with every request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Cookies are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HTTP is stateless</a:t>
            </a:r>
          </a:p>
          <a:p>
            <a:r>
              <a:rPr dirty="0"/>
              <a:t>Server cannot remember users without cookies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142"/>
            <a:ext cx="8229600" cy="1143000"/>
          </a:xfrm>
        </p:spPr>
        <p:txBody>
          <a:bodyPr/>
          <a:lstStyle/>
          <a:p>
            <a:r>
              <a:rPr lang="en-US" b="1" dirty="0"/>
              <a:t>Role of Cookies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1308"/>
            <a:ext cx="8229600" cy="5687122"/>
          </a:xfrm>
        </p:spPr>
        <p:txBody>
          <a:bodyPr>
            <a:normAutofit/>
          </a:bodyPr>
          <a:lstStyle/>
          <a:p>
            <a:r>
              <a:rPr lang="en-US" dirty="0"/>
              <a:t>Cookies are small pieces of data that the </a:t>
            </a:r>
            <a:r>
              <a:rPr lang="en-US" b="1" dirty="0"/>
              <a:t>server asks the browser to store</a:t>
            </a:r>
            <a:r>
              <a:rPr lang="en-US" dirty="0"/>
              <a:t>.</a:t>
            </a:r>
          </a:p>
          <a:p>
            <a:r>
              <a:rPr lang="en-US" dirty="0"/>
              <a:t>On each new request, the browser </a:t>
            </a:r>
            <a:r>
              <a:rPr lang="en-US" b="1" dirty="0"/>
              <a:t>sends the cookies back to the server</a:t>
            </a:r>
            <a:r>
              <a:rPr lang="en-US" dirty="0"/>
              <a:t>, allowing the server to identify the user.</a:t>
            </a:r>
          </a:p>
          <a:p>
            <a:r>
              <a:rPr lang="en-US" dirty="0"/>
              <a:t>This is how servers maintain </a:t>
            </a:r>
            <a:r>
              <a:rPr lang="en-US" b="1" dirty="0"/>
              <a:t>sessions</a:t>
            </a:r>
            <a:r>
              <a:rPr lang="en-US" dirty="0"/>
              <a:t> and "remember" users even though HTTP itself is stateless.</a:t>
            </a:r>
          </a:p>
          <a:p>
            <a:r>
              <a:rPr lang="en-US" b="1" dirty="0"/>
              <a:t>Example Flow:</a:t>
            </a:r>
            <a:endParaRPr lang="en-US" dirty="0"/>
          </a:p>
          <a:p>
            <a:r>
              <a:rPr lang="en-US" dirty="0"/>
              <a:t>User logs in → Server creates a session → Stores session ID in a cookie → Sends cookie to browser.</a:t>
            </a:r>
          </a:p>
          <a:p>
            <a:r>
              <a:rPr lang="en-US" dirty="0"/>
              <a:t>Browser makes another request → Sends cookie → Server looks up session ID → Knows who the user is.</a:t>
            </a:r>
          </a:p>
        </p:txBody>
      </p:sp>
    </p:spTree>
    <p:extLst>
      <p:ext uri="{BB962C8B-B14F-4D97-AF65-F5344CB8AC3E}">
        <p14:creationId xmlns:p14="http://schemas.microsoft.com/office/powerpoint/2010/main" val="1028818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Authentication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server know who is logged in?</a:t>
            </a:r>
          </a:p>
          <a:p>
            <a:r>
              <a:t>Each request is independent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JWT Without Cookies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Token must be manually sent in headers</a:t>
            </a:r>
          </a:p>
          <a:p>
            <a:r>
              <a:t>Risky and inconvenient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Store JWT in Cookies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 handles storage automatically</a:t>
            </a:r>
          </a:p>
          <a:p>
            <a:r>
              <a:t>Improves security and usability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res.cookie</a:t>
            </a:r>
            <a:r>
              <a:rPr b="1" dirty="0"/>
              <a:t>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Used to set cookies from server</a:t>
            </a:r>
          </a:p>
          <a:p>
            <a:r>
              <a:rPr dirty="0"/>
              <a:t>Sends instructions to browser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res.cookie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res.cookie</a:t>
            </a:r>
            <a:r>
              <a:rPr dirty="0"/>
              <a:t>(name, value, options)</a:t>
            </a:r>
          </a:p>
          <a:p>
            <a:r>
              <a:rPr dirty="0"/>
              <a:t>Name = cookie key</a:t>
            </a:r>
          </a:p>
          <a:p>
            <a:r>
              <a:rPr dirty="0"/>
              <a:t>Value = token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res.cookie</a:t>
            </a:r>
            <a:r>
              <a:rPr lang="en-US" dirty="0">
                <a:solidFill>
                  <a:srgbClr val="FFFF00"/>
                </a:solidFill>
              </a:rPr>
              <a:t>('token', token, {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      expires: new Date(</a:t>
            </a:r>
            <a:r>
              <a:rPr lang="en-US" dirty="0" err="1">
                <a:solidFill>
                  <a:srgbClr val="FFFF00"/>
                </a:solidFill>
              </a:rPr>
              <a:t>Date.now</a:t>
            </a:r>
            <a:r>
              <a:rPr lang="en-US" dirty="0">
                <a:solidFill>
                  <a:srgbClr val="FFFF00"/>
                </a:solidFill>
              </a:rPr>
              <a:t>() + 3600000), 	</a:t>
            </a:r>
            <a:r>
              <a:rPr lang="en-US" dirty="0" err="1">
                <a:solidFill>
                  <a:srgbClr val="FFFF00"/>
                </a:solidFill>
              </a:rPr>
              <a:t>httpOnly</a:t>
            </a:r>
            <a:r>
              <a:rPr lang="en-US" dirty="0">
                <a:solidFill>
                  <a:srgbClr val="FFFF00"/>
                </a:solidFill>
              </a:rPr>
              <a:t>: true,   // JS access </a:t>
            </a:r>
            <a:r>
              <a:rPr lang="en-US" dirty="0" err="1">
                <a:solidFill>
                  <a:srgbClr val="FFFF00"/>
                </a:solidFill>
              </a:rPr>
              <a:t>nahi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kar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sakta</a:t>
            </a:r>
            <a:endParaRPr lang="en-US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      secure: false,    // localhost </a:t>
            </a:r>
            <a:r>
              <a:rPr lang="en-US" dirty="0" err="1">
                <a:solidFill>
                  <a:srgbClr val="FFFF00"/>
                </a:solidFill>
              </a:rPr>
              <a:t>ke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liye</a:t>
            </a:r>
            <a:r>
              <a:rPr lang="en-US" dirty="0">
                <a:solidFill>
                  <a:srgbClr val="FFFF00"/>
                </a:solidFill>
              </a:rPr>
              <a:t> false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      </a:t>
            </a:r>
            <a:r>
              <a:rPr lang="en-US" dirty="0" err="1">
                <a:solidFill>
                  <a:srgbClr val="FFFF00"/>
                </a:solidFill>
              </a:rPr>
              <a:t>sameSite</a:t>
            </a:r>
            <a:r>
              <a:rPr lang="en-US" dirty="0">
                <a:solidFill>
                  <a:srgbClr val="FFFF00"/>
                </a:solidFill>
              </a:rPr>
              <a:t>: 'lax'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    });</a:t>
            </a:r>
            <a:endParaRPr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Cookie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Example: 'token'</a:t>
            </a:r>
          </a:p>
          <a:p>
            <a:r>
              <a:rPr dirty="0"/>
              <a:t>Used to identify stored cookie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619" y="4278227"/>
            <a:ext cx="6924907" cy="117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Font typeface="Arial"/>
              <a:buChar char="•"/>
            </a:pPr>
            <a:r>
              <a:rPr lang="en-US" sz="3200" dirty="0"/>
              <a:t>JWT token stored securely</a:t>
            </a:r>
          </a:p>
          <a:p>
            <a:pPr marL="342900" indent="-342900">
              <a:spcBef>
                <a:spcPct val="20000"/>
              </a:spcBef>
              <a:buFont typeface="Arial"/>
              <a:buChar char="•"/>
            </a:pPr>
            <a:r>
              <a:rPr lang="en-US" sz="3200" dirty="0"/>
              <a:t>Used for authentication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12234" y="29578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Cookie Value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Cookie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and behavior settings</a:t>
            </a:r>
          </a:p>
          <a:p>
            <a:r>
              <a:t>httpOnly, secure, sameSite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259" y="3428999"/>
            <a:ext cx="799542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</a:rPr>
              <a:t>res.cookie</a:t>
            </a:r>
            <a:r>
              <a:rPr lang="en-US" sz="2800" dirty="0">
                <a:solidFill>
                  <a:srgbClr val="C00000"/>
                </a:solidFill>
              </a:rPr>
              <a:t>('token', token, {</a:t>
            </a:r>
          </a:p>
          <a:p>
            <a:r>
              <a:rPr lang="en-US" sz="2800" dirty="0">
                <a:solidFill>
                  <a:srgbClr val="C00000"/>
                </a:solidFill>
              </a:rPr>
              <a:t>      expires: new Date(</a:t>
            </a:r>
            <a:r>
              <a:rPr lang="en-US" sz="2800" dirty="0" err="1">
                <a:solidFill>
                  <a:srgbClr val="C00000"/>
                </a:solidFill>
              </a:rPr>
              <a:t>Date.now</a:t>
            </a:r>
            <a:r>
              <a:rPr lang="en-US" sz="2800" dirty="0">
                <a:solidFill>
                  <a:srgbClr val="C00000"/>
                </a:solidFill>
              </a:rPr>
              <a:t>() + 3600000), 	</a:t>
            </a:r>
            <a:r>
              <a:rPr lang="en-US" sz="2800" dirty="0" err="1">
                <a:solidFill>
                  <a:srgbClr val="C00000"/>
                </a:solidFill>
              </a:rPr>
              <a:t>httpOnly</a:t>
            </a:r>
            <a:r>
              <a:rPr lang="en-US" sz="2800" dirty="0">
                <a:solidFill>
                  <a:srgbClr val="C00000"/>
                </a:solidFill>
              </a:rPr>
              <a:t>: true,   // JS access </a:t>
            </a:r>
            <a:r>
              <a:rPr lang="en-US" sz="2800" dirty="0" err="1">
                <a:solidFill>
                  <a:srgbClr val="C00000"/>
                </a:solidFill>
              </a:rPr>
              <a:t>nahi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kar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sakta</a:t>
            </a:r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      secure: false,    // localhost </a:t>
            </a:r>
            <a:r>
              <a:rPr lang="en-US" sz="2800" dirty="0" err="1">
                <a:solidFill>
                  <a:srgbClr val="C00000"/>
                </a:solidFill>
              </a:rPr>
              <a:t>ke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liye</a:t>
            </a:r>
            <a:r>
              <a:rPr lang="en-US" sz="2800" dirty="0">
                <a:solidFill>
                  <a:srgbClr val="C00000"/>
                </a:solidFill>
              </a:rPr>
              <a:t> false</a:t>
            </a:r>
          </a:p>
          <a:p>
            <a:r>
              <a:rPr lang="en-US" sz="2800" dirty="0">
                <a:solidFill>
                  <a:srgbClr val="C00000"/>
                </a:solidFill>
              </a:rPr>
              <a:t>      </a:t>
            </a:r>
            <a:r>
              <a:rPr lang="en-US" sz="2800" dirty="0" err="1">
                <a:solidFill>
                  <a:srgbClr val="C00000"/>
                </a:solidFill>
              </a:rPr>
              <a:t>sameSite</a:t>
            </a:r>
            <a:r>
              <a:rPr lang="en-US" sz="2800" dirty="0">
                <a:solidFill>
                  <a:srgbClr val="C00000"/>
                </a:solidFill>
              </a:rPr>
              <a:t>: 'lax'</a:t>
            </a:r>
          </a:p>
          <a:p>
            <a:r>
              <a:rPr lang="en-US" sz="2800" dirty="0">
                <a:solidFill>
                  <a:srgbClr val="C00000"/>
                </a:solidFill>
              </a:rPr>
              <a:t>    });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httpOnly</a:t>
            </a:r>
            <a:r>
              <a:rPr b="1" dirty="0"/>
              <a:t>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Prevents JavaScript access</a:t>
            </a:r>
          </a:p>
          <a:p>
            <a:r>
              <a:rPr dirty="0"/>
              <a:t>Protects against XSS attacks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5259" y="3428999"/>
            <a:ext cx="799542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</a:rPr>
              <a:t>res.cookie</a:t>
            </a:r>
            <a:r>
              <a:rPr lang="en-US" sz="2800" dirty="0">
                <a:solidFill>
                  <a:srgbClr val="C00000"/>
                </a:solidFill>
              </a:rPr>
              <a:t>('token', token, {</a:t>
            </a:r>
          </a:p>
          <a:p>
            <a:r>
              <a:rPr lang="en-US" sz="2800" dirty="0">
                <a:solidFill>
                  <a:srgbClr val="C00000"/>
                </a:solidFill>
              </a:rPr>
              <a:t>      expires: new Date(</a:t>
            </a:r>
            <a:r>
              <a:rPr lang="en-US" sz="2800" dirty="0" err="1">
                <a:solidFill>
                  <a:srgbClr val="C00000"/>
                </a:solidFill>
              </a:rPr>
              <a:t>Date.now</a:t>
            </a:r>
            <a:r>
              <a:rPr lang="en-US" sz="2800" dirty="0">
                <a:solidFill>
                  <a:srgbClr val="C00000"/>
                </a:solidFill>
              </a:rPr>
              <a:t>() + 3600000), 	</a:t>
            </a:r>
            <a:r>
              <a:rPr lang="en-US" sz="2800" dirty="0" err="1">
                <a:solidFill>
                  <a:srgbClr val="C00000"/>
                </a:solidFill>
              </a:rPr>
              <a:t>httpOnly</a:t>
            </a:r>
            <a:r>
              <a:rPr lang="en-US" sz="2800" dirty="0">
                <a:solidFill>
                  <a:srgbClr val="C00000"/>
                </a:solidFill>
              </a:rPr>
              <a:t>: true,   // JS access </a:t>
            </a:r>
            <a:r>
              <a:rPr lang="en-US" sz="2800" dirty="0" err="1">
                <a:solidFill>
                  <a:srgbClr val="C00000"/>
                </a:solidFill>
              </a:rPr>
              <a:t>nahi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kar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sakta</a:t>
            </a:r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      secure: false,    // localhost </a:t>
            </a:r>
            <a:r>
              <a:rPr lang="en-US" sz="2800" dirty="0" err="1">
                <a:solidFill>
                  <a:srgbClr val="C00000"/>
                </a:solidFill>
              </a:rPr>
              <a:t>ke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liye</a:t>
            </a:r>
            <a:r>
              <a:rPr lang="en-US" sz="2800" dirty="0">
                <a:solidFill>
                  <a:srgbClr val="C00000"/>
                </a:solidFill>
              </a:rPr>
              <a:t> false</a:t>
            </a:r>
          </a:p>
          <a:p>
            <a:r>
              <a:rPr lang="en-US" sz="2800" dirty="0">
                <a:solidFill>
                  <a:srgbClr val="C00000"/>
                </a:solidFill>
              </a:rPr>
              <a:t>      </a:t>
            </a:r>
            <a:r>
              <a:rPr lang="en-US" sz="2800" dirty="0" err="1">
                <a:solidFill>
                  <a:srgbClr val="C00000"/>
                </a:solidFill>
              </a:rPr>
              <a:t>sameSite</a:t>
            </a:r>
            <a:r>
              <a:rPr lang="en-US" sz="2800" dirty="0">
                <a:solidFill>
                  <a:srgbClr val="C00000"/>
                </a:solidFill>
              </a:rPr>
              <a:t>: 'lax'</a:t>
            </a:r>
          </a:p>
          <a:p>
            <a:r>
              <a:rPr lang="en-US" sz="2800" dirty="0">
                <a:solidFill>
                  <a:srgbClr val="C00000"/>
                </a:solidFill>
              </a:rPr>
              <a:t>    });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</a:t>
            </a:r>
            <a:r>
              <a:rPr b="1" dirty="0" err="1"/>
              <a:t>httpOnly</a:t>
            </a:r>
            <a:r>
              <a:rPr b="1" dirty="0"/>
              <a:t>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Hackers cannot read token using JS</a:t>
            </a:r>
          </a:p>
          <a:p>
            <a:r>
              <a:rPr dirty="0"/>
              <a:t>Improves application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259" y="3428999"/>
            <a:ext cx="799542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</a:rPr>
              <a:t>res.cookie</a:t>
            </a:r>
            <a:r>
              <a:rPr lang="en-US" sz="2800" dirty="0">
                <a:solidFill>
                  <a:srgbClr val="C00000"/>
                </a:solidFill>
              </a:rPr>
              <a:t>('token', token, {</a:t>
            </a:r>
          </a:p>
          <a:p>
            <a:r>
              <a:rPr lang="en-US" sz="2800" dirty="0">
                <a:solidFill>
                  <a:srgbClr val="C00000"/>
                </a:solidFill>
              </a:rPr>
              <a:t>      expires: new Date(</a:t>
            </a:r>
            <a:r>
              <a:rPr lang="en-US" sz="2800" dirty="0" err="1">
                <a:solidFill>
                  <a:srgbClr val="C00000"/>
                </a:solidFill>
              </a:rPr>
              <a:t>Date.now</a:t>
            </a:r>
            <a:r>
              <a:rPr lang="en-US" sz="2800" dirty="0">
                <a:solidFill>
                  <a:srgbClr val="C00000"/>
                </a:solidFill>
              </a:rPr>
              <a:t>() + 3600000), 	</a:t>
            </a:r>
            <a:r>
              <a:rPr lang="en-US" sz="2800" dirty="0" err="1">
                <a:solidFill>
                  <a:srgbClr val="C00000"/>
                </a:solidFill>
              </a:rPr>
              <a:t>httpOnly</a:t>
            </a:r>
            <a:r>
              <a:rPr lang="en-US" sz="2800" dirty="0">
                <a:solidFill>
                  <a:srgbClr val="C00000"/>
                </a:solidFill>
              </a:rPr>
              <a:t>: true,   // JS access </a:t>
            </a:r>
            <a:r>
              <a:rPr lang="en-US" sz="2800" dirty="0" err="1">
                <a:solidFill>
                  <a:srgbClr val="C00000"/>
                </a:solidFill>
              </a:rPr>
              <a:t>nahi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kar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sakta</a:t>
            </a:r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      secure: false,    // localhost </a:t>
            </a:r>
            <a:r>
              <a:rPr lang="en-US" sz="2800" dirty="0" err="1">
                <a:solidFill>
                  <a:srgbClr val="C00000"/>
                </a:solidFill>
              </a:rPr>
              <a:t>ke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liye</a:t>
            </a:r>
            <a:r>
              <a:rPr lang="en-US" sz="2800" dirty="0">
                <a:solidFill>
                  <a:srgbClr val="C00000"/>
                </a:solidFill>
              </a:rPr>
              <a:t> false</a:t>
            </a:r>
          </a:p>
          <a:p>
            <a:r>
              <a:rPr lang="en-US" sz="2800" dirty="0">
                <a:solidFill>
                  <a:srgbClr val="C00000"/>
                </a:solidFill>
              </a:rPr>
              <a:t>      </a:t>
            </a:r>
            <a:r>
              <a:rPr lang="en-US" sz="2800" dirty="0" err="1">
                <a:solidFill>
                  <a:srgbClr val="C00000"/>
                </a:solidFill>
              </a:rPr>
              <a:t>sameSite</a:t>
            </a:r>
            <a:r>
              <a:rPr lang="en-US" sz="2800" dirty="0">
                <a:solidFill>
                  <a:srgbClr val="C00000"/>
                </a:solidFill>
              </a:rPr>
              <a:t>: 'lax'</a:t>
            </a:r>
          </a:p>
          <a:p>
            <a:r>
              <a:rPr lang="en-US" sz="2800" dirty="0">
                <a:solidFill>
                  <a:srgbClr val="C00000"/>
                </a:solidFill>
              </a:rPr>
              <a:t>    });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secure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Cookie sent only on HTTPS when true</a:t>
            </a:r>
            <a:endParaRPr lang="en-US" sz="2800" dirty="0"/>
          </a:p>
          <a:p>
            <a:r>
              <a:rPr lang="en-US" sz="2800" b="1" dirty="0"/>
              <a:t>Secure: False</a:t>
            </a:r>
          </a:p>
          <a:p>
            <a:pPr lvl="1"/>
            <a:r>
              <a:rPr lang="en-US" sz="2400" dirty="0"/>
              <a:t>Used for localhost and development</a:t>
            </a:r>
          </a:p>
          <a:p>
            <a:pPr lvl="1"/>
            <a:r>
              <a:rPr lang="en-US" sz="2400" dirty="0"/>
              <a:t>Allows HTTP</a:t>
            </a:r>
          </a:p>
          <a:p>
            <a:r>
              <a:rPr lang="en-US" sz="2800" b="1" dirty="0"/>
              <a:t>Secure: true</a:t>
            </a:r>
          </a:p>
          <a:p>
            <a:pPr lvl="1"/>
            <a:r>
              <a:rPr lang="en-US" sz="2400" dirty="0"/>
              <a:t>Used in production</a:t>
            </a:r>
          </a:p>
          <a:p>
            <a:pPr lvl="1"/>
            <a:r>
              <a:rPr lang="en-US" sz="2400" dirty="0"/>
              <a:t>Requires HTTPS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081346" y="3758652"/>
            <a:ext cx="52076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res.cookie</a:t>
            </a:r>
            <a:r>
              <a:rPr lang="en-US" sz="2000" dirty="0">
                <a:solidFill>
                  <a:srgbClr val="C00000"/>
                </a:solidFill>
              </a:rPr>
              <a:t>('token', token, {</a:t>
            </a:r>
          </a:p>
          <a:p>
            <a:r>
              <a:rPr lang="en-US" sz="2000" dirty="0">
                <a:solidFill>
                  <a:srgbClr val="C00000"/>
                </a:solidFill>
              </a:rPr>
              <a:t>       expires: new Date(</a:t>
            </a:r>
            <a:r>
              <a:rPr lang="en-US" sz="2000" dirty="0" err="1">
                <a:solidFill>
                  <a:srgbClr val="C00000"/>
                </a:solidFill>
              </a:rPr>
              <a:t>Date.now</a:t>
            </a:r>
            <a:r>
              <a:rPr lang="en-US" sz="2000" dirty="0">
                <a:solidFill>
                  <a:srgbClr val="C00000"/>
                </a:solidFill>
              </a:rPr>
              <a:t>() + 3600000), 	</a:t>
            </a:r>
            <a:r>
              <a:rPr lang="en-US" sz="2000" dirty="0" err="1">
                <a:solidFill>
                  <a:srgbClr val="C00000"/>
                </a:solidFill>
              </a:rPr>
              <a:t>httpOnly</a:t>
            </a:r>
            <a:r>
              <a:rPr lang="en-US" sz="2000" dirty="0">
                <a:solidFill>
                  <a:srgbClr val="C00000"/>
                </a:solidFill>
              </a:rPr>
              <a:t>: true, 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	secure: false, 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	</a:t>
            </a:r>
            <a:r>
              <a:rPr lang="en-US" sz="2000" dirty="0" err="1">
                <a:solidFill>
                  <a:srgbClr val="C00000"/>
                </a:solidFill>
              </a:rPr>
              <a:t>sameSite</a:t>
            </a:r>
            <a:r>
              <a:rPr lang="en-US" sz="2000" dirty="0">
                <a:solidFill>
                  <a:srgbClr val="C00000"/>
                </a:solidFill>
              </a:rPr>
              <a:t>: 'lax'</a:t>
            </a:r>
          </a:p>
          <a:p>
            <a:r>
              <a:rPr lang="en-US" sz="2000" dirty="0">
                <a:solidFill>
                  <a:srgbClr val="C00000"/>
                </a:solidFill>
              </a:rPr>
              <a:t>    });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sameSite</a:t>
            </a:r>
            <a:r>
              <a:rPr b="1" dirty="0"/>
              <a:t>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Controls cross-site cookie sending</a:t>
            </a:r>
            <a:endParaRPr lang="en-US" dirty="0"/>
          </a:p>
          <a:p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665560"/>
              </p:ext>
            </p:extLst>
          </p:nvPr>
        </p:nvGraphicFramePr>
        <p:xfrm>
          <a:off x="457200" y="2857341"/>
          <a:ext cx="8229600" cy="20116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895707">
                  <a:extLst>
                    <a:ext uri="{9D8B030D-6E8A-4147-A177-3AD203B41FA5}">
                      <a16:colId xmlns:a16="http://schemas.microsoft.com/office/drawing/2014/main" val="3850497712"/>
                    </a:ext>
                  </a:extLst>
                </a:gridCol>
                <a:gridCol w="6333893">
                  <a:extLst>
                    <a:ext uri="{9D8B030D-6E8A-4147-A177-3AD203B41FA5}">
                      <a16:colId xmlns:a16="http://schemas.microsoft.com/office/drawing/2014/main" val="180396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557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strict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Cookie is sent only for same-site requests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697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Cookie is sent for normal navigation requests (recommended)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72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Cookie is sent with all requests, including cross-site (less secure)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7542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sameSite</a:t>
            </a:r>
            <a:r>
              <a:rPr b="1" dirty="0"/>
              <a:t>: lax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Allows normal navigation</a:t>
            </a:r>
          </a:p>
          <a:p>
            <a:r>
              <a:rPr dirty="0"/>
              <a:t>Protects from CSRF</a:t>
            </a:r>
            <a:r>
              <a:rPr lang="en-US" dirty="0"/>
              <a:t> (Cross-Site Request Forgery) / Prevents fake requests from other sites</a:t>
            </a:r>
          </a:p>
          <a:p>
            <a:r>
              <a:rPr lang="en-US" dirty="0"/>
              <a:t>Example: User clicks a link from Google → cookie </a:t>
            </a:r>
            <a:r>
              <a:rPr lang="en-US" b="1" dirty="0"/>
              <a:t>sent</a:t>
            </a:r>
            <a:r>
              <a:rPr lang="en-US" dirty="0"/>
              <a:t>, login remembered.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Request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→ Cookie Set</a:t>
            </a:r>
          </a:p>
          <a:p>
            <a:r>
              <a:t>Next Request → Cookie Sent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Server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 reads cookie</a:t>
            </a:r>
          </a:p>
          <a:p>
            <a:r>
              <a:t>Identifies logged-in user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Implementation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01: cookie-parser middleware</a:t>
            </a:r>
          </a:p>
          <a:p>
            <a:pPr marL="0" indent="0">
              <a:buNone/>
            </a:pPr>
            <a:r>
              <a:rPr lang="en-US" b="1" dirty="0" err="1"/>
              <a:t>npm</a:t>
            </a:r>
            <a:r>
              <a:rPr lang="en-US" b="1" dirty="0"/>
              <a:t> install cookie-parser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app.js / server.js page</a:t>
            </a:r>
          </a:p>
          <a:p>
            <a:pPr marL="400050" lvl="1" indent="0">
              <a:buNone/>
            </a:pPr>
            <a:r>
              <a:rPr lang="en-US" dirty="0" err="1">
                <a:solidFill>
                  <a:srgbClr val="C00000"/>
                </a:solidFill>
              </a:rPr>
              <a:t>const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cookieParser</a:t>
            </a:r>
            <a:r>
              <a:rPr lang="en-US" dirty="0">
                <a:solidFill>
                  <a:srgbClr val="C00000"/>
                </a:solidFill>
              </a:rPr>
              <a:t> = require('cookie-parser');</a:t>
            </a:r>
          </a:p>
          <a:p>
            <a:pPr marL="400050" lvl="1" indent="0">
              <a:buNone/>
            </a:pPr>
            <a:r>
              <a:rPr lang="en-US" dirty="0" err="1">
                <a:solidFill>
                  <a:srgbClr val="C00000"/>
                </a:solidFill>
              </a:rPr>
              <a:t>app.use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cookieParser</a:t>
            </a:r>
            <a:r>
              <a:rPr lang="en-US" dirty="0">
                <a:solidFill>
                  <a:srgbClr val="C00000"/>
                </a:solidFill>
              </a:rPr>
              <a:t>());</a:t>
            </a:r>
          </a:p>
          <a:p>
            <a:pPr marL="400050" lvl="1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400050" lvl="1" indent="0">
              <a:buNone/>
            </a:pPr>
            <a:r>
              <a:rPr lang="en-US" b="1" u="sng" dirty="0"/>
              <a:t>Important otherwise </a:t>
            </a:r>
            <a:r>
              <a:rPr lang="en-US" b="1" u="sng" dirty="0" err="1"/>
              <a:t>req.cookies</a:t>
            </a:r>
            <a:r>
              <a:rPr lang="en-US" b="1" u="sng" dirty="0"/>
              <a:t> will be unidentified</a:t>
            </a:r>
            <a:endParaRPr b="1" u="sng" dirty="0"/>
          </a:p>
        </p:txBody>
      </p:sp>
    </p:spTree>
    <p:extLst>
      <p:ext uri="{BB962C8B-B14F-4D97-AF65-F5344CB8AC3E}">
        <p14:creationId xmlns:p14="http://schemas.microsoft.com/office/powerpoint/2010/main" val="4069866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40" y="256478"/>
            <a:ext cx="8341111" cy="642310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Step 02: Set cookie in login route</a:t>
            </a:r>
          </a:p>
          <a:p>
            <a:pPr marL="0" indent="0">
              <a:buNone/>
            </a:pPr>
            <a:r>
              <a:rPr lang="en-US" b="1" dirty="0"/>
              <a:t> login endpoint</a:t>
            </a:r>
          </a:p>
          <a:p>
            <a:pPr marL="0" indent="0">
              <a:buNone/>
            </a:pPr>
            <a:r>
              <a:rPr lang="en-US" dirty="0" err="1"/>
              <a:t>router.post</a:t>
            </a:r>
            <a:r>
              <a:rPr lang="en-US" dirty="0"/>
              <a:t>('/login', </a:t>
            </a:r>
            <a:r>
              <a:rPr lang="en-US" dirty="0" err="1"/>
              <a:t>async</a:t>
            </a:r>
            <a:r>
              <a:rPr lang="en-US" dirty="0"/>
              <a:t> (</a:t>
            </a:r>
            <a:r>
              <a:rPr lang="en-US" dirty="0" err="1"/>
              <a:t>req</a:t>
            </a:r>
            <a:r>
              <a:rPr lang="en-US" dirty="0"/>
              <a:t>, res) =&gt; {</a:t>
            </a:r>
          </a:p>
          <a:p>
            <a:pPr marL="400050" lvl="1" indent="0">
              <a:buNone/>
            </a:pPr>
            <a:r>
              <a:rPr lang="en-US" dirty="0"/>
              <a:t>  try {</a:t>
            </a:r>
          </a:p>
          <a:p>
            <a:pPr marL="400050" lvl="1" indent="0">
              <a:buNone/>
            </a:pPr>
            <a:r>
              <a:rPr lang="en-US" dirty="0"/>
              <a:t>    </a:t>
            </a:r>
            <a:r>
              <a:rPr lang="en-US" dirty="0" err="1"/>
              <a:t>const</a:t>
            </a:r>
            <a:r>
              <a:rPr lang="en-US" dirty="0"/>
              <a:t> { email, password } = </a:t>
            </a:r>
            <a:r>
              <a:rPr lang="en-US" dirty="0" err="1"/>
              <a:t>req.body</a:t>
            </a:r>
            <a:r>
              <a:rPr lang="en-US" dirty="0"/>
              <a:t>;</a:t>
            </a:r>
          </a:p>
          <a:p>
            <a:pPr marL="400050" lvl="1" indent="0">
              <a:buNone/>
            </a:pPr>
            <a:r>
              <a:rPr lang="en-US" dirty="0"/>
              <a:t>	   </a:t>
            </a:r>
            <a:r>
              <a:rPr lang="en-US" dirty="0" err="1"/>
              <a:t>const</a:t>
            </a:r>
            <a:r>
              <a:rPr lang="en-US" dirty="0"/>
              <a:t> user = await </a:t>
            </a:r>
            <a:r>
              <a:rPr lang="en-US" dirty="0" err="1"/>
              <a:t>User.findOne</a:t>
            </a:r>
            <a:r>
              <a:rPr lang="en-US" dirty="0"/>
              <a:t>({ email });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	  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isPasswordValid</a:t>
            </a:r>
            <a:r>
              <a:rPr lang="en-US" dirty="0"/>
              <a:t> = await </a:t>
            </a:r>
            <a:r>
              <a:rPr lang="en-US" dirty="0" err="1"/>
              <a:t>bcrypt.compare</a:t>
            </a:r>
            <a:r>
              <a:rPr lang="en-US" dirty="0"/>
              <a:t>(password, </a:t>
            </a:r>
            <a:r>
              <a:rPr lang="en-US" dirty="0" err="1"/>
              <a:t>user.password</a:t>
            </a:r>
            <a:r>
              <a:rPr lang="en-US" dirty="0"/>
              <a:t>);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    </a:t>
            </a:r>
            <a:r>
              <a:rPr lang="en-US" dirty="0" err="1"/>
              <a:t>const</a:t>
            </a:r>
            <a:r>
              <a:rPr lang="en-US" dirty="0"/>
              <a:t> payload = {</a:t>
            </a:r>
          </a:p>
          <a:p>
            <a:pPr marL="400050" lvl="1" indent="0">
              <a:buNone/>
            </a:pPr>
            <a:r>
              <a:rPr lang="en-US" dirty="0"/>
              <a:t>      id: </a:t>
            </a:r>
            <a:r>
              <a:rPr lang="en-US" dirty="0" err="1"/>
              <a:t>user._id</a:t>
            </a:r>
            <a:r>
              <a:rPr lang="en-US" dirty="0"/>
              <a:t>,</a:t>
            </a:r>
          </a:p>
          <a:p>
            <a:pPr marL="400050" lvl="1" indent="0">
              <a:buNone/>
            </a:pPr>
            <a:r>
              <a:rPr lang="en-US" dirty="0"/>
              <a:t>      role: </a:t>
            </a:r>
            <a:r>
              <a:rPr lang="en-US" dirty="0" err="1"/>
              <a:t>user.role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    };</a:t>
            </a:r>
          </a:p>
          <a:p>
            <a:pPr marL="400050" lvl="1" indent="0">
              <a:buNone/>
            </a:pPr>
            <a:r>
              <a:rPr lang="en-US" dirty="0"/>
              <a:t> </a:t>
            </a:r>
            <a:r>
              <a:rPr lang="en-US" dirty="0" err="1"/>
              <a:t>const</a:t>
            </a:r>
            <a:r>
              <a:rPr lang="en-US" dirty="0"/>
              <a:t> token = </a:t>
            </a:r>
            <a:r>
              <a:rPr lang="en-US" dirty="0" err="1"/>
              <a:t>jwt.sign</a:t>
            </a:r>
            <a:r>
              <a:rPr lang="en-US" dirty="0"/>
              <a:t>(payload, '1234_KEY', { </a:t>
            </a:r>
            <a:r>
              <a:rPr lang="en-US" dirty="0" err="1"/>
              <a:t>expiresIn</a:t>
            </a:r>
            <a:r>
              <a:rPr lang="en-US" dirty="0"/>
              <a:t>: '1d' });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b="1" dirty="0"/>
              <a:t>    // set cookie</a:t>
            </a:r>
          </a:p>
          <a:p>
            <a:pPr marL="400050" lvl="1" indent="0">
              <a:buNone/>
            </a:pPr>
            <a:r>
              <a:rPr lang="en-US" dirty="0"/>
              <a:t>    </a:t>
            </a:r>
            <a:r>
              <a:rPr lang="en-US" dirty="0" err="1"/>
              <a:t>res.cookie</a:t>
            </a:r>
            <a:r>
              <a:rPr lang="en-US" dirty="0"/>
              <a:t>('token', token, {</a:t>
            </a:r>
          </a:p>
          <a:p>
            <a:pPr marL="400050" lvl="1" indent="0">
              <a:buNone/>
            </a:pPr>
            <a:r>
              <a:rPr lang="en-US" dirty="0"/>
              <a:t>      </a:t>
            </a:r>
            <a:r>
              <a:rPr lang="en-US" dirty="0" err="1"/>
              <a:t>httpOnly</a:t>
            </a:r>
            <a:r>
              <a:rPr lang="en-US" dirty="0"/>
              <a:t>: true, </a:t>
            </a:r>
          </a:p>
          <a:p>
            <a:pPr marL="400050" lvl="1" indent="0">
              <a:buNone/>
            </a:pPr>
            <a:r>
              <a:rPr lang="en-US" dirty="0"/>
              <a:t>	     secure: false, </a:t>
            </a:r>
          </a:p>
          <a:p>
            <a:pPr marL="400050" lvl="1" indent="0">
              <a:buNone/>
            </a:pPr>
            <a:r>
              <a:rPr lang="en-US" dirty="0"/>
              <a:t>       </a:t>
            </a:r>
            <a:r>
              <a:rPr lang="en-US" dirty="0" err="1"/>
              <a:t>sameSite</a:t>
            </a:r>
            <a:r>
              <a:rPr lang="en-US" dirty="0"/>
              <a:t>: 'lax'</a:t>
            </a:r>
          </a:p>
          <a:p>
            <a:pPr marL="400050" lvl="1" indent="0">
              <a:buNone/>
            </a:pPr>
            <a:r>
              <a:rPr lang="en-US" dirty="0"/>
              <a:t>    });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    </a:t>
            </a:r>
            <a:r>
              <a:rPr lang="en-US" dirty="0" err="1"/>
              <a:t>res.json</a:t>
            </a:r>
            <a:r>
              <a:rPr lang="en-US" dirty="0"/>
              <a:t>({</a:t>
            </a:r>
          </a:p>
          <a:p>
            <a:pPr marL="400050" lvl="1" indent="0">
              <a:buNone/>
            </a:pPr>
            <a:r>
              <a:rPr lang="en-US" dirty="0"/>
              <a:t>      message: 'Login successful'</a:t>
            </a:r>
          </a:p>
          <a:p>
            <a:pPr marL="400050" lvl="1" indent="0">
              <a:buNone/>
            </a:pPr>
            <a:r>
              <a:rPr lang="en-US" dirty="0"/>
              <a:t>    });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  } catch (error) {</a:t>
            </a:r>
          </a:p>
          <a:p>
            <a:pPr marL="400050" lvl="1" indent="0">
              <a:buNone/>
            </a:pPr>
            <a:r>
              <a:rPr lang="en-US" dirty="0"/>
              <a:t>    </a:t>
            </a:r>
            <a:r>
              <a:rPr lang="en-US" dirty="0" err="1"/>
              <a:t>res.status</a:t>
            </a:r>
            <a:r>
              <a:rPr lang="en-US" dirty="0"/>
              <a:t>(400).</a:t>
            </a:r>
            <a:r>
              <a:rPr lang="en-US" dirty="0" err="1"/>
              <a:t>json</a:t>
            </a:r>
            <a:r>
              <a:rPr lang="en-US" dirty="0"/>
              <a:t>({ error: </a:t>
            </a:r>
            <a:r>
              <a:rPr lang="en-US" dirty="0" err="1"/>
              <a:t>error.message</a:t>
            </a:r>
            <a:r>
              <a:rPr lang="en-US" dirty="0"/>
              <a:t> });</a:t>
            </a:r>
          </a:p>
          <a:p>
            <a:pPr marL="400050" lvl="1" indent="0">
              <a:buNone/>
            </a:pPr>
            <a:r>
              <a:rPr lang="en-US" dirty="0"/>
              <a:t>  }</a:t>
            </a:r>
          </a:p>
          <a:p>
            <a:pPr marL="400050" lvl="1" indent="0">
              <a:buNone/>
            </a:pPr>
            <a:r>
              <a:rPr lang="en-US" dirty="0"/>
              <a:t>});</a:t>
            </a:r>
          </a:p>
          <a:p>
            <a:pPr marL="400050" lvl="1" indent="0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683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40" y="256478"/>
            <a:ext cx="8341111" cy="642310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Step 03: authenticate middleware ( updated)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const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jwt</a:t>
            </a:r>
            <a:r>
              <a:rPr lang="en-US" dirty="0">
                <a:solidFill>
                  <a:srgbClr val="C00000"/>
                </a:solidFill>
              </a:rPr>
              <a:t> = require('</a:t>
            </a:r>
            <a:r>
              <a:rPr lang="en-US" dirty="0" err="1">
                <a:solidFill>
                  <a:srgbClr val="C00000"/>
                </a:solidFill>
              </a:rPr>
              <a:t>jsonwebtoken</a:t>
            </a:r>
            <a:r>
              <a:rPr lang="en-US" dirty="0">
                <a:solidFill>
                  <a:srgbClr val="C00000"/>
                </a:solidFill>
              </a:rPr>
              <a:t>');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// Authentication middleware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</a:rPr>
              <a:t>const</a:t>
            </a:r>
            <a:r>
              <a:rPr lang="en-US" dirty="0">
                <a:solidFill>
                  <a:srgbClr val="C00000"/>
                </a:solidFill>
              </a:rPr>
              <a:t> authenticate = </a:t>
            </a:r>
            <a:r>
              <a:rPr lang="en-US" dirty="0" err="1">
                <a:solidFill>
                  <a:srgbClr val="C00000"/>
                </a:solidFill>
              </a:rPr>
              <a:t>async</a:t>
            </a:r>
            <a:r>
              <a:rPr lang="en-US" dirty="0">
                <a:solidFill>
                  <a:srgbClr val="C00000"/>
                </a:solidFill>
              </a:rPr>
              <a:t> (</a:t>
            </a:r>
            <a:r>
              <a:rPr lang="en-US" dirty="0" err="1">
                <a:solidFill>
                  <a:srgbClr val="C00000"/>
                </a:solidFill>
              </a:rPr>
              <a:t>req</a:t>
            </a:r>
            <a:r>
              <a:rPr lang="en-US" dirty="0">
                <a:solidFill>
                  <a:srgbClr val="C00000"/>
                </a:solidFill>
              </a:rPr>
              <a:t>, res, next) =&gt; {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try {</a:t>
            </a:r>
          </a:p>
          <a:p>
            <a:pPr marL="400050" lvl="1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    // 🔹 getting token from cookie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</a:t>
            </a:r>
            <a:r>
              <a:rPr lang="en-US" dirty="0" err="1">
                <a:solidFill>
                  <a:srgbClr val="C00000"/>
                </a:solidFill>
              </a:rPr>
              <a:t>const</a:t>
            </a:r>
            <a:r>
              <a:rPr lang="en-US" dirty="0">
                <a:solidFill>
                  <a:srgbClr val="C00000"/>
                </a:solidFill>
              </a:rPr>
              <a:t> token = </a:t>
            </a:r>
            <a:r>
              <a:rPr lang="en-US" dirty="0" err="1">
                <a:solidFill>
                  <a:srgbClr val="C00000"/>
                </a:solidFill>
              </a:rPr>
              <a:t>req.cookies.token</a:t>
            </a:r>
            <a:r>
              <a:rPr lang="en-US" dirty="0">
                <a:solidFill>
                  <a:srgbClr val="C00000"/>
                </a:solidFill>
              </a:rPr>
              <a:t>;  </a:t>
            </a:r>
            <a:r>
              <a:rPr lang="en-US" dirty="0">
                <a:solidFill>
                  <a:srgbClr val="0070C0"/>
                </a:solidFill>
              </a:rPr>
              <a:t>// cookie-parser required!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if (!token) {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  return </a:t>
            </a:r>
            <a:r>
              <a:rPr lang="en-US" dirty="0" err="1">
                <a:solidFill>
                  <a:srgbClr val="C00000"/>
                </a:solidFill>
              </a:rPr>
              <a:t>res.status</a:t>
            </a:r>
            <a:r>
              <a:rPr lang="en-US" dirty="0">
                <a:solidFill>
                  <a:srgbClr val="C00000"/>
                </a:solidFill>
              </a:rPr>
              <a:t>(401).</a:t>
            </a:r>
            <a:r>
              <a:rPr lang="en-US" dirty="0" err="1">
                <a:solidFill>
                  <a:srgbClr val="C00000"/>
                </a:solidFill>
              </a:rPr>
              <a:t>json</a:t>
            </a:r>
            <a:r>
              <a:rPr lang="en-US" dirty="0">
                <a:solidFill>
                  <a:srgbClr val="C00000"/>
                </a:solidFill>
              </a:rPr>
              <a:t>({ error: 'Token missing.' });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}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400050" lvl="1" indent="0">
              <a:buNone/>
            </a:pPr>
            <a:r>
              <a:rPr lang="en-US" sz="2900" b="1" dirty="0">
                <a:solidFill>
                  <a:srgbClr val="C00000"/>
                </a:solidFill>
              </a:rPr>
              <a:t>    </a:t>
            </a:r>
            <a:r>
              <a:rPr lang="en-US" sz="2900" b="1" dirty="0">
                <a:solidFill>
                  <a:srgbClr val="0070C0"/>
                </a:solidFill>
              </a:rPr>
              <a:t>// 🔹 Verify the token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</a:t>
            </a:r>
            <a:r>
              <a:rPr lang="en-US" dirty="0" err="1">
                <a:solidFill>
                  <a:srgbClr val="C00000"/>
                </a:solidFill>
              </a:rPr>
              <a:t>const</a:t>
            </a:r>
            <a:r>
              <a:rPr lang="en-US" dirty="0">
                <a:solidFill>
                  <a:srgbClr val="C00000"/>
                </a:solidFill>
              </a:rPr>
              <a:t> decoded = </a:t>
            </a:r>
            <a:r>
              <a:rPr lang="en-US" dirty="0" err="1">
                <a:solidFill>
                  <a:srgbClr val="C00000"/>
                </a:solidFill>
              </a:rPr>
              <a:t>jwt.verify</a:t>
            </a:r>
            <a:r>
              <a:rPr lang="en-US" dirty="0">
                <a:solidFill>
                  <a:srgbClr val="C00000"/>
                </a:solidFill>
              </a:rPr>
              <a:t>(token, '1234_KEY');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40005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    </a:t>
            </a:r>
            <a:r>
              <a:rPr lang="en-US" sz="2900" b="1" dirty="0">
                <a:solidFill>
                  <a:srgbClr val="0070C0"/>
                </a:solidFill>
              </a:rPr>
              <a:t>// 🔹 Attach user info to </a:t>
            </a:r>
            <a:r>
              <a:rPr lang="en-US" sz="2900" b="1" dirty="0" err="1">
                <a:solidFill>
                  <a:srgbClr val="0070C0"/>
                </a:solidFill>
              </a:rPr>
              <a:t>req</a:t>
            </a:r>
            <a:endParaRPr lang="en-US" sz="29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</a:t>
            </a:r>
            <a:r>
              <a:rPr lang="en-US" dirty="0" err="1">
                <a:solidFill>
                  <a:srgbClr val="C00000"/>
                </a:solidFill>
              </a:rPr>
              <a:t>req.user</a:t>
            </a:r>
            <a:r>
              <a:rPr lang="en-US" dirty="0">
                <a:solidFill>
                  <a:srgbClr val="C00000"/>
                </a:solidFill>
              </a:rPr>
              <a:t> = decoded;                               </a:t>
            </a:r>
            <a:r>
              <a:rPr lang="en-US" dirty="0">
                <a:solidFill>
                  <a:srgbClr val="0070C0"/>
                </a:solidFill>
              </a:rPr>
              <a:t>// { id, role }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next();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}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catch (error) {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</a:t>
            </a:r>
            <a:r>
              <a:rPr lang="en-US" dirty="0" err="1">
                <a:solidFill>
                  <a:srgbClr val="C00000"/>
                </a:solidFill>
              </a:rPr>
              <a:t>res.status</a:t>
            </a:r>
            <a:r>
              <a:rPr lang="en-US" dirty="0">
                <a:solidFill>
                  <a:srgbClr val="C00000"/>
                </a:solidFill>
              </a:rPr>
              <a:t>(401).</a:t>
            </a:r>
            <a:r>
              <a:rPr lang="en-US" dirty="0" err="1">
                <a:solidFill>
                  <a:srgbClr val="C00000"/>
                </a:solidFill>
              </a:rPr>
              <a:t>json</a:t>
            </a:r>
            <a:r>
              <a:rPr lang="en-US" dirty="0">
                <a:solidFill>
                  <a:srgbClr val="C00000"/>
                </a:solidFill>
              </a:rPr>
              <a:t>({ error: 'Invalid or expired token.' });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}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};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</a:rPr>
              <a:t>module.exports</a:t>
            </a:r>
            <a:r>
              <a:rPr lang="en-US" dirty="0">
                <a:solidFill>
                  <a:srgbClr val="C00000"/>
                </a:solidFill>
              </a:rPr>
              <a:t> = authenticate;</a:t>
            </a:r>
          </a:p>
          <a:p>
            <a:pPr marL="400050" lvl="1" indent="0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905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40" y="256478"/>
            <a:ext cx="8341111" cy="64231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Usage in routes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C00000"/>
                </a:solidFill>
              </a:rPr>
              <a:t>const</a:t>
            </a:r>
            <a:r>
              <a:rPr lang="en-US" sz="2800" dirty="0">
                <a:solidFill>
                  <a:srgbClr val="C00000"/>
                </a:solidFill>
              </a:rPr>
              <a:t> authenticate = require('./</a:t>
            </a:r>
            <a:r>
              <a:rPr lang="en-US" sz="2800" dirty="0" err="1">
                <a:solidFill>
                  <a:srgbClr val="C00000"/>
                </a:solidFill>
              </a:rPr>
              <a:t>auth</a:t>
            </a:r>
            <a:r>
              <a:rPr lang="en-US" sz="2800" dirty="0">
                <a:solidFill>
                  <a:srgbClr val="C00000"/>
                </a:solidFill>
              </a:rPr>
              <a:t>');</a:t>
            </a:r>
          </a:p>
          <a:p>
            <a:pPr marL="0" indent="0">
              <a:buNone/>
            </a:pPr>
            <a:endParaRPr lang="en-US" sz="28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rgbClr val="C00000"/>
                </a:solidFill>
              </a:rPr>
              <a:t>router.post</a:t>
            </a:r>
            <a:r>
              <a:rPr lang="en-US" sz="2800" dirty="0">
                <a:solidFill>
                  <a:srgbClr val="C00000"/>
                </a:solidFill>
              </a:rPr>
              <a:t>('/order', authenticate, </a:t>
            </a:r>
            <a:r>
              <a:rPr lang="en-US" sz="2800" dirty="0" err="1">
                <a:solidFill>
                  <a:srgbClr val="C00000"/>
                </a:solidFill>
              </a:rPr>
              <a:t>async</a:t>
            </a:r>
            <a:r>
              <a:rPr lang="en-US" sz="2800" dirty="0">
                <a:solidFill>
                  <a:srgbClr val="C00000"/>
                </a:solidFill>
              </a:rPr>
              <a:t> (</a:t>
            </a:r>
            <a:r>
              <a:rPr lang="en-US" sz="2800" dirty="0" err="1">
                <a:solidFill>
                  <a:srgbClr val="C00000"/>
                </a:solidFill>
              </a:rPr>
              <a:t>req</a:t>
            </a:r>
            <a:r>
              <a:rPr lang="en-US" sz="2800" dirty="0">
                <a:solidFill>
                  <a:srgbClr val="C00000"/>
                </a:solidFill>
              </a:rPr>
              <a:t>, res) =&gt;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</a:t>
            </a:r>
            <a:r>
              <a:rPr lang="en-US" sz="2800" dirty="0" err="1">
                <a:solidFill>
                  <a:srgbClr val="C00000"/>
                </a:solidFill>
              </a:rPr>
              <a:t>const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userId</a:t>
            </a:r>
            <a:r>
              <a:rPr lang="en-US" sz="2800" dirty="0">
                <a:solidFill>
                  <a:srgbClr val="C00000"/>
                </a:solidFill>
              </a:rPr>
              <a:t> = req.user.id; 		</a:t>
            </a:r>
            <a:r>
              <a:rPr lang="en-US" sz="2800" b="1" dirty="0">
                <a:solidFill>
                  <a:srgbClr val="0070C0"/>
                </a:solidFill>
              </a:rPr>
              <a:t>// from cookie token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  </a:t>
            </a:r>
            <a:r>
              <a:rPr lang="en-US" sz="2800" b="1" dirty="0">
                <a:solidFill>
                  <a:srgbClr val="0070C0"/>
                </a:solidFill>
              </a:rPr>
              <a:t>// Create order for this user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</a:t>
            </a:r>
            <a:r>
              <a:rPr lang="en-US" sz="2800" dirty="0" err="1">
                <a:solidFill>
                  <a:srgbClr val="C00000"/>
                </a:solidFill>
              </a:rPr>
              <a:t>res.json</a:t>
            </a:r>
            <a:r>
              <a:rPr lang="en-US" sz="2800" dirty="0">
                <a:solidFill>
                  <a:srgbClr val="C00000"/>
                </a:solidFill>
              </a:rPr>
              <a:t>({ message: 'Order placed', </a:t>
            </a:r>
            <a:r>
              <a:rPr lang="en-US" sz="2800" dirty="0" err="1">
                <a:solidFill>
                  <a:srgbClr val="C00000"/>
                </a:solidFill>
              </a:rPr>
              <a:t>userId</a:t>
            </a:r>
            <a:r>
              <a:rPr lang="en-US" sz="2800" dirty="0">
                <a:solidFill>
                  <a:srgbClr val="C00000"/>
                </a:solidFill>
              </a:rPr>
              <a:t> });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516295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40" y="256478"/>
            <a:ext cx="8341111" cy="64231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Logout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C00000"/>
                </a:solidFill>
              </a:rPr>
              <a:t>router.post</a:t>
            </a:r>
            <a:r>
              <a:rPr lang="en-US" sz="2800" dirty="0">
                <a:solidFill>
                  <a:srgbClr val="C00000"/>
                </a:solidFill>
              </a:rPr>
              <a:t>('/logout', (</a:t>
            </a:r>
            <a:r>
              <a:rPr lang="en-US" sz="2800" dirty="0" err="1">
                <a:solidFill>
                  <a:srgbClr val="C00000"/>
                </a:solidFill>
              </a:rPr>
              <a:t>req</a:t>
            </a:r>
            <a:r>
              <a:rPr lang="en-US" sz="2800" dirty="0">
                <a:solidFill>
                  <a:srgbClr val="C00000"/>
                </a:solidFill>
              </a:rPr>
              <a:t>, res) =&gt; {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</a:rPr>
              <a:t>  // Clear the cookie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</a:t>
            </a:r>
            <a:r>
              <a:rPr lang="en-US" sz="2800" dirty="0" err="1">
                <a:solidFill>
                  <a:srgbClr val="C00000"/>
                </a:solidFill>
              </a:rPr>
              <a:t>res.clearCookie</a:t>
            </a:r>
            <a:r>
              <a:rPr lang="en-US" sz="2800" dirty="0">
                <a:solidFill>
                  <a:srgbClr val="C00000"/>
                </a:solidFill>
              </a:rPr>
              <a:t>('token',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  </a:t>
            </a:r>
            <a:r>
              <a:rPr lang="en-US" sz="2800" dirty="0" err="1">
                <a:solidFill>
                  <a:srgbClr val="C00000"/>
                </a:solidFill>
              </a:rPr>
              <a:t>httpOnly</a:t>
            </a:r>
            <a:r>
              <a:rPr lang="en-US" sz="2800" dirty="0">
                <a:solidFill>
                  <a:srgbClr val="C00000"/>
                </a:solidFill>
              </a:rPr>
              <a:t>: true,   </a:t>
            </a:r>
            <a:r>
              <a:rPr lang="en-US" sz="2000" b="1" dirty="0">
                <a:solidFill>
                  <a:srgbClr val="0070C0"/>
                </a:solidFill>
              </a:rPr>
              <a:t>// should match your cookie options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  secure: false,      </a:t>
            </a:r>
            <a:r>
              <a:rPr lang="en-US" sz="2000" b="1" dirty="0">
                <a:solidFill>
                  <a:srgbClr val="0070C0"/>
                </a:solidFill>
              </a:rPr>
              <a:t>//for localhost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  </a:t>
            </a:r>
            <a:r>
              <a:rPr lang="en-US" sz="2800" dirty="0" err="1">
                <a:solidFill>
                  <a:srgbClr val="C00000"/>
                </a:solidFill>
              </a:rPr>
              <a:t>sameSite</a:t>
            </a:r>
            <a:r>
              <a:rPr lang="en-US" sz="2800" dirty="0">
                <a:solidFill>
                  <a:srgbClr val="C00000"/>
                </a:solidFill>
              </a:rPr>
              <a:t>: 'Strict',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});</a:t>
            </a:r>
          </a:p>
          <a:p>
            <a:pPr marL="0" indent="0">
              <a:buNone/>
            </a:pPr>
            <a:endParaRPr lang="en-US" sz="28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</a:t>
            </a:r>
            <a:r>
              <a:rPr lang="en-US" sz="2800" dirty="0" err="1">
                <a:solidFill>
                  <a:srgbClr val="C00000"/>
                </a:solidFill>
              </a:rPr>
              <a:t>res.status</a:t>
            </a:r>
            <a:r>
              <a:rPr lang="en-US" sz="2800" dirty="0">
                <a:solidFill>
                  <a:srgbClr val="C00000"/>
                </a:solidFill>
              </a:rPr>
              <a:t>(200).</a:t>
            </a:r>
            <a:r>
              <a:rPr lang="en-US" sz="2800" dirty="0" err="1">
                <a:solidFill>
                  <a:srgbClr val="C00000"/>
                </a:solidFill>
              </a:rPr>
              <a:t>json</a:t>
            </a:r>
            <a:r>
              <a:rPr lang="en-US" sz="2800" dirty="0">
                <a:solidFill>
                  <a:srgbClr val="C00000"/>
                </a:solidFill>
              </a:rPr>
              <a:t>({ message: 'Logged out successfully.' });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098091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40" y="256478"/>
            <a:ext cx="8341111" cy="6423102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5600" b="1" dirty="0"/>
              <a:t>Sample example</a:t>
            </a:r>
          </a:p>
          <a:p>
            <a:pPr marL="0" indent="0">
              <a:buNone/>
            </a:pPr>
            <a:r>
              <a:rPr lang="en-US" sz="5600" b="1" dirty="0">
                <a:solidFill>
                  <a:srgbClr val="0070C0"/>
                </a:solidFill>
              </a:rPr>
              <a:t>// app.js</a:t>
            </a:r>
          </a:p>
          <a:p>
            <a:pPr marL="0" indent="0">
              <a:buNone/>
            </a:pPr>
            <a:r>
              <a:rPr lang="en-US" sz="5600" dirty="0" err="1">
                <a:solidFill>
                  <a:srgbClr val="C00000"/>
                </a:solidFill>
              </a:rPr>
              <a:t>const</a:t>
            </a:r>
            <a:r>
              <a:rPr lang="en-US" sz="5600" dirty="0">
                <a:solidFill>
                  <a:srgbClr val="C00000"/>
                </a:solidFill>
              </a:rPr>
              <a:t> express = require('express');</a:t>
            </a:r>
          </a:p>
          <a:p>
            <a:pPr marL="0" indent="0">
              <a:buNone/>
            </a:pPr>
            <a:r>
              <a:rPr lang="en-US" sz="5600" dirty="0" err="1">
                <a:solidFill>
                  <a:srgbClr val="C00000"/>
                </a:solidFill>
              </a:rPr>
              <a:t>const</a:t>
            </a:r>
            <a:r>
              <a:rPr lang="en-US" sz="5600" dirty="0">
                <a:solidFill>
                  <a:srgbClr val="C00000"/>
                </a:solidFill>
              </a:rPr>
              <a:t> </a:t>
            </a:r>
            <a:r>
              <a:rPr lang="en-US" sz="5600" dirty="0" err="1">
                <a:solidFill>
                  <a:srgbClr val="C00000"/>
                </a:solidFill>
              </a:rPr>
              <a:t>jwt</a:t>
            </a:r>
            <a:r>
              <a:rPr lang="en-US" sz="5600" dirty="0">
                <a:solidFill>
                  <a:srgbClr val="C00000"/>
                </a:solidFill>
              </a:rPr>
              <a:t> = require('</a:t>
            </a:r>
            <a:r>
              <a:rPr lang="en-US" sz="5600" dirty="0" err="1">
                <a:solidFill>
                  <a:srgbClr val="C00000"/>
                </a:solidFill>
              </a:rPr>
              <a:t>jsonwebtoken</a:t>
            </a:r>
            <a:r>
              <a:rPr lang="en-US" sz="5600" dirty="0">
                <a:solidFill>
                  <a:srgbClr val="C00000"/>
                </a:solidFill>
              </a:rPr>
              <a:t>');</a:t>
            </a:r>
          </a:p>
          <a:p>
            <a:pPr marL="0" indent="0">
              <a:buNone/>
            </a:pPr>
            <a:r>
              <a:rPr lang="en-US" sz="5600" dirty="0" err="1">
                <a:solidFill>
                  <a:srgbClr val="C00000"/>
                </a:solidFill>
              </a:rPr>
              <a:t>const</a:t>
            </a:r>
            <a:r>
              <a:rPr lang="en-US" sz="5600" dirty="0">
                <a:solidFill>
                  <a:srgbClr val="C00000"/>
                </a:solidFill>
              </a:rPr>
              <a:t> </a:t>
            </a:r>
            <a:r>
              <a:rPr lang="en-US" sz="5600" dirty="0" err="1">
                <a:solidFill>
                  <a:srgbClr val="C00000"/>
                </a:solidFill>
              </a:rPr>
              <a:t>cookieParser</a:t>
            </a:r>
            <a:r>
              <a:rPr lang="en-US" sz="5600" dirty="0">
                <a:solidFill>
                  <a:srgbClr val="C00000"/>
                </a:solidFill>
              </a:rPr>
              <a:t> = require('cookie-parser');</a:t>
            </a:r>
          </a:p>
          <a:p>
            <a:pPr marL="0" indent="0">
              <a:buNone/>
            </a:pPr>
            <a:endParaRPr lang="en-US" sz="56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5600" dirty="0" err="1">
                <a:solidFill>
                  <a:srgbClr val="C00000"/>
                </a:solidFill>
              </a:rPr>
              <a:t>const</a:t>
            </a:r>
            <a:r>
              <a:rPr lang="en-US" sz="5600" dirty="0">
                <a:solidFill>
                  <a:srgbClr val="C00000"/>
                </a:solidFill>
              </a:rPr>
              <a:t> app = express();</a:t>
            </a:r>
          </a:p>
          <a:p>
            <a:pPr marL="0" indent="0">
              <a:buNone/>
            </a:pPr>
            <a:r>
              <a:rPr lang="en-US" sz="5600" dirty="0" err="1">
                <a:solidFill>
                  <a:srgbClr val="C00000"/>
                </a:solidFill>
              </a:rPr>
              <a:t>app.use</a:t>
            </a:r>
            <a:r>
              <a:rPr lang="en-US" sz="5600" dirty="0">
                <a:solidFill>
                  <a:srgbClr val="C00000"/>
                </a:solidFill>
              </a:rPr>
              <a:t>(</a:t>
            </a:r>
            <a:r>
              <a:rPr lang="en-US" sz="5600" dirty="0" err="1">
                <a:solidFill>
                  <a:srgbClr val="C00000"/>
                </a:solidFill>
              </a:rPr>
              <a:t>express.json</a:t>
            </a:r>
            <a:r>
              <a:rPr lang="en-US" sz="5600" dirty="0">
                <a:solidFill>
                  <a:srgbClr val="C00000"/>
                </a:solidFill>
              </a:rPr>
              <a:t>());</a:t>
            </a:r>
          </a:p>
          <a:p>
            <a:pPr marL="0" indent="0">
              <a:buNone/>
            </a:pPr>
            <a:r>
              <a:rPr lang="en-US" sz="5600" dirty="0" err="1">
                <a:solidFill>
                  <a:srgbClr val="C00000"/>
                </a:solidFill>
              </a:rPr>
              <a:t>app.use</a:t>
            </a:r>
            <a:r>
              <a:rPr lang="en-US" sz="5600" dirty="0">
                <a:solidFill>
                  <a:srgbClr val="C00000"/>
                </a:solidFill>
              </a:rPr>
              <a:t>(</a:t>
            </a:r>
            <a:r>
              <a:rPr lang="en-US" sz="5600" dirty="0" err="1">
                <a:solidFill>
                  <a:srgbClr val="C00000"/>
                </a:solidFill>
              </a:rPr>
              <a:t>cookieParser</a:t>
            </a:r>
            <a:r>
              <a:rPr lang="en-US" sz="5600" dirty="0">
                <a:solidFill>
                  <a:srgbClr val="C00000"/>
                </a:solidFill>
              </a:rPr>
              <a:t>());</a:t>
            </a:r>
          </a:p>
          <a:p>
            <a:pPr marL="0" indent="0">
              <a:buNone/>
            </a:pPr>
            <a:endParaRPr lang="en-US" sz="56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5600" dirty="0" err="1">
                <a:solidFill>
                  <a:srgbClr val="C00000"/>
                </a:solidFill>
              </a:rPr>
              <a:t>const</a:t>
            </a:r>
            <a:r>
              <a:rPr lang="en-US" sz="5600" dirty="0">
                <a:solidFill>
                  <a:srgbClr val="C00000"/>
                </a:solidFill>
              </a:rPr>
              <a:t> SECRET_KEY = '</a:t>
            </a:r>
            <a:r>
              <a:rPr lang="en-US" sz="5600" dirty="0" err="1">
                <a:solidFill>
                  <a:srgbClr val="C00000"/>
                </a:solidFill>
              </a:rPr>
              <a:t>your_secret_key</a:t>
            </a:r>
            <a:r>
              <a:rPr lang="en-US" sz="5600" dirty="0">
                <a:solidFill>
                  <a:srgbClr val="C00000"/>
                </a:solidFill>
              </a:rPr>
              <a:t>'; </a:t>
            </a:r>
            <a:r>
              <a:rPr lang="en-US" sz="5600" dirty="0">
                <a:solidFill>
                  <a:srgbClr val="7030A0"/>
                </a:solidFill>
              </a:rPr>
              <a:t>// replace with your own secret</a:t>
            </a:r>
          </a:p>
          <a:p>
            <a:pPr marL="0" indent="0">
              <a:buNone/>
            </a:pPr>
            <a:endParaRPr lang="en-US" sz="56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5600" b="1" dirty="0">
                <a:solidFill>
                  <a:srgbClr val="0070C0"/>
                </a:solidFill>
              </a:rPr>
              <a:t>// -------- Login Endpoint (for testing) --------</a:t>
            </a:r>
          </a:p>
          <a:p>
            <a:pPr marL="0" indent="0">
              <a:buNone/>
            </a:pPr>
            <a:r>
              <a:rPr lang="en-US" sz="5600" dirty="0" err="1">
                <a:solidFill>
                  <a:srgbClr val="C00000"/>
                </a:solidFill>
              </a:rPr>
              <a:t>app.post</a:t>
            </a:r>
            <a:r>
              <a:rPr lang="en-US" sz="5600" dirty="0">
                <a:solidFill>
                  <a:srgbClr val="C00000"/>
                </a:solidFill>
              </a:rPr>
              <a:t>('/login', (</a:t>
            </a:r>
            <a:r>
              <a:rPr lang="en-US" sz="5600" dirty="0" err="1">
                <a:solidFill>
                  <a:srgbClr val="C00000"/>
                </a:solidFill>
              </a:rPr>
              <a:t>req</a:t>
            </a:r>
            <a:r>
              <a:rPr lang="en-US" sz="5600" dirty="0">
                <a:solidFill>
                  <a:srgbClr val="C00000"/>
                </a:solidFill>
              </a:rPr>
              <a:t>, res) =&gt; {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C00000"/>
                </a:solidFill>
              </a:rPr>
              <a:t>  </a:t>
            </a:r>
            <a:r>
              <a:rPr lang="en-US" sz="5600" dirty="0" err="1">
                <a:solidFill>
                  <a:srgbClr val="C00000"/>
                </a:solidFill>
              </a:rPr>
              <a:t>const</a:t>
            </a:r>
            <a:r>
              <a:rPr lang="en-US" sz="5600" dirty="0">
                <a:solidFill>
                  <a:srgbClr val="C00000"/>
                </a:solidFill>
              </a:rPr>
              <a:t> { username } = </a:t>
            </a:r>
            <a:r>
              <a:rPr lang="en-US" sz="5600" dirty="0" err="1">
                <a:solidFill>
                  <a:srgbClr val="C00000"/>
                </a:solidFill>
              </a:rPr>
              <a:t>req.body</a:t>
            </a:r>
            <a:r>
              <a:rPr lang="en-US" sz="5600" dirty="0">
                <a:solidFill>
                  <a:srgbClr val="C00000"/>
                </a:solidFill>
              </a:rPr>
              <a:t>;</a:t>
            </a:r>
          </a:p>
          <a:p>
            <a:pPr marL="0" indent="0">
              <a:buNone/>
            </a:pPr>
            <a:endParaRPr lang="en-US" sz="56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5600" dirty="0">
                <a:solidFill>
                  <a:srgbClr val="C00000"/>
                </a:solidFill>
              </a:rPr>
              <a:t>  if (!username) return </a:t>
            </a:r>
            <a:r>
              <a:rPr lang="en-US" sz="5600" dirty="0" err="1">
                <a:solidFill>
                  <a:srgbClr val="C00000"/>
                </a:solidFill>
              </a:rPr>
              <a:t>res.status</a:t>
            </a:r>
            <a:r>
              <a:rPr lang="en-US" sz="5600" dirty="0">
                <a:solidFill>
                  <a:srgbClr val="C00000"/>
                </a:solidFill>
              </a:rPr>
              <a:t>(400).</a:t>
            </a:r>
            <a:r>
              <a:rPr lang="en-US" sz="5600" dirty="0" err="1">
                <a:solidFill>
                  <a:srgbClr val="C00000"/>
                </a:solidFill>
              </a:rPr>
              <a:t>json</a:t>
            </a:r>
            <a:r>
              <a:rPr lang="en-US" sz="5600" dirty="0">
                <a:solidFill>
                  <a:srgbClr val="C00000"/>
                </a:solidFill>
              </a:rPr>
              <a:t>({ error: 'Username required' });</a:t>
            </a:r>
          </a:p>
          <a:p>
            <a:pPr marL="0" indent="0">
              <a:buNone/>
            </a:pPr>
            <a:endParaRPr lang="en-US" sz="56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5600" dirty="0">
                <a:solidFill>
                  <a:srgbClr val="C00000"/>
                </a:solidFill>
              </a:rPr>
              <a:t>  </a:t>
            </a:r>
            <a:r>
              <a:rPr lang="en-US" sz="5600" dirty="0">
                <a:solidFill>
                  <a:srgbClr val="7030A0"/>
                </a:solidFill>
              </a:rPr>
              <a:t>// Create JWT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C00000"/>
                </a:solidFill>
              </a:rPr>
              <a:t>  </a:t>
            </a:r>
            <a:r>
              <a:rPr lang="en-US" sz="5600" dirty="0" err="1">
                <a:solidFill>
                  <a:srgbClr val="C00000"/>
                </a:solidFill>
              </a:rPr>
              <a:t>const</a:t>
            </a:r>
            <a:r>
              <a:rPr lang="en-US" sz="5600" dirty="0">
                <a:solidFill>
                  <a:srgbClr val="C00000"/>
                </a:solidFill>
              </a:rPr>
              <a:t> token = </a:t>
            </a:r>
            <a:r>
              <a:rPr lang="en-US" sz="5600" dirty="0" err="1">
                <a:solidFill>
                  <a:srgbClr val="C00000"/>
                </a:solidFill>
              </a:rPr>
              <a:t>jwt.sign</a:t>
            </a:r>
            <a:r>
              <a:rPr lang="en-US" sz="5600" dirty="0">
                <a:solidFill>
                  <a:srgbClr val="C00000"/>
                </a:solidFill>
              </a:rPr>
              <a:t>({ username }, SECRET_KEY, { </a:t>
            </a:r>
            <a:r>
              <a:rPr lang="en-US" sz="5600" dirty="0" err="1">
                <a:solidFill>
                  <a:srgbClr val="C00000"/>
                </a:solidFill>
              </a:rPr>
              <a:t>expiresIn</a:t>
            </a:r>
            <a:r>
              <a:rPr lang="en-US" sz="5600" dirty="0">
                <a:solidFill>
                  <a:srgbClr val="C00000"/>
                </a:solidFill>
              </a:rPr>
              <a:t>: '1h' });</a:t>
            </a:r>
          </a:p>
          <a:p>
            <a:pPr marL="0" indent="0">
              <a:buNone/>
            </a:pPr>
            <a:endParaRPr lang="en-US" sz="56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5600" dirty="0">
                <a:solidFill>
                  <a:srgbClr val="C00000"/>
                </a:solidFill>
              </a:rPr>
              <a:t>  </a:t>
            </a:r>
            <a:r>
              <a:rPr lang="en-US" sz="5600" dirty="0">
                <a:solidFill>
                  <a:srgbClr val="7030A0"/>
                </a:solidFill>
              </a:rPr>
              <a:t>// Set HTTP-only cookie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C00000"/>
                </a:solidFill>
              </a:rPr>
              <a:t>  </a:t>
            </a:r>
            <a:r>
              <a:rPr lang="en-US" sz="5600" dirty="0" err="1">
                <a:solidFill>
                  <a:srgbClr val="C00000"/>
                </a:solidFill>
              </a:rPr>
              <a:t>res.cookie</a:t>
            </a:r>
            <a:r>
              <a:rPr lang="en-US" sz="5600" dirty="0">
                <a:solidFill>
                  <a:srgbClr val="C00000"/>
                </a:solidFill>
              </a:rPr>
              <a:t>('token', token, {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C00000"/>
                </a:solidFill>
              </a:rPr>
              <a:t>    </a:t>
            </a:r>
            <a:r>
              <a:rPr lang="en-US" sz="5600" dirty="0" err="1">
                <a:solidFill>
                  <a:srgbClr val="C00000"/>
                </a:solidFill>
              </a:rPr>
              <a:t>httpOnly</a:t>
            </a:r>
            <a:r>
              <a:rPr lang="en-US" sz="5600" dirty="0">
                <a:solidFill>
                  <a:srgbClr val="C00000"/>
                </a:solidFill>
              </a:rPr>
              <a:t>: true,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C00000"/>
                </a:solidFill>
              </a:rPr>
              <a:t>    </a:t>
            </a:r>
            <a:r>
              <a:rPr lang="en-US" sz="5600" dirty="0" err="1">
                <a:solidFill>
                  <a:srgbClr val="C00000"/>
                </a:solidFill>
              </a:rPr>
              <a:t>sameSite</a:t>
            </a:r>
            <a:r>
              <a:rPr lang="en-US" sz="5600" dirty="0">
                <a:solidFill>
                  <a:srgbClr val="C00000"/>
                </a:solidFill>
              </a:rPr>
              <a:t>: 'Strict', 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C00000"/>
                </a:solidFill>
              </a:rPr>
              <a:t>    secure: false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C00000"/>
                </a:solidFill>
              </a:rPr>
              <a:t>  });</a:t>
            </a:r>
          </a:p>
          <a:p>
            <a:pPr marL="0" indent="0">
              <a:buNone/>
            </a:pPr>
            <a:endParaRPr lang="en-US" sz="56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5600" dirty="0">
                <a:solidFill>
                  <a:srgbClr val="C00000"/>
                </a:solidFill>
              </a:rPr>
              <a:t>  </a:t>
            </a:r>
            <a:r>
              <a:rPr lang="en-US" sz="5600" dirty="0" err="1">
                <a:solidFill>
                  <a:srgbClr val="C00000"/>
                </a:solidFill>
              </a:rPr>
              <a:t>res.json</a:t>
            </a:r>
            <a:r>
              <a:rPr lang="en-US" sz="5600" dirty="0">
                <a:solidFill>
                  <a:srgbClr val="C00000"/>
                </a:solidFill>
              </a:rPr>
              <a:t>({ message: 'Logged in successfully', token });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C00000"/>
                </a:solidFill>
              </a:rPr>
              <a:t>});</a:t>
            </a:r>
          </a:p>
          <a:p>
            <a:pPr marL="0" indent="0">
              <a:buNone/>
            </a:pP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691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40" y="256478"/>
            <a:ext cx="8341111" cy="6423102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Sample example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</a:rPr>
              <a:t>// -------- Protected Route Example --------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C00000"/>
                </a:solidFill>
              </a:rPr>
              <a:t>app.get</a:t>
            </a:r>
            <a:r>
              <a:rPr lang="en-US" sz="2800" dirty="0">
                <a:solidFill>
                  <a:srgbClr val="C00000"/>
                </a:solidFill>
              </a:rPr>
              <a:t>('/dashboard', (</a:t>
            </a:r>
            <a:r>
              <a:rPr lang="en-US" sz="2800" dirty="0" err="1">
                <a:solidFill>
                  <a:srgbClr val="C00000"/>
                </a:solidFill>
              </a:rPr>
              <a:t>req</a:t>
            </a:r>
            <a:r>
              <a:rPr lang="en-US" sz="2800" dirty="0">
                <a:solidFill>
                  <a:srgbClr val="C00000"/>
                </a:solidFill>
              </a:rPr>
              <a:t>, res) =&gt;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</a:t>
            </a:r>
            <a:r>
              <a:rPr lang="en-US" sz="2800" dirty="0" err="1">
                <a:solidFill>
                  <a:srgbClr val="C00000"/>
                </a:solidFill>
              </a:rPr>
              <a:t>const</a:t>
            </a:r>
            <a:r>
              <a:rPr lang="en-US" sz="2800" dirty="0">
                <a:solidFill>
                  <a:srgbClr val="C00000"/>
                </a:solidFill>
              </a:rPr>
              <a:t> token = </a:t>
            </a:r>
            <a:r>
              <a:rPr lang="en-US" sz="2800" dirty="0" err="1">
                <a:solidFill>
                  <a:srgbClr val="C00000"/>
                </a:solidFill>
              </a:rPr>
              <a:t>req.cookies.token</a:t>
            </a:r>
            <a:r>
              <a:rPr lang="en-US" sz="2800" dirty="0">
                <a:solidFill>
                  <a:srgbClr val="C00000"/>
                </a:solidFill>
              </a:rPr>
              <a:t>; </a:t>
            </a:r>
            <a:r>
              <a:rPr lang="en-US" sz="2800" dirty="0">
                <a:solidFill>
                  <a:srgbClr val="7030A0"/>
                </a:solidFill>
              </a:rPr>
              <a:t>// get JWT from cookie</a:t>
            </a:r>
          </a:p>
          <a:p>
            <a:pPr marL="0" indent="0">
              <a:buNone/>
            </a:pPr>
            <a:endParaRPr lang="en-US" sz="28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if (!token) return </a:t>
            </a:r>
            <a:r>
              <a:rPr lang="en-US" sz="2800" dirty="0" err="1">
                <a:solidFill>
                  <a:srgbClr val="C00000"/>
                </a:solidFill>
              </a:rPr>
              <a:t>res.status</a:t>
            </a:r>
            <a:r>
              <a:rPr lang="en-US" sz="2800" dirty="0">
                <a:solidFill>
                  <a:srgbClr val="C00000"/>
                </a:solidFill>
              </a:rPr>
              <a:t>(401).</a:t>
            </a:r>
            <a:r>
              <a:rPr lang="en-US" sz="2800" dirty="0" err="1">
                <a:solidFill>
                  <a:srgbClr val="C00000"/>
                </a:solidFill>
              </a:rPr>
              <a:t>json</a:t>
            </a:r>
            <a:r>
              <a:rPr lang="en-US" sz="2800" dirty="0">
                <a:solidFill>
                  <a:srgbClr val="C00000"/>
                </a:solidFill>
              </a:rPr>
              <a:t>({ error: 'Not authenticated' });</a:t>
            </a:r>
          </a:p>
          <a:p>
            <a:pPr marL="0" indent="0">
              <a:buNone/>
            </a:pPr>
            <a:endParaRPr lang="en-US" sz="28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try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  </a:t>
            </a:r>
            <a:r>
              <a:rPr lang="en-US" sz="2800" dirty="0" err="1">
                <a:solidFill>
                  <a:srgbClr val="C00000"/>
                </a:solidFill>
              </a:rPr>
              <a:t>const</a:t>
            </a:r>
            <a:r>
              <a:rPr lang="en-US" sz="2800" dirty="0">
                <a:solidFill>
                  <a:srgbClr val="C00000"/>
                </a:solidFill>
              </a:rPr>
              <a:t> decoded = </a:t>
            </a:r>
            <a:r>
              <a:rPr lang="en-US" sz="2800" dirty="0" err="1">
                <a:solidFill>
                  <a:srgbClr val="C00000"/>
                </a:solidFill>
              </a:rPr>
              <a:t>jwt.verify</a:t>
            </a:r>
            <a:r>
              <a:rPr lang="en-US" sz="2800" dirty="0">
                <a:solidFill>
                  <a:srgbClr val="C00000"/>
                </a:solidFill>
              </a:rPr>
              <a:t>(token, SECRET_KEY);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  </a:t>
            </a:r>
            <a:r>
              <a:rPr lang="en-US" sz="2800" dirty="0" err="1">
                <a:solidFill>
                  <a:srgbClr val="C00000"/>
                </a:solidFill>
              </a:rPr>
              <a:t>res.json</a:t>
            </a:r>
            <a:r>
              <a:rPr lang="en-US" sz="2800" dirty="0">
                <a:solidFill>
                  <a:srgbClr val="C00000"/>
                </a:solidFill>
              </a:rPr>
              <a:t>({ message: `Welcome ${</a:t>
            </a:r>
            <a:r>
              <a:rPr lang="en-US" sz="2800" dirty="0" err="1">
                <a:solidFill>
                  <a:srgbClr val="C00000"/>
                </a:solidFill>
              </a:rPr>
              <a:t>decoded.username</a:t>
            </a:r>
            <a:r>
              <a:rPr lang="en-US" sz="2800" dirty="0">
                <a:solidFill>
                  <a:srgbClr val="C00000"/>
                </a:solidFill>
              </a:rPr>
              <a:t>}` });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} catch (err)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  </a:t>
            </a:r>
            <a:r>
              <a:rPr lang="en-US" sz="2800" dirty="0" err="1">
                <a:solidFill>
                  <a:srgbClr val="C00000"/>
                </a:solidFill>
              </a:rPr>
              <a:t>res.status</a:t>
            </a:r>
            <a:r>
              <a:rPr lang="en-US" sz="2800" dirty="0">
                <a:solidFill>
                  <a:srgbClr val="C00000"/>
                </a:solidFill>
              </a:rPr>
              <a:t>(401).</a:t>
            </a:r>
            <a:r>
              <a:rPr lang="en-US" sz="2800" dirty="0" err="1">
                <a:solidFill>
                  <a:srgbClr val="C00000"/>
                </a:solidFill>
              </a:rPr>
              <a:t>json</a:t>
            </a:r>
            <a:r>
              <a:rPr lang="en-US" sz="2800" dirty="0">
                <a:solidFill>
                  <a:srgbClr val="C00000"/>
                </a:solidFill>
              </a:rPr>
              <a:t>({ error: 'Invalid or expired token' });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}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});</a:t>
            </a:r>
          </a:p>
          <a:p>
            <a:pPr marL="0" indent="0">
              <a:buNone/>
            </a:pPr>
            <a:endParaRPr lang="en-US" sz="28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</a:rPr>
              <a:t>// -------- Logout Endpoint --------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C00000"/>
                </a:solidFill>
              </a:rPr>
              <a:t>app.post</a:t>
            </a:r>
            <a:r>
              <a:rPr lang="en-US" sz="2800" dirty="0">
                <a:solidFill>
                  <a:srgbClr val="C00000"/>
                </a:solidFill>
              </a:rPr>
              <a:t>('/logout', (</a:t>
            </a:r>
            <a:r>
              <a:rPr lang="en-US" sz="2800" dirty="0" err="1">
                <a:solidFill>
                  <a:srgbClr val="C00000"/>
                </a:solidFill>
              </a:rPr>
              <a:t>req</a:t>
            </a:r>
            <a:r>
              <a:rPr lang="en-US" sz="2800" dirty="0">
                <a:solidFill>
                  <a:srgbClr val="C00000"/>
                </a:solidFill>
              </a:rPr>
              <a:t>, res) =&gt;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</a:t>
            </a:r>
            <a:r>
              <a:rPr lang="en-US" sz="2800" dirty="0" err="1">
                <a:solidFill>
                  <a:srgbClr val="C00000"/>
                </a:solidFill>
              </a:rPr>
              <a:t>res.clearCookie</a:t>
            </a:r>
            <a:r>
              <a:rPr lang="en-US" sz="2800" dirty="0">
                <a:solidFill>
                  <a:srgbClr val="C00000"/>
                </a:solidFill>
              </a:rPr>
              <a:t>('token',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  </a:t>
            </a:r>
            <a:r>
              <a:rPr lang="en-US" sz="2800" dirty="0" err="1">
                <a:solidFill>
                  <a:srgbClr val="C00000"/>
                </a:solidFill>
              </a:rPr>
              <a:t>httpOnly</a:t>
            </a:r>
            <a:r>
              <a:rPr lang="en-US" sz="2800" dirty="0">
                <a:solidFill>
                  <a:srgbClr val="C00000"/>
                </a:solidFill>
              </a:rPr>
              <a:t>: true,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  </a:t>
            </a:r>
            <a:r>
              <a:rPr lang="en-US" sz="2800" dirty="0" err="1">
                <a:solidFill>
                  <a:srgbClr val="C00000"/>
                </a:solidFill>
              </a:rPr>
              <a:t>sameSite</a:t>
            </a:r>
            <a:r>
              <a:rPr lang="en-US" sz="2800" dirty="0">
                <a:solidFill>
                  <a:srgbClr val="C00000"/>
                </a:solidFill>
              </a:rPr>
              <a:t>: 'Strict',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  secure: false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});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  </a:t>
            </a:r>
            <a:r>
              <a:rPr lang="en-US" sz="2800" dirty="0" err="1">
                <a:solidFill>
                  <a:srgbClr val="C00000"/>
                </a:solidFill>
              </a:rPr>
              <a:t>res.json</a:t>
            </a:r>
            <a:r>
              <a:rPr lang="en-US" sz="2800" dirty="0">
                <a:solidFill>
                  <a:srgbClr val="C00000"/>
                </a:solidFill>
              </a:rPr>
              <a:t>({ message: 'Logged out successfully' });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});</a:t>
            </a:r>
          </a:p>
          <a:p>
            <a:pPr marL="0" indent="0">
              <a:buNone/>
            </a:pPr>
            <a:endParaRPr lang="en-US" sz="28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</a:rPr>
              <a:t>// -------- Start Server --------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C00000"/>
                </a:solidFill>
              </a:rPr>
              <a:t>app.listen</a:t>
            </a:r>
            <a:r>
              <a:rPr lang="en-US" sz="2800" dirty="0">
                <a:solidFill>
                  <a:srgbClr val="C00000"/>
                </a:solidFill>
              </a:rPr>
              <a:t>(3000, () =&gt; console.log('Server running on http://localhost:3000'));</a:t>
            </a:r>
          </a:p>
          <a:p>
            <a:pPr marL="0" indent="0">
              <a:buNone/>
            </a:pPr>
            <a:endParaRPr lang="en-US" sz="28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2330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288</TotalTime>
  <Words>1526</Words>
  <Application>Microsoft Office PowerPoint</Application>
  <PresentationFormat>On-screen Show (4:3)</PresentationFormat>
  <Paragraphs>240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Century Gothic</vt:lpstr>
      <vt:lpstr>Wingdings 3</vt:lpstr>
      <vt:lpstr>Ion</vt:lpstr>
      <vt:lpstr>PowerPoint Presentation</vt:lpstr>
      <vt:lpstr>What is a Cookie?</vt:lpstr>
      <vt:lpstr>Why Cookies are Needed</vt:lpstr>
      <vt:lpstr>Role of Cookies</vt:lpstr>
      <vt:lpstr>Authentication Problem</vt:lpstr>
      <vt:lpstr>JWT Without Cookies</vt:lpstr>
      <vt:lpstr>Why Store JWT in Cookies</vt:lpstr>
      <vt:lpstr>res.cookie() Function</vt:lpstr>
      <vt:lpstr>res.cookie Syntax</vt:lpstr>
      <vt:lpstr>Cookie Name</vt:lpstr>
      <vt:lpstr>Cookie Options</vt:lpstr>
      <vt:lpstr>httpOnly Option</vt:lpstr>
      <vt:lpstr>Why httpOnly Matters</vt:lpstr>
      <vt:lpstr>secure Option</vt:lpstr>
      <vt:lpstr>sameSite Option</vt:lpstr>
      <vt:lpstr>sameSite: lax</vt:lpstr>
      <vt:lpstr>Request Flow</vt:lpstr>
      <vt:lpstr>Server Role</vt:lpstr>
      <vt:lpstr>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Cookies in Authentication</dc:title>
  <dc:subject/>
  <dc:creator>Rubab</dc:creator>
  <cp:keywords/>
  <dc:description>generated using python-pptx</dc:description>
  <cp:lastModifiedBy>Arham Bhatti</cp:lastModifiedBy>
  <cp:revision>13</cp:revision>
  <dcterms:created xsi:type="dcterms:W3CDTF">2013-01-27T09:14:16Z</dcterms:created>
  <dcterms:modified xsi:type="dcterms:W3CDTF">2026-02-01T12:01:38Z</dcterms:modified>
  <cp:category/>
</cp:coreProperties>
</file>