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DEA6A47-0114-4C64-AC64-8CF9ED6B343E}" type="datetimeFigureOut">
              <a:rPr lang="en-US" smtClean="0"/>
              <a:t>6/30/2021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285403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EA6A47-0114-4C64-AC64-8CF9ED6B343E}" type="datetimeFigureOut">
              <a:rPr lang="en-US" smtClean="0"/>
              <a:t>6/30/2021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135541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DEA6A47-0114-4C64-AC64-8CF9ED6B343E}" type="datetimeFigureOut">
              <a:rPr lang="en-US" smtClean="0"/>
              <a:t>6/30/2021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1292249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DEA6A47-0114-4C64-AC64-8CF9ED6B343E}" type="datetimeFigureOut">
              <a:rPr lang="en-US" smtClean="0"/>
              <a:t>6/30/2021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3147976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DEA6A47-0114-4C64-AC64-8CF9ED6B343E}" type="datetimeFigureOut">
              <a:rPr lang="en-US" smtClean="0"/>
              <a:t>6/30/2021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377892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DEA6A47-0114-4C64-AC64-8CF9ED6B343E}" type="datetimeFigureOut">
              <a:rPr lang="en-US" smtClean="0"/>
              <a:t>6/30/2021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3049208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EA6A47-0114-4C64-AC64-8CF9ED6B343E}" type="datetimeFigureOut">
              <a:rPr lang="en-US" smtClean="0"/>
              <a:t>6/30/2021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486762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DEA6A47-0114-4C64-AC64-8CF9ED6B343E}" type="datetimeFigureOut">
              <a:rPr lang="en-US" smtClean="0"/>
              <a:t>6/30/2021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3810666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DEA6A47-0114-4C64-AC64-8CF9ED6B343E}" type="datetimeFigureOut">
              <a:rPr lang="en-US" smtClean="0"/>
              <a:t>6/30/2021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2330043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EA6A47-0114-4C64-AC64-8CF9ED6B343E}" type="datetimeFigureOut">
              <a:rPr lang="en-US" smtClean="0"/>
              <a:t>6/30/2021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2873088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EA6A47-0114-4C64-AC64-8CF9ED6B343E}" type="datetimeFigureOut">
              <a:rPr lang="en-US" smtClean="0"/>
              <a:t>6/30/2021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F69EC-587F-42B4-B39E-B8966CA7407A}" type="slidenum">
              <a:rPr lang="en-US" smtClean="0"/>
              <a:t>‹#›</a:t>
            </a:fld>
            <a:endParaRPr lang="en-US"/>
          </a:p>
        </p:txBody>
      </p:sp>
    </p:spTree>
    <p:extLst>
      <p:ext uri="{BB962C8B-B14F-4D97-AF65-F5344CB8AC3E}">
        <p14:creationId xmlns:p14="http://schemas.microsoft.com/office/powerpoint/2010/main" val="225322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A6A47-0114-4C64-AC64-8CF9ED6B343E}" type="datetimeFigureOut">
              <a:rPr lang="en-US" smtClean="0"/>
              <a:t>6/30/2021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FF69EC-587F-42B4-B39E-B8966CA7407A}" type="slidenum">
              <a:rPr lang="en-US" smtClean="0"/>
              <a:t>‹#›</a:t>
            </a:fld>
            <a:endParaRPr lang="en-US"/>
          </a:p>
        </p:txBody>
      </p:sp>
    </p:spTree>
    <p:extLst>
      <p:ext uri="{BB962C8B-B14F-4D97-AF65-F5344CB8AC3E}">
        <p14:creationId xmlns:p14="http://schemas.microsoft.com/office/powerpoint/2010/main" val="2767933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12465"/>
            <a:ext cx="9043851" cy="1215889"/>
          </a:xfrm>
        </p:spPr>
        <p:txBody>
          <a:bodyPr/>
          <a:lstStyle/>
          <a:p>
            <a:r>
              <a:rPr lang="en-US" dirty="0" smtClean="0"/>
              <a:t>Fredrick Nietzsche</a:t>
            </a:r>
            <a:endParaRPr lang="en-US" dirty="0"/>
          </a:p>
        </p:txBody>
      </p:sp>
      <p:sp>
        <p:nvSpPr>
          <p:cNvPr id="3" name="Subtitle 2"/>
          <p:cNvSpPr>
            <a:spLocks noGrp="1"/>
          </p:cNvSpPr>
          <p:nvPr>
            <p:ph type="subTitle" idx="1"/>
          </p:nvPr>
        </p:nvSpPr>
        <p:spPr>
          <a:xfrm>
            <a:off x="1184365" y="1528353"/>
            <a:ext cx="10467704" cy="5133703"/>
          </a:xfrm>
        </p:spPr>
        <p:txBody>
          <a:bodyPr>
            <a:normAutofit lnSpcReduction="10000"/>
          </a:bodyPr>
          <a:lstStyle/>
          <a:p>
            <a:pPr algn="l"/>
            <a:r>
              <a:rPr lang="en-US" dirty="0" smtClean="0"/>
              <a:t>Friedrich Nietzsche was born in Saxony in 1844. His father and grandfather were Lutheran ministers, but the father died when Nietzsche was only four years old.   Nietzsche studied philology at the University of Leipzig, but his reading ranged deeply over Greek philosophy. His brilliance was quickly realized, and he was given the chair of philosophy at the University of Basel when he was only twenty-four years old and had not yet completed his doctorate. Nietzsche stayed there ten years and wrote several important works, including The Birth of Tragedy from the Spirit of Music. In 1879, however, he resigned his professorship because of his chronic bad health, and spent most of the rest of his life traveling around Italy, hoping the climate would boost his health, and supporting himself by his writings. In 1889, when he had just completed a number of his most important works, Nietzsche collapsed on the street in Turin, Italy. He saw a man beating a horse and broke down in tears as he put his arms around the horse’s neck. Although he survived ten more years, passing away in 1900, he was never sane again. He was first taken to a clinic and then to an asylum, but was taken care of by his sister for the final years of his life. </a:t>
            </a:r>
          </a:p>
          <a:p>
            <a:pPr algn="l"/>
            <a:endParaRPr lang="en-US" dirty="0"/>
          </a:p>
        </p:txBody>
      </p:sp>
    </p:spTree>
    <p:extLst>
      <p:ext uri="{BB962C8B-B14F-4D97-AF65-F5344CB8AC3E}">
        <p14:creationId xmlns:p14="http://schemas.microsoft.com/office/powerpoint/2010/main" val="4237104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SCHOPENHAUER’S INFLUENCE ON NIETZSCHE </a:t>
            </a:r>
            <a:endParaRPr lang="en-US" dirty="0"/>
          </a:p>
        </p:txBody>
      </p:sp>
      <p:sp>
        <p:nvSpPr>
          <p:cNvPr id="3" name="Content Placeholder 2"/>
          <p:cNvSpPr>
            <a:spLocks noGrp="1"/>
          </p:cNvSpPr>
          <p:nvPr>
            <p:ph idx="1"/>
          </p:nvPr>
        </p:nvSpPr>
        <p:spPr/>
        <p:txBody>
          <a:bodyPr/>
          <a:lstStyle/>
          <a:p>
            <a:r>
              <a:rPr lang="en-US" dirty="0" smtClean="0"/>
              <a:t>As a young thinker Nietzsche initially fell under the sway of Arthur Schopenhauer (1788–1860), whose philosophy was a kind of strange version of Idealism. Schopenhauer followed Kant in distinguishing between reality as it appears and reality as it really is. He also follows Kant in arguing that the world as it appears is a construction of the intellect. So far Schopenhauer would seem to be an Idealist like Fichte, Schelling, and Hegel. However, he argues that reality as it is in itself is not the work of a rational Mind. It is basically a kind of mindless will, a non-rational instinctive form of desire. All of this is explained in his most important work, The World as Will and Representation. </a:t>
            </a:r>
            <a:endParaRPr lang="en-US" dirty="0"/>
          </a:p>
        </p:txBody>
      </p:sp>
    </p:spTree>
    <p:extLst>
      <p:ext uri="{BB962C8B-B14F-4D97-AF65-F5344CB8AC3E}">
        <p14:creationId xmlns:p14="http://schemas.microsoft.com/office/powerpoint/2010/main" val="4129587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83143" cy="6753497"/>
          </a:xfrm>
        </p:spPr>
        <p:txBody>
          <a:bodyPr>
            <a:noAutofit/>
          </a:bodyPr>
          <a:lstStyle/>
          <a:p>
            <a:endParaRPr lang="en-US" sz="2000" dirty="0" smtClean="0"/>
          </a:p>
          <a:p>
            <a:pPr algn="just"/>
            <a:r>
              <a:rPr lang="en-US" sz="2000" dirty="0" smtClean="0"/>
              <a:t> Schopenhauer’s understanding of the will is vastly different. The will is a kind of blind instinctive force, a gnawing emptiness that is incapable of being filled. All of reality consists of this blind force, but our intellect masks this by representing the world as a kind of rational structure. We construct a world of “representations,” but what we represent to ourselves through the intellect is something that we grasp through our own self-consciousness. Schopenhauer’s philosophy seems to lead to a pessimistic view of human existence, and indeed he is known as “the great pessimist” of German philosophy. The world is not a rational place; it is not the creation of a good, personal God, and it has no final meaning or purpose. Schopenhauer was interested in Asian thought, and his philosophy has some affinities with Buddhism. The will as this gnawing instinct that cannot be satisfied leads to misery and suffering. The best that we can do to mitigate this suffering is to attempt to moderate our desires through ascetic practices, and to cultivate selfless compassion for others. Schopenhauer also believes that art offers some consolation for humans, because when we contemplate or experience works of art we are, at least temporarily, taken away from a fixation on our own desires and captivated by a kind of disinterested love for that work of art. The young Nietzsche fell under Schopenhauer’s sway, and Schopenhauer left a permanent mark on his thought. The mature Nietzsche comes to see Schopenhauer as a reflection of what Nietzsche calls “European decadence,” which has lost touch with its vital forces. However, some things from Schopenhauer endure: Nietzsche adopts an atheistic stance that rejects any cosmic purpose or meaning for the universe or human life. He also takes from Schopenhauer a conviction that reality is fundamentally shaped by the will, understood as a blind, instinctive force. Finally, Nietzsche, especially in his early work, gives art a central place in human life.</a:t>
            </a:r>
          </a:p>
          <a:p>
            <a:pPr marL="0" indent="0" algn="just">
              <a:buNone/>
            </a:pPr>
            <a:r>
              <a:rPr lang="en-US" sz="2000" dirty="0" smtClean="0"/>
              <a:t> </a:t>
            </a:r>
            <a:endParaRPr lang="en-US" sz="2000" dirty="0"/>
          </a:p>
        </p:txBody>
      </p:sp>
    </p:spTree>
    <p:extLst>
      <p:ext uri="{BB962C8B-B14F-4D97-AF65-F5344CB8AC3E}">
        <p14:creationId xmlns:p14="http://schemas.microsoft.com/office/powerpoint/2010/main" val="3873637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408920" cy="745218"/>
          </a:xfrm>
        </p:spPr>
        <p:txBody>
          <a:bodyPr/>
          <a:lstStyle/>
          <a:p>
            <a:pPr algn="ctr"/>
            <a:r>
              <a:rPr lang="en-US" dirty="0" smtClean="0"/>
              <a:t>NIETZSCHE ON THE BIRTH OF TRAGEDY</a:t>
            </a:r>
            <a:endParaRPr lang="en-US" dirty="0"/>
          </a:p>
        </p:txBody>
      </p:sp>
      <p:sp>
        <p:nvSpPr>
          <p:cNvPr id="3" name="Content Placeholder 2"/>
          <p:cNvSpPr>
            <a:spLocks noGrp="1"/>
          </p:cNvSpPr>
          <p:nvPr>
            <p:ph idx="1"/>
          </p:nvPr>
        </p:nvSpPr>
        <p:spPr>
          <a:xfrm>
            <a:off x="563879" y="1110344"/>
            <a:ext cx="11440887" cy="5630090"/>
          </a:xfrm>
        </p:spPr>
        <p:txBody>
          <a:bodyPr>
            <a:normAutofit/>
          </a:bodyPr>
          <a:lstStyle/>
          <a:p>
            <a:r>
              <a:rPr lang="en-US" dirty="0" smtClean="0"/>
              <a:t>The book describes Greek culture as a synthesis of two contrasting forces, which Nietzsche describes as the Apollonian and </a:t>
            </a:r>
            <a:r>
              <a:rPr lang="en-US" dirty="0" err="1" smtClean="0"/>
              <a:t>Dionysiac</a:t>
            </a:r>
            <a:r>
              <a:rPr lang="en-US" dirty="0" smtClean="0"/>
              <a:t>, named of course for the two gods Apollo and Dionysus. Apollo, the sun god, stands for the forces of order and form. Dionysus, the god of wine, represents the vital instinctual forces in Greek culture, which come to expression in ecstasy and excess. Apollo expresses the individuated, which can be understood. Dionysus comes to expression in madness and in the communal revelry in which the individual becomes part of a larger reality. The worshipers of Dionysus periodically engaged in communal revelry, characterized by drunkenness and music, which is seen as the most elemental and </a:t>
            </a:r>
            <a:r>
              <a:rPr lang="en-US" dirty="0" err="1" smtClean="0"/>
              <a:t>Dionysiac</a:t>
            </a:r>
            <a:r>
              <a:rPr lang="en-US" dirty="0" smtClean="0"/>
              <a:t> of all the arts. Nietzsche’s hypothesis is that this </a:t>
            </a:r>
            <a:r>
              <a:rPr lang="en-US" dirty="0" err="1" smtClean="0"/>
              <a:t>Dionysiac</a:t>
            </a:r>
            <a:r>
              <a:rPr lang="en-US" dirty="0" smtClean="0"/>
              <a:t> revelry provides the origins of tragedy. Thus the Greek art of tragedy is the result of the interplay between these contrasting and yet necessary aspects of human existence.</a:t>
            </a:r>
            <a:endParaRPr lang="en-US" dirty="0"/>
          </a:p>
        </p:txBody>
      </p:sp>
    </p:spTree>
    <p:extLst>
      <p:ext uri="{BB962C8B-B14F-4D97-AF65-F5344CB8AC3E}">
        <p14:creationId xmlns:p14="http://schemas.microsoft.com/office/powerpoint/2010/main" val="223117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9"/>
            <a:ext cx="10421983" cy="875211"/>
          </a:xfrm>
        </p:spPr>
        <p:txBody>
          <a:bodyPr>
            <a:normAutofit/>
          </a:bodyPr>
          <a:lstStyle/>
          <a:p>
            <a:pPr algn="ctr"/>
            <a:r>
              <a:rPr lang="en-US" dirty="0" smtClean="0"/>
              <a:t>Good-and-Bad Versus Good-and-Evil</a:t>
            </a:r>
            <a:endParaRPr lang="en-US" dirty="0"/>
          </a:p>
        </p:txBody>
      </p:sp>
      <p:sp>
        <p:nvSpPr>
          <p:cNvPr id="3" name="Content Placeholder 2"/>
          <p:cNvSpPr>
            <a:spLocks noGrp="1"/>
          </p:cNvSpPr>
          <p:nvPr>
            <p:ph idx="1"/>
          </p:nvPr>
        </p:nvSpPr>
        <p:spPr>
          <a:xfrm>
            <a:off x="744582" y="898162"/>
            <a:ext cx="11207931" cy="5959838"/>
          </a:xfrm>
        </p:spPr>
        <p:txBody>
          <a:bodyPr>
            <a:normAutofit fontScale="85000" lnSpcReduction="20000"/>
          </a:bodyPr>
          <a:lstStyle/>
          <a:p>
            <a:r>
              <a:rPr lang="en-US" dirty="0"/>
              <a:t> First, it is important to see that for Nietzsche morality is a completely human creation. He </a:t>
            </a:r>
            <a:r>
              <a:rPr lang="en-US" dirty="0" smtClean="0"/>
              <a:t>does not </a:t>
            </a:r>
            <a:r>
              <a:rPr lang="en-US" dirty="0"/>
              <a:t>believe in moral laws or a moral truth that somehow transcends human history. There are various forms of morality, and all of them are, as Nietzsche said about another topic, “human, all too human.” </a:t>
            </a:r>
            <a:r>
              <a:rPr lang="en-US" dirty="0" smtClean="0"/>
              <a:t>There are two forms of Moralities </a:t>
            </a:r>
            <a:r>
              <a:rPr lang="en-US" dirty="0" err="1" smtClean="0"/>
              <a:t>i.e</a:t>
            </a:r>
            <a:r>
              <a:rPr lang="en-US" dirty="0" smtClean="0"/>
              <a:t> Master Morality and Slave Morality. Master </a:t>
            </a:r>
            <a:r>
              <a:rPr lang="en-US" dirty="0"/>
              <a:t>morality or the morality of the aristocracy, is a morality invented by the strong, dominant conquerors, the warriors who established control over the masses. As Nietzsche tells the story, the original system of values was grounded in the self-confidence and </a:t>
            </a:r>
            <a:r>
              <a:rPr lang="en-US" dirty="0" smtClean="0"/>
              <a:t>self-assertiveness </a:t>
            </a:r>
            <a:r>
              <a:rPr lang="en-US" dirty="0"/>
              <a:t>of the masters. They saw themselves (and the qualities they possessed) as “good,” while the masses were seen as bad. The “slave revolt” in morality begins with the resentment of the masses at their ill-treatment on the part of the masters. </a:t>
            </a:r>
            <a:r>
              <a:rPr lang="en-US" dirty="0" smtClean="0"/>
              <a:t> </a:t>
            </a:r>
            <a:r>
              <a:rPr lang="en-US" dirty="0"/>
              <a:t>Naturally, the weak do not relish being treated badly by the nobles. “The beginning of the slaves’ revolt in morality occurs when </a:t>
            </a:r>
            <a:r>
              <a:rPr lang="en-US" dirty="0" smtClean="0"/>
              <a:t>resentment </a:t>
            </a:r>
            <a:r>
              <a:rPr lang="en-US" dirty="0"/>
              <a:t>itself turns creative and gives birth to values</a:t>
            </a:r>
            <a:r>
              <a:rPr lang="en-US" dirty="0" smtClean="0"/>
              <a:t>.” </a:t>
            </a:r>
            <a:r>
              <a:rPr lang="en-US" dirty="0"/>
              <a:t>The value system created by the slave mentality is fundamentally different from that of master morality. Master morality is positive in character; the master says yes to himself and </a:t>
            </a:r>
            <a:r>
              <a:rPr lang="en-US" dirty="0" smtClean="0"/>
              <a:t>what is </a:t>
            </a:r>
            <a:r>
              <a:rPr lang="en-US" dirty="0"/>
              <a:t>like himself. However, slave morality is reactive. This kind of morality, “denied the proper response of action, compensates for it only with imaginary revenge.”3 The master defines himself by what he is; there is a kind of honesty and spontaneity in his view of things. The slave defines himself by what he is not. Slave morality is fundamentally negative. The slave also wants power, but the slave is too weak actually to oppose the master, so he takes revenge in thought.</a:t>
            </a:r>
          </a:p>
        </p:txBody>
      </p:sp>
    </p:spTree>
    <p:extLst>
      <p:ext uri="{BB962C8B-B14F-4D97-AF65-F5344CB8AC3E}">
        <p14:creationId xmlns:p14="http://schemas.microsoft.com/office/powerpoint/2010/main" val="163455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382794" cy="536212"/>
          </a:xfrm>
        </p:spPr>
        <p:txBody>
          <a:bodyPr>
            <a:normAutofit fontScale="90000"/>
          </a:bodyPr>
          <a:lstStyle/>
          <a:p>
            <a:pPr algn="ctr"/>
            <a:r>
              <a:rPr lang="en-US" dirty="0" smtClean="0"/>
              <a:t>Concept of Guilt.</a:t>
            </a:r>
            <a:endParaRPr lang="en-US" dirty="0"/>
          </a:p>
        </p:txBody>
      </p:sp>
      <p:sp>
        <p:nvSpPr>
          <p:cNvPr id="3" name="Content Placeholder 2"/>
          <p:cNvSpPr>
            <a:spLocks noGrp="1"/>
          </p:cNvSpPr>
          <p:nvPr>
            <p:ph idx="1"/>
          </p:nvPr>
        </p:nvSpPr>
        <p:spPr>
          <a:xfrm>
            <a:off x="679269" y="901338"/>
            <a:ext cx="11129554" cy="6113416"/>
          </a:xfrm>
        </p:spPr>
        <p:txBody>
          <a:bodyPr>
            <a:noAutofit/>
          </a:bodyPr>
          <a:lstStyle/>
          <a:p>
            <a:pPr algn="just"/>
            <a:r>
              <a:rPr lang="en-US" sz="1800" dirty="0"/>
              <a:t>To complete the story Nietzsche adds an account of the origin of guilt, which is closely linked to the morality of good and evil. The origins of guilt, according to Nietzsche, are bound up with the notion of debt. In more primitive human societies, if a debtor was unable to pay back what was owed, the lender would take satisfaction by punishing the unfortunate debtor. Nietzsche is not completely sure how things went, since the origins of guilt lie far back in human history, but he conjectures that making another person suffer was a way of balancing a debt: “To the extent that to make suffer was in the highest degree pleasurable, to the extent that the injured party exchanged for the loss he had sustained . . . an extraordinary counterbalancing pleasure: that of making suffer</a:t>
            </a:r>
            <a:r>
              <a:rPr lang="en-US" sz="1800" dirty="0" smtClean="0"/>
              <a:t>.”</a:t>
            </a:r>
            <a:r>
              <a:rPr lang="en-US" sz="1800" dirty="0"/>
              <a:t> </a:t>
            </a:r>
            <a:r>
              <a:rPr lang="en-US" sz="1800" dirty="0" smtClean="0"/>
              <a:t>Nietzsche </a:t>
            </a:r>
            <a:r>
              <a:rPr lang="en-US" sz="1800" dirty="0"/>
              <a:t>thinks this helps us see why from the beginning guilt and suffering were intertwined. It is also clear that the origins of guilt are connected closely to cruelty, a trait that Nietzsche believes to be a fundamental element of human nature. </a:t>
            </a:r>
            <a:endParaRPr lang="en-US" sz="1800" dirty="0" smtClean="0"/>
          </a:p>
          <a:p>
            <a:pPr algn="just"/>
            <a:r>
              <a:rPr lang="en-US" sz="1800" dirty="0"/>
              <a:t>The concept of guilt attached to Western morality does not seem purely social, however, as people often feel guilt about having done morally bad things even if their acts are unknown to others. To explain </a:t>
            </a:r>
            <a:r>
              <a:rPr lang="en-US" sz="1800" dirty="0" smtClean="0"/>
              <a:t>this development</a:t>
            </a:r>
            <a:r>
              <a:rPr lang="en-US" sz="1800" dirty="0"/>
              <a:t>, Nietzsche bring in the class of the priest. In ancient caste societies, the priestly caste is of course, like the masters, an elite caste. However, despite the fact that the nobles and priests are both elites, there is a competition for dominance between the two groups. The priest cannot compete with the warrior on the basis of physical strength, and so must substitute cunning and shrewdness. Religion for Nietzsche is partly a symbolic expression of what a society reveres, and so the priest, as the guardian of religion, is the representative of something higher than the individual. The individual always owes a debt to society and, since the gods represent what is highest for society, the individual owes that debt to the </a:t>
            </a:r>
            <a:r>
              <a:rPr lang="en-US" sz="1800" dirty="0" smtClean="0"/>
              <a:t>gods</a:t>
            </a:r>
            <a:endParaRPr lang="en-US" sz="1800" dirty="0"/>
          </a:p>
        </p:txBody>
      </p:sp>
    </p:spTree>
    <p:extLst>
      <p:ext uri="{BB962C8B-B14F-4D97-AF65-F5344CB8AC3E}">
        <p14:creationId xmlns:p14="http://schemas.microsoft.com/office/powerpoint/2010/main" val="736919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Priest and Guilt</a:t>
            </a:r>
            <a:endParaRPr lang="en-US" dirty="0"/>
          </a:p>
        </p:txBody>
      </p:sp>
      <p:sp>
        <p:nvSpPr>
          <p:cNvPr id="3" name="Content Placeholder 2"/>
          <p:cNvSpPr>
            <a:spLocks noGrp="1"/>
          </p:cNvSpPr>
          <p:nvPr>
            <p:ph idx="1"/>
          </p:nvPr>
        </p:nvSpPr>
        <p:spPr>
          <a:xfrm>
            <a:off x="744583" y="1319349"/>
            <a:ext cx="10609217" cy="4857614"/>
          </a:xfrm>
        </p:spPr>
        <p:txBody>
          <a:bodyPr>
            <a:normAutofit fontScale="92500" lnSpcReduction="10000"/>
          </a:bodyPr>
          <a:lstStyle/>
          <a:p>
            <a:pPr algn="just"/>
            <a:r>
              <a:rPr lang="en-US" dirty="0" smtClean="0"/>
              <a:t> </a:t>
            </a:r>
            <a:r>
              <a:rPr lang="en-US" dirty="0"/>
              <a:t>The priest teaches the people to feel this debt, and thus the priest gains power as well. We might say the priest is the custodian of the debt. Guilt as debt owed thus becomes internalized, something felt by the individual even when there is no debt to any specific person. How is the debt to be paid? The people are taught to turn their cruel instincts on themselves, to inflict punishment on themselves rather than others. This has the added benefit of giving a meaning to other sufferings. Besides inflicting suffering by teaching guilt, the priest also interprets the ordinary suffering of humans as guilt. The priest thereby teaches people that it is their own fault that they suffer. The suffering they cannot avoid is a punishment. When that punishment is not sufficient the priest teaches the people to punish themselves. The priest makes all suffering bearable because he gives to suffering a meaning. “What really arouses indignation against suffering is not suffering as such but the senselessness of suffering.”</a:t>
            </a:r>
          </a:p>
          <a:p>
            <a:endParaRPr lang="en-US" dirty="0"/>
          </a:p>
        </p:txBody>
      </p:sp>
    </p:spTree>
    <p:extLst>
      <p:ext uri="{BB962C8B-B14F-4D97-AF65-F5344CB8AC3E}">
        <p14:creationId xmlns:p14="http://schemas.microsoft.com/office/powerpoint/2010/main" val="878196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278291" cy="470898"/>
          </a:xfrm>
        </p:spPr>
        <p:txBody>
          <a:bodyPr>
            <a:normAutofit fontScale="90000"/>
          </a:bodyPr>
          <a:lstStyle/>
          <a:p>
            <a:pPr algn="ctr"/>
            <a:r>
              <a:rPr lang="en-US" dirty="0" smtClean="0"/>
              <a:t>Concept of Overman.</a:t>
            </a:r>
            <a:endParaRPr lang="en-US" dirty="0"/>
          </a:p>
        </p:txBody>
      </p:sp>
      <p:sp>
        <p:nvSpPr>
          <p:cNvPr id="3" name="Content Placeholder 2"/>
          <p:cNvSpPr>
            <a:spLocks noGrp="1"/>
          </p:cNvSpPr>
          <p:nvPr>
            <p:ph idx="1"/>
          </p:nvPr>
        </p:nvSpPr>
        <p:spPr>
          <a:xfrm>
            <a:off x="627017" y="836024"/>
            <a:ext cx="11077303" cy="6021976"/>
          </a:xfrm>
        </p:spPr>
        <p:txBody>
          <a:bodyPr>
            <a:normAutofit fontScale="77500" lnSpcReduction="20000"/>
          </a:bodyPr>
          <a:lstStyle/>
          <a:p>
            <a:pPr algn="just"/>
            <a:r>
              <a:rPr lang="en-US" dirty="0"/>
              <a:t> The concept is elaborated most fully in Nietzsche’s work Thus </a:t>
            </a:r>
            <a:r>
              <a:rPr lang="en-US" dirty="0" err="1"/>
              <a:t>Spake</a:t>
            </a:r>
            <a:r>
              <a:rPr lang="en-US" dirty="0"/>
              <a:t> Zarathustra. In this work, which Nietzsche himself considered his most important and profound book, Nietzsche creates a prophetic figure, Zarathustra, who provides wisdom to his disciples. Zarathustra expresses the basic idea of the Overman in this way: “Man is a rope, fastened between animal and Overman—a rope over an abyss.”38 In other places Nietzsche describes human beings as a bridge. Humans are not “ends in themselves,” as Kant thought, but we are great because we have the possibility of becoming something great. Nietzsche does not provide many specific characterizations of the Overman. The reason for this is that the Overman will be something fundamentally new, and we cannot at present fully imagine what this new type of person will be like. What we do know is that the Overman will be a creator of values, and that those values will in some way be healthier and more honest than those of Christian morality. Zarathustra puts the Overman at the center of his message: “Behold, I teach you the Overman. The Overman is the meaning of the earth. Let your will say: The Overman shall be the meaning of the earth.”39 Those who aspire to become the Overman must be people who “remain true to the earth.”40 They will not be “despisers of life,” which is the inevitable result of Christian morality, and they will reject any kind of supernatural hope or belief in life after death. The Overman will be someone who lives life passionately, and will not be afraid to say that “my happiness should justify existence itself.” Zarathustra goes so far as to say that “it is not your sin, but your moderation that cries to heaven, your very meanness in sinning cries to heaven.”41 Nevertheless, Nietzsche does not picture the Overman as a kind of “wanton” who simply does whatever he feels like doing and is incapable of sacrifice and self-discipline. Rather, the Overman has inherited the ability to discipline himself, but puts that power to use for the “earth” rather than heaven. One of the great temptations that the Overman must overcome is the temptation to feel contempt for human life.</a:t>
            </a:r>
          </a:p>
        </p:txBody>
      </p:sp>
    </p:spTree>
    <p:extLst>
      <p:ext uri="{BB962C8B-B14F-4D97-AF65-F5344CB8AC3E}">
        <p14:creationId xmlns:p14="http://schemas.microsoft.com/office/powerpoint/2010/main" val="161888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2263</Words>
  <Application>Microsoft Office PowerPoint</Application>
  <PresentationFormat>Widescreen</PresentationFormat>
  <Paragraphs>18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Fredrick Nietzsche</vt:lpstr>
      <vt:lpstr>SCHOPENHAUER’S INFLUENCE ON NIETZSCHE </vt:lpstr>
      <vt:lpstr>PowerPoint Presentation</vt:lpstr>
      <vt:lpstr>NIETZSCHE ON THE BIRTH OF TRAGEDY</vt:lpstr>
      <vt:lpstr>Good-and-Bad Versus Good-and-Evil</vt:lpstr>
      <vt:lpstr>Concept of Guilt.</vt:lpstr>
      <vt:lpstr>           Priest and Guilt</vt:lpstr>
      <vt:lpstr>Concept of Overman.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Fredrick Nietzsche</dc:title>
  <dc:creator>omar.shaoor</dc:creator>
  <cp:lastModifiedBy>omar.shaoor</cp:lastModifiedBy>
  <cp:revision>15</cp:revision>
  <dcterms:created xsi:type="dcterms:W3CDTF">2021-06-25T10:06:24Z</dcterms:created>
  <dcterms:modified xsi:type="dcterms:W3CDTF">2021-06-30T05:46:26Z</dcterms:modified>
</cp:coreProperties>
</file>