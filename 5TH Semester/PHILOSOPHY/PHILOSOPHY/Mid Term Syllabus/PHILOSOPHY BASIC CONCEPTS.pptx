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2" r:id="rId5"/>
    <p:sldId id="259" r:id="rId6"/>
    <p:sldId id="260"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26" autoAdjust="0"/>
    <p:restoredTop sz="94660"/>
  </p:normalViewPr>
  <p:slideViewPr>
    <p:cSldViewPr snapToGrid="0">
      <p:cViewPr varScale="1">
        <p:scale>
          <a:sx n="73" d="100"/>
          <a:sy n="73" d="100"/>
        </p:scale>
        <p:origin x="62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9AF9CCD-3502-4CEF-9048-DFD5E9273CB5}"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18013449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AF9CCD-3502-4CEF-9048-DFD5E9273CB5}"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632490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9AF9CCD-3502-4CEF-9048-DFD5E9273CB5}"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1071918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9AF9CCD-3502-4CEF-9048-DFD5E9273CB5}" type="datetimeFigureOut">
              <a:rPr lang="en-US" smtClean="0"/>
              <a:t>3/14/2024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41548277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9AF9CCD-3502-4CEF-9048-DFD5E9273CB5}" type="datetimeFigureOut">
              <a:rPr lang="en-US" smtClean="0"/>
              <a:t>3/14/2024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4553573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9AF9CCD-3502-4CEF-9048-DFD5E9273CB5}" type="datetimeFigureOut">
              <a:rPr lang="en-US" smtClean="0"/>
              <a:t>3/14/2024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3117212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AF9CCD-3502-4CEF-9048-DFD5E9273CB5}" type="datetimeFigureOut">
              <a:rPr lang="en-US" smtClean="0"/>
              <a:t>3/14/2024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385421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AF9CCD-3502-4CEF-9048-DFD5E9273CB5}" type="datetimeFigureOut">
              <a:rPr lang="en-US" smtClean="0"/>
              <a:t>3/14/2024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2875482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9AF9CCD-3502-4CEF-9048-DFD5E9273CB5}" type="datetimeFigureOut">
              <a:rPr lang="en-US" smtClean="0"/>
              <a:t>3/14/2024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31853809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AF9CCD-3502-4CEF-9048-DFD5E9273CB5}"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2155544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9AF9CCD-3502-4CEF-9048-DFD5E9273CB5}" type="datetimeFigureOut">
              <a:rPr lang="en-US" smtClean="0"/>
              <a:t>3/14/2024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BAFC0A-F290-496F-BC98-84A132B09C29}" type="slidenum">
              <a:rPr lang="en-US" smtClean="0"/>
              <a:t>‹#›</a:t>
            </a:fld>
            <a:endParaRPr lang="en-US"/>
          </a:p>
        </p:txBody>
      </p:sp>
    </p:spTree>
    <p:extLst>
      <p:ext uri="{BB962C8B-B14F-4D97-AF65-F5344CB8AC3E}">
        <p14:creationId xmlns:p14="http://schemas.microsoft.com/office/powerpoint/2010/main" val="36377982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AF9CCD-3502-4CEF-9048-DFD5E9273CB5}" type="datetimeFigureOut">
              <a:rPr lang="en-US" smtClean="0"/>
              <a:t>3/14/2024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BAFC0A-F290-496F-BC98-84A132B09C29}" type="slidenum">
              <a:rPr lang="en-US" smtClean="0"/>
              <a:t>‹#›</a:t>
            </a:fld>
            <a:endParaRPr lang="en-US"/>
          </a:p>
        </p:txBody>
      </p:sp>
    </p:spTree>
    <p:extLst>
      <p:ext uri="{BB962C8B-B14F-4D97-AF65-F5344CB8AC3E}">
        <p14:creationId xmlns:p14="http://schemas.microsoft.com/office/powerpoint/2010/main" val="33480164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41566" y="782728"/>
            <a:ext cx="9004663" cy="954632"/>
          </a:xfrm>
        </p:spPr>
        <p:txBody>
          <a:bodyPr>
            <a:normAutofit/>
          </a:bodyPr>
          <a:lstStyle/>
          <a:p>
            <a:r>
              <a:rPr lang="en-US" sz="3200" dirty="0" smtClean="0"/>
              <a:t>PHILOSOPHY</a:t>
            </a:r>
            <a:endParaRPr lang="en-US" sz="3200" dirty="0"/>
          </a:p>
        </p:txBody>
      </p:sp>
      <p:sp>
        <p:nvSpPr>
          <p:cNvPr id="3" name="Subtitle 2"/>
          <p:cNvSpPr>
            <a:spLocks noGrp="1"/>
          </p:cNvSpPr>
          <p:nvPr>
            <p:ph type="subTitle" idx="1"/>
          </p:nvPr>
        </p:nvSpPr>
        <p:spPr>
          <a:xfrm>
            <a:off x="1201783" y="1881050"/>
            <a:ext cx="10241280" cy="4545875"/>
          </a:xfrm>
        </p:spPr>
        <p:txBody>
          <a:bodyPr>
            <a:normAutofit fontScale="92500" lnSpcReduction="10000"/>
          </a:bodyPr>
          <a:lstStyle/>
          <a:p>
            <a:pPr algn="l"/>
            <a:r>
              <a:rPr lang="en-US" dirty="0" smtClean="0"/>
              <a:t>Philosophy has been defined by different authorities in different ways starting from ancient</a:t>
            </a:r>
          </a:p>
          <a:p>
            <a:pPr algn="l"/>
            <a:r>
              <a:rPr lang="en-US" dirty="0" smtClean="0"/>
              <a:t>Greece. Some of the definitions are worth stating as below:</a:t>
            </a:r>
          </a:p>
          <a:p>
            <a:pPr algn="l"/>
            <a:r>
              <a:rPr lang="en-US" dirty="0" smtClean="0"/>
              <a:t>(</a:t>
            </a:r>
            <a:r>
              <a:rPr lang="en-US" dirty="0" err="1" smtClean="0"/>
              <a:t>i</a:t>
            </a:r>
            <a:r>
              <a:rPr lang="en-US" dirty="0" smtClean="0"/>
              <a:t>)        A way of simplifying complex ideas and statements about our experiences in life in order to make sense out of (make us understand) them.</a:t>
            </a:r>
          </a:p>
          <a:p>
            <a:pPr algn="l"/>
            <a:r>
              <a:rPr lang="en-US" dirty="0" smtClean="0"/>
              <a:t>(ii)       A rational attempt in finding solutions to fundamental problems of man.</a:t>
            </a:r>
          </a:p>
          <a:p>
            <a:pPr algn="l"/>
            <a:r>
              <a:rPr lang="en-US" dirty="0" smtClean="0"/>
              <a:t>(iii)      A constant and endless quest by man in trying to find out many riddles of the universe so that he can find out a meaningful framework for the expression of all thoughts, actions and observable phenomena.</a:t>
            </a:r>
          </a:p>
          <a:p>
            <a:pPr algn="l"/>
            <a:r>
              <a:rPr lang="en-US" dirty="0" smtClean="0"/>
              <a:t>(iv)      What an individual  accepts as his guiding principles,  which prompt him to act, in different ways at different times, places and circumstances.</a:t>
            </a:r>
          </a:p>
          <a:p>
            <a:pPr algn="l"/>
            <a:r>
              <a:rPr lang="en-US" dirty="0" smtClean="0"/>
              <a:t>(v)       A  rational  investigation,  which  examines  nature  and  the  reasons  behind  events happening in the world.</a:t>
            </a:r>
            <a:endParaRPr lang="en-US" dirty="0"/>
          </a:p>
        </p:txBody>
      </p:sp>
    </p:spTree>
    <p:extLst>
      <p:ext uri="{BB962C8B-B14F-4D97-AF65-F5344CB8AC3E}">
        <p14:creationId xmlns:p14="http://schemas.microsoft.com/office/powerpoint/2010/main" val="1269552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Wisdom</a:t>
            </a:r>
            <a:endParaRPr lang="en-US" dirty="0"/>
          </a:p>
        </p:txBody>
      </p:sp>
      <p:sp>
        <p:nvSpPr>
          <p:cNvPr id="3" name="Content Placeholder 2"/>
          <p:cNvSpPr>
            <a:spLocks noGrp="1"/>
          </p:cNvSpPr>
          <p:nvPr>
            <p:ph idx="1"/>
          </p:nvPr>
        </p:nvSpPr>
        <p:spPr>
          <a:xfrm>
            <a:off x="838200" y="1345474"/>
            <a:ext cx="10709366" cy="5251269"/>
          </a:xfrm>
        </p:spPr>
        <p:txBody>
          <a:bodyPr>
            <a:normAutofit fontScale="92500"/>
          </a:bodyPr>
          <a:lstStyle/>
          <a:p>
            <a:r>
              <a:rPr lang="en-US" dirty="0" smtClean="0"/>
              <a:t>Wisdom  itself  means,  “the  ability  to  make  sensible  decisions  and  give  good  judgement because of the experience and knowledge  that somebody has”. To have wisdom therefore means, the individual must make deliberate effort at acquiring knowledge. Knowledge acquisition through critical thinking and analysis of issues before making concrete judgment; the individual must cultivate a very high degree of questioning ability, a propensity for a high level of speculation and fantasies. The literal meaning of philosophy therefore is “the love for a high degree of knowledge”.</a:t>
            </a:r>
          </a:p>
          <a:p>
            <a:r>
              <a:rPr lang="en-US" dirty="0" smtClean="0"/>
              <a:t>From the point of view of the early Greek philosophers, philosophy, wisdom or excellence meant the totality of knowledge, that is, knowledge in all the sciences as well as all the social sciences as we know them today i.e. physics, chemistry, biology, geography, sociology, economics,  religion,  etc.  all  disciplines  were  seen  and  understood  from  philosophical perspective and hence philosophy was referred to as the mother of all disciplines.</a:t>
            </a:r>
          </a:p>
          <a:p>
            <a:endParaRPr lang="en-US" dirty="0"/>
          </a:p>
        </p:txBody>
      </p:sp>
    </p:spTree>
    <p:extLst>
      <p:ext uri="{BB962C8B-B14F-4D97-AF65-F5344CB8AC3E}">
        <p14:creationId xmlns:p14="http://schemas.microsoft.com/office/powerpoint/2010/main" val="3757335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474234" cy="444772"/>
          </a:xfrm>
        </p:spPr>
        <p:txBody>
          <a:bodyPr>
            <a:normAutofit fontScale="90000"/>
          </a:bodyPr>
          <a:lstStyle/>
          <a:p>
            <a:pPr algn="ctr"/>
            <a:r>
              <a:rPr lang="en-US" sz="2800" dirty="0" smtClean="0"/>
              <a:t>Branches of Philosophy</a:t>
            </a:r>
            <a:endParaRPr lang="en-US" sz="2800" dirty="0"/>
          </a:p>
        </p:txBody>
      </p:sp>
      <p:sp>
        <p:nvSpPr>
          <p:cNvPr id="3" name="Content Placeholder 2"/>
          <p:cNvSpPr>
            <a:spLocks noGrp="1"/>
          </p:cNvSpPr>
          <p:nvPr>
            <p:ph idx="1"/>
          </p:nvPr>
        </p:nvSpPr>
        <p:spPr>
          <a:xfrm>
            <a:off x="175364" y="187891"/>
            <a:ext cx="11799517" cy="6413326"/>
          </a:xfrm>
        </p:spPr>
        <p:txBody>
          <a:bodyPr>
            <a:noAutofit/>
          </a:bodyPr>
          <a:lstStyle/>
          <a:p>
            <a:pPr algn="just"/>
            <a:endParaRPr lang="en-US" sz="2000" dirty="0" smtClean="0"/>
          </a:p>
          <a:p>
            <a:pPr marL="0" indent="0" algn="just">
              <a:buNone/>
            </a:pPr>
            <a:endParaRPr lang="en-US" sz="2000" dirty="0" smtClean="0"/>
          </a:p>
          <a:p>
            <a:pPr marL="0" indent="0" algn="just">
              <a:buNone/>
            </a:pPr>
            <a:r>
              <a:rPr lang="en-US" sz="2000" dirty="0" smtClean="0"/>
              <a:t>Logic is the systematic study of those rules and principles which distinguish correct from incorrect reasoning. Reasons are the coins which one pays to hold his beliefs. Logic is divide into deductive and inductive reasoning. Deductive and Inductive both reasoning are concerned with the analysis of arguments. In order to know what arguments are, we need to know the following basic terminologies.</a:t>
            </a:r>
          </a:p>
          <a:p>
            <a:pPr marL="514350" indent="-514350" algn="just">
              <a:buAutoNum type="arabicParenR"/>
            </a:pPr>
            <a:r>
              <a:rPr lang="en-US" sz="2000" dirty="0" smtClean="0"/>
              <a:t>Propositions: Propositions are statements which asserts something is the case or not. It may be true or false. Propositions must have a claim.</a:t>
            </a:r>
          </a:p>
          <a:p>
            <a:pPr marL="514350" indent="-514350" algn="just">
              <a:buAutoNum type="arabicParenR"/>
            </a:pPr>
            <a:r>
              <a:rPr lang="en-US" sz="2000" dirty="0" smtClean="0"/>
              <a:t>Arguments: Argument is the cluster of propositions in which propositions must have some interwoven connection so some kind of inference must be drawn out of propositions. Arguments have two parts. One is called Premises which is the background reasoning and other is the conclusion.</a:t>
            </a:r>
            <a:endParaRPr lang="en-US" sz="2000" dirty="0"/>
          </a:p>
          <a:p>
            <a:pPr marL="514350" indent="-514350" algn="just">
              <a:buAutoNum type="arabicParenR"/>
            </a:pPr>
            <a:r>
              <a:rPr lang="en-US" sz="2000" dirty="0" smtClean="0"/>
              <a:t>Deductive arguments: Deductive arguments seek to verify the consistency of thought between the premises and the conclusion. If conclusion is followed from the premises with absolute necessity than argument is valid otherwise the argument will be invalid. Normally, deduction aims to verify the arguments and its movement is from general proposition to particular or to general. Deduction deals with categories like Some or All. It is used to test the theory.</a:t>
            </a:r>
          </a:p>
          <a:p>
            <a:pPr marL="514350" indent="-514350" algn="just">
              <a:buAutoNum type="arabicParenR"/>
            </a:pPr>
            <a:r>
              <a:rPr lang="en-US" sz="2000" dirty="0" smtClean="0"/>
              <a:t>Inductive Arguments: In inductive arguments the conclusion always follow the premises with the element of probability. It moves from particular instance towards general truth. The inductive arguments might be weak or strong but can’t be true or false. Inductions is used to establish new knowledge and theory building.</a:t>
            </a:r>
          </a:p>
          <a:p>
            <a:pPr marL="0" indent="0" algn="just">
              <a:buNone/>
            </a:pPr>
            <a:endParaRPr lang="en-US" sz="2000" dirty="0"/>
          </a:p>
        </p:txBody>
      </p:sp>
    </p:spTree>
    <p:extLst>
      <p:ext uri="{BB962C8B-B14F-4D97-AF65-F5344CB8AC3E}">
        <p14:creationId xmlns:p14="http://schemas.microsoft.com/office/powerpoint/2010/main" val="25453798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4584" y="130630"/>
            <a:ext cx="10424160" cy="1110342"/>
          </a:xfrm>
        </p:spPr>
        <p:txBody>
          <a:bodyPr>
            <a:normAutofit fontScale="90000"/>
          </a:bodyPr>
          <a:lstStyle/>
          <a:p>
            <a:pPr algn="ctr"/>
            <a:r>
              <a:rPr lang="en-US" dirty="0"/>
              <a:t>METAPHYSICS</a:t>
            </a:r>
            <a:br>
              <a:rPr lang="en-US" dirty="0"/>
            </a:br>
            <a:endParaRPr lang="en-US" dirty="0"/>
          </a:p>
        </p:txBody>
      </p:sp>
      <p:sp>
        <p:nvSpPr>
          <p:cNvPr id="3" name="Content Placeholder 2"/>
          <p:cNvSpPr>
            <a:spLocks noGrp="1"/>
          </p:cNvSpPr>
          <p:nvPr>
            <p:ph idx="1"/>
          </p:nvPr>
        </p:nvSpPr>
        <p:spPr>
          <a:xfrm>
            <a:off x="744583" y="796835"/>
            <a:ext cx="10672353" cy="5212080"/>
          </a:xfrm>
        </p:spPr>
        <p:txBody>
          <a:bodyPr>
            <a:normAutofit fontScale="92500" lnSpcReduction="10000"/>
          </a:bodyPr>
          <a:lstStyle/>
          <a:p>
            <a:pPr algn="just"/>
            <a:r>
              <a:rPr lang="en-US" dirty="0" smtClean="0"/>
              <a:t>Another </a:t>
            </a:r>
            <a:r>
              <a:rPr lang="en-US" dirty="0"/>
              <a:t>traditional branch of </a:t>
            </a:r>
            <a:r>
              <a:rPr lang="en-US" dirty="0" smtClean="0"/>
              <a:t>Philosophy </a:t>
            </a:r>
            <a:r>
              <a:rPr lang="en-US" dirty="0"/>
              <a:t>known as metaphysics. </a:t>
            </a:r>
            <a:r>
              <a:rPr lang="en-US" dirty="0" smtClean="0"/>
              <a:t>It deals with the nature of reality, being and existence, first causes of things and </a:t>
            </a:r>
            <a:r>
              <a:rPr lang="en-US" dirty="0" smtClean="0"/>
              <a:t>all those obscure concepts which are beyond the scope of sciences. </a:t>
            </a:r>
            <a:r>
              <a:rPr lang="en-US" dirty="0" smtClean="0"/>
              <a:t>For </a:t>
            </a:r>
            <a:r>
              <a:rPr lang="en-US" dirty="0"/>
              <a:t>Aristotle, the term metaphysics meant “first philosophy,” discussion of the </a:t>
            </a:r>
            <a:r>
              <a:rPr lang="en-US" dirty="0" smtClean="0"/>
              <a:t>abstractions</a:t>
            </a:r>
            <a:r>
              <a:rPr lang="en-US" dirty="0" smtClean="0"/>
              <a:t>; </a:t>
            </a:r>
            <a:r>
              <a:rPr lang="en-US" dirty="0"/>
              <a:t>later the term came to mean “comprehensive thinking about the nature of things.” It means, usually, the study or theory of reality. The question of metaphysics is: what is reality? What is real? Is reality some kind of “thing”. Is it one or is it many? If it is one, then how is it related to many things around us? Can ultimate reality be grasped by five senses, or is it </a:t>
            </a:r>
            <a:r>
              <a:rPr lang="en-US" dirty="0" smtClean="0"/>
              <a:t>eminent</a:t>
            </a:r>
            <a:r>
              <a:rPr lang="en-US" dirty="0" smtClean="0"/>
              <a:t> </a:t>
            </a:r>
            <a:r>
              <a:rPr lang="en-US" dirty="0"/>
              <a:t>or transcendent? Metaphysics undoubtedly is the branch of philosophy that the modern student finds most difficult to grasp. Metaphysics attempts to offer a comprehensive view of all that exists. It is concerned with such problems as the relation of mind to matter, the nature of change, the meaning of “freedom,” the existence of God, and the belief in personal immortality.</a:t>
            </a:r>
          </a:p>
          <a:p>
            <a:endParaRPr lang="en-US" dirty="0"/>
          </a:p>
        </p:txBody>
      </p:sp>
    </p:spTree>
    <p:extLst>
      <p:ext uri="{BB962C8B-B14F-4D97-AF65-F5344CB8AC3E}">
        <p14:creationId xmlns:p14="http://schemas.microsoft.com/office/powerpoint/2010/main" val="272241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27652"/>
          </a:xfrm>
        </p:spPr>
        <p:txBody>
          <a:bodyPr>
            <a:normAutofit fontScale="90000"/>
          </a:bodyPr>
          <a:lstStyle/>
          <a:p>
            <a:pPr algn="ctr"/>
            <a:r>
              <a:rPr lang="en-US" dirty="0" smtClean="0"/>
              <a:t>Branches of Philosophy</a:t>
            </a:r>
            <a:endParaRPr lang="en-US" dirty="0"/>
          </a:p>
        </p:txBody>
      </p:sp>
      <p:sp>
        <p:nvSpPr>
          <p:cNvPr id="3" name="Content Placeholder 2"/>
          <p:cNvSpPr>
            <a:spLocks noGrp="1"/>
          </p:cNvSpPr>
          <p:nvPr>
            <p:ph idx="1"/>
          </p:nvPr>
        </p:nvSpPr>
        <p:spPr>
          <a:xfrm>
            <a:off x="707571" y="992778"/>
            <a:ext cx="11101252" cy="5865222"/>
          </a:xfrm>
        </p:spPr>
        <p:txBody>
          <a:bodyPr>
            <a:normAutofit lnSpcReduction="10000"/>
          </a:bodyPr>
          <a:lstStyle/>
          <a:p>
            <a:r>
              <a:rPr lang="en-US" dirty="0" smtClean="0"/>
              <a:t>C.	EPISTEMOLOGY &amp; ONTOLOGY</a:t>
            </a:r>
          </a:p>
          <a:p>
            <a:pPr marL="0" indent="0">
              <a:buNone/>
            </a:pPr>
            <a:r>
              <a:rPr lang="en-US" dirty="0" smtClean="0"/>
              <a:t>The technical term for the theory of knowledge is epistemology, which comes from the Greek word episteme, meaning “knowledge.” In general, epistemology is the branch of philosophy that studies the sources, nature, and validity of knowledge.  There are three central questions in this field:  (1) What are the sources of knowledge? Where does genuine knowledge come from or how do we know? This is the question of origins.  (2) What is the nature of knowledge? Is there a real world outside the mind, and if so can we know it? This is the question of appearance versus reality.  (3) Is our knowledge valid? How do we distinguish truth from error? This is the question of the tests of truth, of verification.</a:t>
            </a:r>
          </a:p>
          <a:p>
            <a:pPr marL="0" indent="0">
              <a:buNone/>
            </a:pPr>
            <a:r>
              <a:rPr lang="en-US" dirty="0" smtClean="0"/>
              <a:t>Ontology is the philosophical study of the nature of being, becoming, existence, or reality. It is part of the major branch of philosophy known as metaphysics. Ontology deals with questions about what things exist or can be said to exist, and how such entities can be grouped according to similarities and differences.</a:t>
            </a:r>
          </a:p>
          <a:p>
            <a:pPr marL="0" indent="0">
              <a:buNone/>
            </a:pPr>
            <a:endParaRPr lang="en-US" dirty="0"/>
          </a:p>
        </p:txBody>
      </p:sp>
    </p:spTree>
    <p:extLst>
      <p:ext uri="{BB962C8B-B14F-4D97-AF65-F5344CB8AC3E}">
        <p14:creationId xmlns:p14="http://schemas.microsoft.com/office/powerpoint/2010/main" val="2589945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408920" cy="497024"/>
          </a:xfrm>
        </p:spPr>
        <p:txBody>
          <a:bodyPr>
            <a:normAutofit fontScale="90000"/>
          </a:bodyPr>
          <a:lstStyle/>
          <a:p>
            <a:pPr algn="ctr"/>
            <a:r>
              <a:rPr lang="en-US" dirty="0" smtClean="0"/>
              <a:t>Branches of </a:t>
            </a:r>
            <a:r>
              <a:rPr lang="en-US" sz="3600" dirty="0" smtClean="0"/>
              <a:t>Philosophy</a:t>
            </a:r>
            <a:endParaRPr lang="en-US" sz="3600" dirty="0"/>
          </a:p>
        </p:txBody>
      </p:sp>
      <p:sp>
        <p:nvSpPr>
          <p:cNvPr id="3" name="Content Placeholder 2"/>
          <p:cNvSpPr>
            <a:spLocks noGrp="1"/>
          </p:cNvSpPr>
          <p:nvPr>
            <p:ph idx="1"/>
          </p:nvPr>
        </p:nvSpPr>
        <p:spPr>
          <a:xfrm>
            <a:off x="731520" y="872037"/>
            <a:ext cx="11064240" cy="5763893"/>
          </a:xfrm>
        </p:spPr>
        <p:txBody>
          <a:bodyPr>
            <a:normAutofit fontScale="85000" lnSpcReduction="20000"/>
          </a:bodyPr>
          <a:lstStyle/>
          <a:p>
            <a:r>
              <a:rPr lang="en-US" dirty="0" smtClean="0"/>
              <a:t>D.	AXIOLOGY</a:t>
            </a:r>
          </a:p>
          <a:p>
            <a:r>
              <a:rPr lang="en-US" dirty="0" smtClean="0"/>
              <a:t> Value theory is the branch of philosophy that studies values. It can be subdivided into ethics, aesthetics, and social and political philosophy. In broad terms ethics concerns itself with the question of morality. What is right and what is wrong in human relations? Within morality and ethics there are three major areas: descriptive ethics, normative ethics, and meta-ethics. Descriptive ethics seeks to identify moral experience in a descriptive way. We seek to identify, within the range of human conduct, the motives, desires, and intentions as well as overt acts themselves.</a:t>
            </a:r>
          </a:p>
          <a:p>
            <a:r>
              <a:rPr lang="en-US" dirty="0" smtClean="0"/>
              <a:t> ETHICS   Descriptive ethics consider the conduct of individuals, or personal morality; the conduct of groups, or social morality; and the culture patterns of national and racial groups.  A second level of inquiry is normative ethics (what ought to be). Here philosophers try to work out acceptable judgments regarding what ought to be in choice and value. “We ought to keep our promises” and “you ought to be honorable” are examples of normative judgments— of the moral ought, the subject matter of ethics.  Third, there is the area of critical or meta-ethics. Here interest is centered on the analysis and meaning of the terms and language used in ethical discourse and the kind of reasoning used to justify ethical statements. Meta-ethics does not propound any moral principle or goal (except by implication), but rather consists entirely of philosophical analysis. What is the meaning of “good?” and Can ethical judgments be justified? are typical problems for meta-ethics.</a:t>
            </a:r>
          </a:p>
          <a:p>
            <a:pPr marL="0" indent="0">
              <a:buNone/>
            </a:pPr>
            <a:endParaRPr lang="en-US" dirty="0"/>
          </a:p>
        </p:txBody>
      </p:sp>
    </p:spTree>
    <p:extLst>
      <p:ext uri="{BB962C8B-B14F-4D97-AF65-F5344CB8AC3E}">
        <p14:creationId xmlns:p14="http://schemas.microsoft.com/office/powerpoint/2010/main" val="3888255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82794" cy="758281"/>
          </a:xfrm>
        </p:spPr>
        <p:txBody>
          <a:bodyPr/>
          <a:lstStyle/>
          <a:p>
            <a:pPr algn="ctr"/>
            <a:r>
              <a:rPr lang="en-US" dirty="0" smtClean="0"/>
              <a:t>Branches continued.</a:t>
            </a:r>
            <a:endParaRPr lang="en-US" dirty="0"/>
          </a:p>
        </p:txBody>
      </p:sp>
      <p:sp>
        <p:nvSpPr>
          <p:cNvPr id="3" name="Content Placeholder 2"/>
          <p:cNvSpPr>
            <a:spLocks noGrp="1"/>
          </p:cNvSpPr>
          <p:nvPr>
            <p:ph idx="1"/>
          </p:nvPr>
        </p:nvSpPr>
        <p:spPr>
          <a:xfrm>
            <a:off x="838200" y="1123406"/>
            <a:ext cx="10515600" cy="5053557"/>
          </a:xfrm>
        </p:spPr>
        <p:txBody>
          <a:bodyPr>
            <a:normAutofit fontScale="77500" lnSpcReduction="20000"/>
          </a:bodyPr>
          <a:lstStyle/>
          <a:p>
            <a:r>
              <a:rPr lang="en-US" dirty="0" smtClean="0"/>
              <a:t> AESTHETICS Concerns the theory of art and beauty. Questions of art and beauty are considered to be part of the realm of values because many philosophical problems in aesthetics involve critical judgments. There are wide differences of opinion as to what objects call forth the aesthetic response, and what beauty really is. Our concepts of beauty may differ not because of the nature of beauty itself, but because of varying degrees of preparation in discerning beauty. Therefore, if we cannot perceive beauty in objects that others find beautiful, it may be wise to withhold judgment until we are capable ourselves of making a competent analysis of the aesthetic experience.</a:t>
            </a:r>
          </a:p>
          <a:p>
            <a:r>
              <a:rPr lang="en-US" dirty="0" smtClean="0"/>
              <a:t>18. SOCIAL AND POLITICAL PHILOSOPHY Social and political philosophy investigates value judgments concerning society, the state, and the individual’s relation to these institutions. The following questions reflect the concerns of social and political philosophy:  Why should individuals live in society?  What social ideals of liberty, rights, justice, equality and responsibility are desirable?  Why should anyone obey any government?  Why should some individuals or groups have political power over others?  What criteria are to be used in determining who should have political power?  What criteria are to be used in determining the scope of political power, and what rights or freedoms should be immune from political or legal control? </a:t>
            </a:r>
            <a:r>
              <a:rPr lang="en-US" smtClean="0"/>
              <a:t> To what positive goals should political power be directed, and what are the criteria for determining this?</a:t>
            </a:r>
            <a:endParaRPr lang="en-US" dirty="0"/>
          </a:p>
        </p:txBody>
      </p:sp>
    </p:spTree>
    <p:extLst>
      <p:ext uri="{BB962C8B-B14F-4D97-AF65-F5344CB8AC3E}">
        <p14:creationId xmlns:p14="http://schemas.microsoft.com/office/powerpoint/2010/main" val="22380317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TotalTime>
  <Words>1107</Words>
  <Application>Microsoft Office PowerPoint</Application>
  <PresentationFormat>Widescreen</PresentationFormat>
  <Paragraphs>32</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Calibri Light</vt:lpstr>
      <vt:lpstr>Office Theme</vt:lpstr>
      <vt:lpstr>PHILOSOPHY</vt:lpstr>
      <vt:lpstr>Wisdom</vt:lpstr>
      <vt:lpstr>Branches of Philosophy</vt:lpstr>
      <vt:lpstr>METAPHYSICS </vt:lpstr>
      <vt:lpstr>Branches of Philosophy</vt:lpstr>
      <vt:lpstr>Branches of Philosophy</vt:lpstr>
      <vt:lpstr>Branches continued.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PHILOSOPHY</dc:title>
  <dc:creator>omar.shaoor</dc:creator>
  <cp:lastModifiedBy>Omar Shaoor Khan</cp:lastModifiedBy>
  <cp:revision>19</cp:revision>
  <dcterms:created xsi:type="dcterms:W3CDTF">2021-03-16T08:43:42Z</dcterms:created>
  <dcterms:modified xsi:type="dcterms:W3CDTF">2024-03-14T07:44:35Z</dcterms:modified>
</cp:coreProperties>
</file>