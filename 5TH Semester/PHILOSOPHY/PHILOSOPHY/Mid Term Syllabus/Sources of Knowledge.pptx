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3" r:id="rId7"/>
    <p:sldId id="264" r:id="rId8"/>
    <p:sldId id="259"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A98317-E808-43E1-9679-6D5F8AA46340}" type="datetimeFigureOut">
              <a:rPr lang="en-US" smtClean="0"/>
              <a:t>11/24/2021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1118304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A98317-E808-43E1-9679-6D5F8AA46340}" type="datetimeFigureOut">
              <a:rPr lang="en-US" smtClean="0"/>
              <a:t>11/24/2021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3692627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A98317-E808-43E1-9679-6D5F8AA46340}" type="datetimeFigureOut">
              <a:rPr lang="en-US" smtClean="0"/>
              <a:t>11/24/2021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2885246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A98317-E808-43E1-9679-6D5F8AA46340}" type="datetimeFigureOut">
              <a:rPr lang="en-US" smtClean="0"/>
              <a:t>11/24/2021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252269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A98317-E808-43E1-9679-6D5F8AA46340}" type="datetimeFigureOut">
              <a:rPr lang="en-US" smtClean="0"/>
              <a:t>11/24/2021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407264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A98317-E808-43E1-9679-6D5F8AA46340}" type="datetimeFigureOut">
              <a:rPr lang="en-US" smtClean="0"/>
              <a:t>11/24/2021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1254392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A98317-E808-43E1-9679-6D5F8AA46340}" type="datetimeFigureOut">
              <a:rPr lang="en-US" smtClean="0"/>
              <a:t>11/24/2021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1739025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A98317-E808-43E1-9679-6D5F8AA46340}" type="datetimeFigureOut">
              <a:rPr lang="en-US" smtClean="0"/>
              <a:t>11/24/2021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1891297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A98317-E808-43E1-9679-6D5F8AA46340}" type="datetimeFigureOut">
              <a:rPr lang="en-US" smtClean="0"/>
              <a:t>11/24/2021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3211397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A98317-E808-43E1-9679-6D5F8AA46340}" type="datetimeFigureOut">
              <a:rPr lang="en-US" smtClean="0"/>
              <a:t>11/24/2021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3528950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A98317-E808-43E1-9679-6D5F8AA46340}" type="datetimeFigureOut">
              <a:rPr lang="en-US" smtClean="0"/>
              <a:t>11/24/2021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EB3F62-3257-4FCE-AB52-F8F568100F1D}" type="slidenum">
              <a:rPr lang="en-US" smtClean="0"/>
              <a:t>‹#›</a:t>
            </a:fld>
            <a:endParaRPr lang="en-US"/>
          </a:p>
        </p:txBody>
      </p:sp>
    </p:spTree>
    <p:extLst>
      <p:ext uri="{BB962C8B-B14F-4D97-AF65-F5344CB8AC3E}">
        <p14:creationId xmlns:p14="http://schemas.microsoft.com/office/powerpoint/2010/main" val="1897841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98317-E808-43E1-9679-6D5F8AA46340}" type="datetimeFigureOut">
              <a:rPr lang="en-US" smtClean="0"/>
              <a:t>11/24/2021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EB3F62-3257-4FCE-AB52-F8F568100F1D}" type="slidenum">
              <a:rPr lang="en-US" smtClean="0"/>
              <a:t>‹#›</a:t>
            </a:fld>
            <a:endParaRPr lang="en-US"/>
          </a:p>
        </p:txBody>
      </p:sp>
    </p:spTree>
    <p:extLst>
      <p:ext uri="{BB962C8B-B14F-4D97-AF65-F5344CB8AC3E}">
        <p14:creationId xmlns:p14="http://schemas.microsoft.com/office/powerpoint/2010/main" val="1548829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8091" y="1"/>
            <a:ext cx="9609909" cy="1188720"/>
          </a:xfrm>
        </p:spPr>
        <p:txBody>
          <a:bodyPr/>
          <a:lstStyle/>
          <a:p>
            <a:r>
              <a:rPr lang="en-US" dirty="0" smtClean="0"/>
              <a:t>Knowledge</a:t>
            </a:r>
            <a:endParaRPr lang="en-US" dirty="0"/>
          </a:p>
        </p:txBody>
      </p:sp>
      <p:sp>
        <p:nvSpPr>
          <p:cNvPr id="3" name="Subtitle 2"/>
          <p:cNvSpPr>
            <a:spLocks noGrp="1"/>
          </p:cNvSpPr>
          <p:nvPr>
            <p:ph type="subTitle" idx="1"/>
          </p:nvPr>
        </p:nvSpPr>
        <p:spPr>
          <a:xfrm>
            <a:off x="836022" y="1188720"/>
            <a:ext cx="10685417" cy="5669279"/>
          </a:xfrm>
        </p:spPr>
        <p:txBody>
          <a:bodyPr/>
          <a:lstStyle/>
          <a:p>
            <a:pPr algn="l"/>
            <a:r>
              <a:rPr lang="en-US" dirty="0" smtClean="0"/>
              <a:t>Knowledge is the arrangement of facts under the realm of a particular subject. It is the theoretical as well practical understanding of a phenomenon under consideration. Knowledge operates at three levels </a:t>
            </a:r>
            <a:r>
              <a:rPr lang="en-US" dirty="0" err="1" smtClean="0"/>
              <a:t>i.e</a:t>
            </a:r>
            <a:endParaRPr lang="en-US" dirty="0" smtClean="0"/>
          </a:p>
          <a:p>
            <a:pPr algn="l"/>
            <a:r>
              <a:rPr lang="en-US" dirty="0" smtClean="0"/>
              <a:t>Mechanical Level:- It is superficial in nature. Common masses do interact and cultural and contextual understanding regarding thing occur at this level.</a:t>
            </a:r>
          </a:p>
          <a:p>
            <a:pPr algn="l"/>
            <a:endParaRPr lang="en-US" dirty="0"/>
          </a:p>
          <a:p>
            <a:pPr algn="l"/>
            <a:r>
              <a:rPr lang="en-US" dirty="0" smtClean="0"/>
              <a:t>Scientific Level.:- It is academic in nature. Analysis of words and viability of Ideas must be discussed. Development , acceptance and refutation of theories occur at this plane.. Furthermore, logical and grammatical structure of the propositions are assessed.</a:t>
            </a:r>
          </a:p>
          <a:p>
            <a:pPr algn="l"/>
            <a:r>
              <a:rPr lang="en-US" dirty="0" smtClean="0"/>
              <a:t>Artistic Level:- No rules and regulations are required . One is free to stipulate new meanings based on the faculty of intuition </a:t>
            </a:r>
            <a:r>
              <a:rPr lang="en-US" dirty="0" err="1" smtClean="0"/>
              <a:t>e.g</a:t>
            </a:r>
            <a:r>
              <a:rPr lang="en-US" dirty="0" smtClean="0"/>
              <a:t> beauty of flower cannot be analyzed rationally as well as empirically.</a:t>
            </a:r>
            <a:endParaRPr lang="en-US" dirty="0"/>
          </a:p>
        </p:txBody>
      </p:sp>
    </p:spTree>
    <p:extLst>
      <p:ext uri="{BB962C8B-B14F-4D97-AF65-F5344CB8AC3E}">
        <p14:creationId xmlns:p14="http://schemas.microsoft.com/office/powerpoint/2010/main" val="669334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Sources Of Knowledge</a:t>
            </a:r>
            <a:endParaRPr lang="en-US" dirty="0"/>
          </a:p>
        </p:txBody>
      </p:sp>
      <p:sp>
        <p:nvSpPr>
          <p:cNvPr id="3" name="Content Placeholder 2"/>
          <p:cNvSpPr>
            <a:spLocks noGrp="1"/>
          </p:cNvSpPr>
          <p:nvPr>
            <p:ph idx="1"/>
          </p:nvPr>
        </p:nvSpPr>
        <p:spPr>
          <a:xfrm>
            <a:off x="838200" y="1825625"/>
            <a:ext cx="10252166" cy="3007632"/>
          </a:xfrm>
        </p:spPr>
        <p:txBody>
          <a:bodyPr/>
          <a:lstStyle/>
          <a:p>
            <a:r>
              <a:rPr lang="en-US" dirty="0" smtClean="0"/>
              <a:t>Rational Knowledge</a:t>
            </a:r>
          </a:p>
          <a:p>
            <a:r>
              <a:rPr lang="en-US" dirty="0" smtClean="0"/>
              <a:t>Empirical Knowledge</a:t>
            </a:r>
          </a:p>
          <a:p>
            <a:r>
              <a:rPr lang="en-US" dirty="0" smtClean="0"/>
              <a:t>Intuitive Knowledge</a:t>
            </a:r>
          </a:p>
          <a:p>
            <a:r>
              <a:rPr lang="en-US" dirty="0" smtClean="0"/>
              <a:t>Revealed Knowledge</a:t>
            </a:r>
            <a:endParaRPr lang="en-US" dirty="0"/>
          </a:p>
        </p:txBody>
      </p:sp>
    </p:spTree>
    <p:extLst>
      <p:ext uri="{BB962C8B-B14F-4D97-AF65-F5344CB8AC3E}">
        <p14:creationId xmlns:p14="http://schemas.microsoft.com/office/powerpoint/2010/main" val="2776841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Rational Knowledge</a:t>
            </a:r>
            <a:endParaRPr lang="en-US" dirty="0"/>
          </a:p>
        </p:txBody>
      </p:sp>
      <p:sp>
        <p:nvSpPr>
          <p:cNvPr id="3" name="Content Placeholder 2"/>
          <p:cNvSpPr>
            <a:spLocks noGrp="1"/>
          </p:cNvSpPr>
          <p:nvPr>
            <p:ph idx="1"/>
          </p:nvPr>
        </p:nvSpPr>
        <p:spPr/>
        <p:txBody>
          <a:bodyPr/>
          <a:lstStyle/>
          <a:p>
            <a:r>
              <a:rPr lang="en-US" dirty="0" smtClean="0"/>
              <a:t>It is based on Innate Ideas and concepts bestowed by nature/Divinity. Rationalists believed that reality has intrinsically Logical structure which does not require sensory experience. Mathematics is one of the examples of rational Knowledge. Descartes was one of the conspicuous Rationalist in Modern western thought.</a:t>
            </a:r>
          </a:p>
          <a:p>
            <a:r>
              <a:rPr lang="en-US" dirty="0" smtClean="0"/>
              <a:t>Empirical knowledge:- Empiricists believed that the only source of knowledge comes through sensory experience and observations. John Locke famous notion is that ‘’A child when born is TABULA RASA’’ means blank slate.</a:t>
            </a:r>
          </a:p>
          <a:p>
            <a:pPr marL="0" indent="0">
              <a:buNone/>
            </a:pPr>
            <a:endParaRPr lang="en-US" dirty="0"/>
          </a:p>
        </p:txBody>
      </p:sp>
    </p:spTree>
    <p:extLst>
      <p:ext uri="{BB962C8B-B14F-4D97-AF65-F5344CB8AC3E}">
        <p14:creationId xmlns:p14="http://schemas.microsoft.com/office/powerpoint/2010/main" val="877494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Rationalism</a:t>
            </a:r>
            <a:endParaRPr lang="en-US" dirty="0"/>
          </a:p>
        </p:txBody>
      </p:sp>
      <p:sp>
        <p:nvSpPr>
          <p:cNvPr id="3" name="Content Placeholder 2"/>
          <p:cNvSpPr>
            <a:spLocks noGrp="1"/>
          </p:cNvSpPr>
          <p:nvPr>
            <p:ph idx="1"/>
          </p:nvPr>
        </p:nvSpPr>
        <p:spPr/>
        <p:txBody>
          <a:bodyPr>
            <a:normAutofit fontScale="62500" lnSpcReduction="20000"/>
          </a:bodyPr>
          <a:lstStyle/>
          <a:p>
            <a:pPr algn="just"/>
            <a:r>
              <a:rPr lang="en-US" dirty="0"/>
              <a:t>To be a rationalist </a:t>
            </a:r>
            <a:r>
              <a:rPr lang="en-US" dirty="0" smtClean="0"/>
              <a:t>means to believe that the source of all knowledge is within Human Self/Mind. Reason has the ability to develop those Axioms which provide the basis of knowledge in any subject. Concepts are innate and universal and we can deduce or infer conclusions like we do in the mathematics. The first principles or axioms are the starting point in every subject which are considered to be true provided by the reason faculty which is innate. Awareness and Understanding both are encapsulated in human mind. The experience does not bring something new rather it explains and clarify  something which is already existent in the human mind. </a:t>
            </a:r>
            <a:r>
              <a:rPr lang="en-US" dirty="0"/>
              <a:t> </a:t>
            </a:r>
            <a:r>
              <a:rPr lang="en-US" dirty="0" smtClean="0"/>
              <a:t>Rationalists claim that if we accept the notion that knowledge is outsourced then we cannot formulate universal claims. For instance, ‘Fire will and always burns’ is a universal claim. It contains logical necessity. If we say that one reaches to this conclusion based on the experience then it lacks logical necessity as well as universality and characterized with the element of probability because one cannot experience of  the Fire burning all the things. Subsequently how can one say based on limited experiences that fire will burn everything at every place? So, according to Rationalists one has to admit that knowledge is innate otherwise we can never achieve those eternal truths and realities which are not subject to change and remain constant/eternal. Gottfried </a:t>
            </a:r>
            <a:r>
              <a:rPr lang="en-US" dirty="0" err="1" smtClean="0"/>
              <a:t>Willhelm</a:t>
            </a:r>
            <a:r>
              <a:rPr lang="en-US" dirty="0" smtClean="0"/>
              <a:t> Leibniz , a continental rationalist claimed that if Mind is excluded from all kinds of innate concepts/knowledge then we can only assimilate large amount of facts through experience but would be unable to organize them in a way that yield results or apply to formulate new knowledge. For example, the sum of three angles is equal to 180 degree. This is a mathematical axiom which is innate and can be used to apply in different calculations. Same stand true for Principles in Language, Logic, Ethics and Metaphysics.</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51563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719"/>
          </a:xfrm>
        </p:spPr>
        <p:txBody>
          <a:bodyPr>
            <a:normAutofit fontScale="90000"/>
          </a:bodyPr>
          <a:lstStyle/>
          <a:p>
            <a:endParaRPr lang="en-US" dirty="0"/>
          </a:p>
        </p:txBody>
      </p:sp>
      <p:sp>
        <p:nvSpPr>
          <p:cNvPr id="3" name="Content Placeholder 2"/>
          <p:cNvSpPr>
            <a:spLocks noGrp="1"/>
          </p:cNvSpPr>
          <p:nvPr>
            <p:ph idx="1"/>
          </p:nvPr>
        </p:nvSpPr>
        <p:spPr>
          <a:xfrm>
            <a:off x="838200" y="599497"/>
            <a:ext cx="11090564" cy="6092247"/>
          </a:xfrm>
        </p:spPr>
        <p:txBody>
          <a:bodyPr>
            <a:normAutofit/>
          </a:bodyPr>
          <a:lstStyle/>
          <a:p>
            <a:pPr marL="0" indent="0">
              <a:buNone/>
            </a:pPr>
            <a:endParaRPr lang="en-US" dirty="0"/>
          </a:p>
          <a:p>
            <a:r>
              <a:rPr lang="en-US" dirty="0" smtClean="0"/>
              <a:t> </a:t>
            </a:r>
            <a:r>
              <a:rPr lang="en-US" dirty="0"/>
              <a:t>The Innate Knowledge thesis offers our rational nature. Our innate knowledge is not learned through either sense experience or intuition and deduction. It is just part of our nature. Experiences may trigger a process by which we bring this knowledge to consciousness, but the experiences do not provide us with the knowledge itself. It has in some way been with us all along. According to some rationalists, we gained the knowledge in an earlier existence. According to others, God provided us with it at creation. Still others say it is part of our nature through natural selection.</a:t>
            </a:r>
          </a:p>
        </p:txBody>
      </p:sp>
    </p:spTree>
    <p:extLst>
      <p:ext uri="{BB962C8B-B14F-4D97-AF65-F5344CB8AC3E}">
        <p14:creationId xmlns:p14="http://schemas.microsoft.com/office/powerpoint/2010/main" val="2438592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86930"/>
          </a:xfrm>
        </p:spPr>
        <p:txBody>
          <a:bodyPr>
            <a:normAutofit fontScale="90000"/>
          </a:bodyPr>
          <a:lstStyle/>
          <a:p>
            <a:pPr algn="ctr"/>
            <a:r>
              <a:rPr lang="en-US" dirty="0" smtClean="0"/>
              <a:t>Empiricism</a:t>
            </a:r>
            <a:endParaRPr lang="en-US" dirty="0"/>
          </a:p>
        </p:txBody>
      </p:sp>
      <p:sp>
        <p:nvSpPr>
          <p:cNvPr id="3" name="Content Placeholder 2"/>
          <p:cNvSpPr>
            <a:spLocks noGrp="1"/>
          </p:cNvSpPr>
          <p:nvPr>
            <p:ph idx="1"/>
          </p:nvPr>
        </p:nvSpPr>
        <p:spPr>
          <a:xfrm>
            <a:off x="623455" y="852056"/>
            <a:ext cx="10730345" cy="5527961"/>
          </a:xfrm>
        </p:spPr>
        <p:txBody>
          <a:bodyPr>
            <a:normAutofit fontScale="70000" lnSpcReduction="20000"/>
          </a:bodyPr>
          <a:lstStyle/>
          <a:p>
            <a:r>
              <a:rPr lang="en-US" dirty="0"/>
              <a:t>Empiricists endorse the following claim for some subject area.</a:t>
            </a:r>
          </a:p>
          <a:p>
            <a:endParaRPr lang="en-US" dirty="0"/>
          </a:p>
          <a:p>
            <a:pPr algn="just"/>
            <a:r>
              <a:rPr lang="en-US" dirty="0"/>
              <a:t>The Empiricism Thesis: </a:t>
            </a:r>
            <a:r>
              <a:rPr lang="en-US" dirty="0" smtClean="0"/>
              <a:t> Empiricism rests on the notion that all kind of knowledge can be gained only through experience by the means of sense perceptions. An infant when born, is Tabula Rasa- a blank slate and does not have any kind of innate knowledge/ concepts regarding the world. Different stimuli in the immediate environment started casting different impressions on the mind. According to John Lock, Human mind is devoid of any kind of innate knowledge. If human mind have some innate concepts then these concepts must be </a:t>
            </a:r>
            <a:r>
              <a:rPr lang="en-US" dirty="0" smtClean="0"/>
              <a:t>held vividly in the mind. For example, if we consider moral principles, Concept of God. Then these should be universal and applicable to all but practically speaking the above mentioned concepts are relative to the environment. Locke refuted the idea that there are concepts in mind which mind doesn’t know. He believed that </a:t>
            </a:r>
            <a:r>
              <a:rPr lang="en-US" dirty="0" smtClean="0"/>
              <a:t>Sensations and Reflection are two forces which furnish the experiential knowledge/concepts. External things have power to cast impressions on our minds. This force is being called as Quality. According to Locke, this Quality can be bifurcated into primary and secondary qualities. Primary qualities are those which represent the actual object like shape, extension, motion or rest etc… and secondary qualities are those which could be the representation of our own perception and thinking about the object but might be not the part of the object like color, sound, taste. The secondary qualities are more volatile in nature and subject to change.  </a:t>
            </a:r>
            <a:r>
              <a:rPr lang="en-US" dirty="0" smtClean="0"/>
              <a:t>There are two kinds of concepts </a:t>
            </a:r>
            <a:r>
              <a:rPr lang="en-US" dirty="0" err="1" smtClean="0"/>
              <a:t>i.e</a:t>
            </a:r>
            <a:r>
              <a:rPr lang="en-US" dirty="0" smtClean="0"/>
              <a:t> simple and complex concepts. Simple concepts are those being acquired by the sense perceptions  like pain and pleasure, heat and cold etc… Complex ideas/concepts are those which are the combination of simple concepts or number of concepts are included to formulate one concept, e.g. Universe, Beauty, Gratitude etc….. Locke further said that concepts can be related with each other in terms of cause and effect by the two forces called sensations and reflection. These relations can be realized and populated in diversity, time and space .</a:t>
            </a:r>
            <a:endParaRPr lang="en-US" dirty="0"/>
          </a:p>
        </p:txBody>
      </p:sp>
    </p:spTree>
    <p:extLst>
      <p:ext uri="{BB962C8B-B14F-4D97-AF65-F5344CB8AC3E}">
        <p14:creationId xmlns:p14="http://schemas.microsoft.com/office/powerpoint/2010/main" val="3821495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945" y="166254"/>
            <a:ext cx="11637819" cy="6421582"/>
          </a:xfrm>
        </p:spPr>
        <p:txBody>
          <a:bodyPr>
            <a:normAutofit lnSpcReduction="10000"/>
          </a:bodyPr>
          <a:lstStyle/>
          <a:p>
            <a:r>
              <a:rPr lang="en-US" dirty="0" smtClean="0"/>
              <a:t>Concluding Remarks:- </a:t>
            </a:r>
          </a:p>
          <a:p>
            <a:pPr marL="0" indent="0">
              <a:buNone/>
            </a:pPr>
            <a:r>
              <a:rPr lang="en-US" dirty="0" smtClean="0"/>
              <a:t>I </a:t>
            </a:r>
            <a:r>
              <a:rPr lang="en-US" dirty="0"/>
              <a:t>have stated the basic claims of rationalism and empiricism so that each is relative to a particular subject area. Rationalism and empiricism, so relativized, need not conflict. We can be rationalists in mathematics or a particular area of mathematics and empiricists in all or some of the physical sciences. Rationalism and empiricism only conflict when formulated to cover the same subject. Then the debate, Rationalism vs. Empiricism, is joined. The fact that philosophers can be both rationalists and empiricists has implications for the classification schemes often employed in the history of philosophy, especially the one traditionally used to describe the Early Modern Period of the seventeenth and eighteenth centuries leading up to Kant. It is standard practice to group the major philosophers of this period as either rationalists or empiricists and to suggest that those under one heading share a common agenda in opposition to those under the other. Thus, Descartes, Spinoza and Leibniz are the Continental Rationalists in opposition to Locke, Berkeley and Hume, the British Empiricists. We should adopt such general classification schemes with caution. The views of the individual philosophers are more subtle and complex than the simple-minded classification suggests. </a:t>
            </a:r>
            <a:r>
              <a:rPr lang="en-US" dirty="0" smtClean="0"/>
              <a:t>   </a:t>
            </a:r>
            <a:endParaRPr lang="en-US" dirty="0"/>
          </a:p>
        </p:txBody>
      </p:sp>
    </p:spTree>
    <p:extLst>
      <p:ext uri="{BB962C8B-B14F-4D97-AF65-F5344CB8AC3E}">
        <p14:creationId xmlns:p14="http://schemas.microsoft.com/office/powerpoint/2010/main" val="994539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1789"/>
          </a:xfrm>
        </p:spPr>
        <p:txBody>
          <a:bodyPr/>
          <a:lstStyle/>
          <a:p>
            <a:pPr algn="ctr"/>
            <a:r>
              <a:rPr lang="en-US" dirty="0" smtClean="0"/>
              <a:t>Intuitive Knowledge</a:t>
            </a:r>
            <a:endParaRPr lang="en-US" dirty="0"/>
          </a:p>
        </p:txBody>
      </p:sp>
      <p:sp>
        <p:nvSpPr>
          <p:cNvPr id="3" name="Content Placeholder 2"/>
          <p:cNvSpPr>
            <a:spLocks noGrp="1"/>
          </p:cNvSpPr>
          <p:nvPr>
            <p:ph idx="1"/>
          </p:nvPr>
        </p:nvSpPr>
        <p:spPr>
          <a:xfrm>
            <a:off x="731520" y="1136469"/>
            <a:ext cx="10622280" cy="5040494"/>
          </a:xfrm>
        </p:spPr>
        <p:txBody>
          <a:bodyPr>
            <a:normAutofit fontScale="70000" lnSpcReduction="20000"/>
          </a:bodyPr>
          <a:lstStyle/>
          <a:p>
            <a:r>
              <a:rPr lang="en-US" dirty="0" smtClean="0"/>
              <a:t>Intuitive Knowledge has following hallmarks:-</a:t>
            </a:r>
          </a:p>
          <a:p>
            <a:pPr marL="514350" indent="-514350">
              <a:buAutoNum type="arabicPeriod"/>
            </a:pPr>
            <a:r>
              <a:rPr lang="en-US" dirty="0" smtClean="0"/>
              <a:t>Immediacy of Experience: </a:t>
            </a:r>
            <a:r>
              <a:rPr lang="en-US" sz="2400" dirty="0" smtClean="0"/>
              <a:t>The region of mystic experience is immediate. Like other normal experiences which are subject to interpretation of sense-data for our knowledge of the external world, so mystic experience is subject to interpretation for our knowledge of God. The immediacy of experience means that we know God just as we know other objects. Is it possible to experience God ? We know the knowledge of external world through sense perceptions but if this is the only mode of knowledge then we might not be sure about the reality of our own self. Take an analogy of social experience in which we don’t have any sense to experience other minds but only through their responses. This same has been mentioned in the Quran that </a:t>
            </a:r>
          </a:p>
          <a:p>
            <a:pPr marL="0" indent="0">
              <a:buNone/>
            </a:pPr>
            <a:r>
              <a:rPr lang="en-US" sz="2400" dirty="0" smtClean="0"/>
              <a:t>                            ‘’ And Your Lord said, Call me and I respond to your Call (40:60)</a:t>
            </a:r>
          </a:p>
          <a:p>
            <a:pPr marL="0" indent="0">
              <a:buNone/>
            </a:pPr>
            <a:r>
              <a:rPr lang="en-US" sz="2400" dirty="0" smtClean="0"/>
              <a:t>One thing is for sure that our experience of other minds remains something inferential, immediate and entertain no doubt to the reality of our social experience.</a:t>
            </a:r>
          </a:p>
          <a:p>
            <a:pPr marL="0" indent="0">
              <a:buNone/>
            </a:pPr>
            <a:r>
              <a:rPr lang="en-US" dirty="0" smtClean="0"/>
              <a:t>2. Unanalyzable wholeness of mystic experience: It means that thought is reduced to minimum and an analysis of experiencing common objects in which innumerable data merge into a particular experience is not possible. The ordinary experience in view of our practical need of adaptation takes that reality piecemeal, selecting isolated sets of stimuli for response. The mystic state brings us into contact with the total passage of reality in which all the diverse stimuli merge into one another and form a single unanalyzable unity in which the ordinary distinction of subject and object does not exist.</a:t>
            </a:r>
          </a:p>
          <a:p>
            <a:pPr marL="514350" indent="-514350">
              <a:buAutoNum type="arabicPeriod" startAt="3"/>
            </a:pPr>
            <a:r>
              <a:rPr lang="en-US" dirty="0" smtClean="0"/>
              <a:t>Intimate association with Unique in which subject /object dichotomy Vanishes: </a:t>
            </a:r>
            <a:r>
              <a:rPr lang="en-US" dirty="0"/>
              <a:t> </a:t>
            </a:r>
            <a:r>
              <a:rPr lang="en-US" dirty="0" smtClean="0"/>
              <a:t> The mystic state is a moment of intimate association with a unique other self, transcending, encompassing, and momentarily suppressing the private personality of the subject of experience.</a:t>
            </a:r>
          </a:p>
          <a:p>
            <a:pPr marL="0" indent="0">
              <a:buNone/>
            </a:pPr>
            <a:endParaRPr lang="en-US" dirty="0" smtClean="0"/>
          </a:p>
        </p:txBody>
      </p:sp>
    </p:spTree>
    <p:extLst>
      <p:ext uri="{BB962C8B-B14F-4D97-AF65-F5344CB8AC3E}">
        <p14:creationId xmlns:p14="http://schemas.microsoft.com/office/powerpoint/2010/main" val="905063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383" y="130629"/>
            <a:ext cx="11904617" cy="6596742"/>
          </a:xfrm>
        </p:spPr>
        <p:txBody>
          <a:bodyPr/>
          <a:lstStyle/>
          <a:p>
            <a:r>
              <a:rPr lang="en-US" dirty="0" smtClean="0"/>
              <a:t>Inexplicability of Mystic Experience: Mystic experience can not be communicated because they are more like a feeling than a thought. The interpretations which the mystic or the Prophet puts on the content of the religious consciousness can be conveyed to others in the form of propositions ,but the content itself cannot be so transmitted. The incommunicability of mystic experience is due to the fact that it is essentially a matter of inarticulate feeling. It must be noted that mystic feeling like all other feelings has a cognitive element also that it lends itself to the form of idea. In </a:t>
            </a:r>
            <a:r>
              <a:rPr lang="en-US" dirty="0"/>
              <a:t>f</a:t>
            </a:r>
            <a:r>
              <a:rPr lang="en-US" dirty="0" smtClean="0"/>
              <a:t>act, it is the nature of feeling to seek expression in thought. It would seem that </a:t>
            </a:r>
            <a:r>
              <a:rPr lang="en-US" smtClean="0"/>
              <a:t>the two-feeling and </a:t>
            </a:r>
            <a:r>
              <a:rPr lang="en-US" dirty="0" smtClean="0"/>
              <a:t>idea are the non-temporal and temporal aspects of the same unit of inner experience.</a:t>
            </a:r>
            <a:endParaRPr lang="en-US" dirty="0"/>
          </a:p>
        </p:txBody>
      </p:sp>
    </p:spTree>
    <p:extLst>
      <p:ext uri="{BB962C8B-B14F-4D97-AF65-F5344CB8AC3E}">
        <p14:creationId xmlns:p14="http://schemas.microsoft.com/office/powerpoint/2010/main" val="2992253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1760</Words>
  <Application>Microsoft Office PowerPoint</Application>
  <PresentationFormat>Widescreen</PresentationFormat>
  <Paragraphs>32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Knowledge</vt:lpstr>
      <vt:lpstr>Sources Of Knowledge</vt:lpstr>
      <vt:lpstr>Rational Knowledge</vt:lpstr>
      <vt:lpstr>Rationalism</vt:lpstr>
      <vt:lpstr>PowerPoint Presentation</vt:lpstr>
      <vt:lpstr>Empiricism</vt:lpstr>
      <vt:lpstr>PowerPoint Presentation</vt:lpstr>
      <vt:lpstr>Intuitive Knowledge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dc:title>
  <dc:creator>omar.shaoor</dc:creator>
  <cp:lastModifiedBy>omar.shaoor</cp:lastModifiedBy>
  <cp:revision>40</cp:revision>
  <dcterms:created xsi:type="dcterms:W3CDTF">2020-09-18T05:44:53Z</dcterms:created>
  <dcterms:modified xsi:type="dcterms:W3CDTF">2021-11-24T02:10:19Z</dcterms:modified>
</cp:coreProperties>
</file>